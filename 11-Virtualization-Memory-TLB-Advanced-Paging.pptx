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37"/>
  </p:notesMasterIdLst>
  <p:sldIdLst>
    <p:sldId id="284" r:id="rId2"/>
    <p:sldId id="359" r:id="rId3"/>
    <p:sldId id="261" r:id="rId4"/>
    <p:sldId id="306" r:id="rId5"/>
    <p:sldId id="320" r:id="rId6"/>
    <p:sldId id="321" r:id="rId7"/>
    <p:sldId id="322" r:id="rId8"/>
    <p:sldId id="323" r:id="rId9"/>
    <p:sldId id="324" r:id="rId10"/>
    <p:sldId id="325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07" r:id="rId20"/>
    <p:sldId id="336" r:id="rId21"/>
    <p:sldId id="337" r:id="rId22"/>
    <p:sldId id="338" r:id="rId23"/>
    <p:sldId id="339" r:id="rId24"/>
    <p:sldId id="340" r:id="rId25"/>
    <p:sldId id="344" r:id="rId26"/>
    <p:sldId id="345" r:id="rId27"/>
    <p:sldId id="346" r:id="rId28"/>
    <p:sldId id="347" r:id="rId29"/>
    <p:sldId id="348" r:id="rId30"/>
    <p:sldId id="353" r:id="rId31"/>
    <p:sldId id="357" r:id="rId32"/>
    <p:sldId id="349" r:id="rId33"/>
    <p:sldId id="350" r:id="rId34"/>
    <p:sldId id="351" r:id="rId35"/>
    <p:sldId id="292" r:id="rId3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361" autoAdjust="0"/>
    <p:restoredTop sz="91860" autoAdjust="0"/>
  </p:normalViewPr>
  <p:slideViewPr>
    <p:cSldViewPr>
      <p:cViewPr varScale="1">
        <p:scale>
          <a:sx n="88" d="100"/>
          <a:sy n="88" d="100"/>
        </p:scale>
        <p:origin x="72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r>
              <a:rPr lang="ko-KR" altLang="en-US" dirty="0" err="1"/>
              <a:t>말그대로</a:t>
            </a:r>
            <a:r>
              <a:rPr lang="ko-KR" altLang="en-US" dirty="0"/>
              <a:t> </a:t>
            </a:r>
            <a:r>
              <a:rPr lang="ko-KR" altLang="en-US" dirty="0" err="1"/>
              <a:t>파풀러한</a:t>
            </a:r>
            <a:r>
              <a:rPr lang="ko-KR" altLang="en-US" dirty="0"/>
              <a:t> 애들을 캐시해주는 거니까 그림이 </a:t>
            </a:r>
            <a:r>
              <a:rPr lang="ko-KR" altLang="en-US" dirty="0" err="1"/>
              <a:t>잘못됬음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457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778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96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231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145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522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20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897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21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504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HK" altLang="ko-KR" dirty="0"/>
              <a:t>CSCI3150: Introduction to Operating Systems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dobe 고딕 Std B" pitchFamily="34" charset="-127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atinLnBrk="0"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6691396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100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2670"/>
            <a:ext cx="9144000" cy="7066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baseline="0" dirty="0">
              <a:solidFill>
                <a:schemeClr val="tx1"/>
              </a:solidFill>
              <a:effectLst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pages.cs.wisc.edu/~remzi/OSTEP/vm-beyondphys.pdf" TargetMode="External"/><Relationship Id="rId2" Type="http://schemas.openxmlformats.org/officeDocument/2006/relationships/hyperlink" Target="https://pages.cs.wisc.edu/~remzi/OSTEP/vm-beyondphy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ages.cs.wisc.edu/~remzi/OSTEP/vm-beyondphys-policy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7504" y="2060848"/>
            <a:ext cx="8856984" cy="1542033"/>
          </a:xfrm>
        </p:spPr>
        <p:txBody>
          <a:bodyPr/>
          <a:lstStyle/>
          <a:p>
            <a:pPr latinLnBrk="0"/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HK" dirty="0"/>
              <a:t>11</a:t>
            </a:r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Virtualizing Memory – TLB and </a:t>
            </a:r>
            <a:r>
              <a:rPr lang="en-HK">
                <a:latin typeface="Times New Roman" panose="02020603050405020304" pitchFamily="18" charset="0"/>
                <a:cs typeface="Times New Roman" panose="02020603050405020304" pitchFamily="18" charset="0"/>
              </a:rPr>
              <a:t>Advanced Paging </a:t>
            </a:r>
            <a:endParaRPr lang="en-HK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93573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9552" y="2780928"/>
            <a:ext cx="7920880" cy="532730"/>
          </a:xfrm>
          <a:prstGeom prst="roundRect">
            <a:avLst/>
          </a:prstGeom>
          <a:solidFill>
            <a:schemeClr val="bg1"/>
          </a:solidFill>
          <a:ln w="4445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362" name="TextBox 41"/>
          <p:cNvSpPr txBox="1">
            <a:spLocks noChangeArrowheads="1"/>
          </p:cNvSpPr>
          <p:nvPr/>
        </p:nvSpPr>
        <p:spPr bwMode="auto">
          <a:xfrm>
            <a:off x="611560" y="44624"/>
            <a:ext cx="70214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600" b="1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Course </a:t>
            </a:r>
            <a:r>
              <a:rPr lang="en-US" altLang="zh-CN" sz="3200" dirty="0">
                <a:latin typeface="Times New Roman" panose="02020603050405020304" pitchFamily="18" charset="0"/>
                <a:ea typeface="GungsuhChe" pitchFamily="49" charset="-128"/>
                <a:cs typeface="Times New Roman" panose="02020603050405020304" pitchFamily="18" charset="0"/>
              </a:rPr>
              <a:t>Organization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(Bottom-up)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63" name="Straight Arrow Connector 10"/>
          <p:cNvCxnSpPr>
            <a:cxnSpLocks noChangeShapeType="1"/>
          </p:cNvCxnSpPr>
          <p:nvPr/>
        </p:nvCxnSpPr>
        <p:spPr bwMode="auto">
          <a:xfrm flipV="1">
            <a:off x="381000" y="2387600"/>
            <a:ext cx="0" cy="2441575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4" name="Group 33"/>
          <p:cNvGrpSpPr/>
          <p:nvPr/>
        </p:nvGrpSpPr>
        <p:grpSpPr>
          <a:xfrm>
            <a:off x="749300" y="1125538"/>
            <a:ext cx="7578725" cy="5572125"/>
            <a:chOff x="749300" y="1125538"/>
            <a:chExt cx="7578725" cy="5572125"/>
          </a:xfrm>
        </p:grpSpPr>
        <p:grpSp>
          <p:nvGrpSpPr>
            <p:cNvPr id="35" name="Group 1"/>
            <p:cNvGrpSpPr>
              <a:grpSpLocks/>
            </p:cNvGrpSpPr>
            <p:nvPr/>
          </p:nvGrpSpPr>
          <p:grpSpPr bwMode="auto">
            <a:xfrm>
              <a:off x="749300" y="1125538"/>
              <a:ext cx="7578725" cy="5572125"/>
              <a:chOff x="825846" y="1132710"/>
              <a:chExt cx="7578379" cy="5572890"/>
            </a:xfrm>
          </p:grpSpPr>
          <p:grpSp>
            <p:nvGrpSpPr>
              <p:cNvPr id="39" name="Group 42"/>
              <p:cNvGrpSpPr>
                <a:grpSpLocks/>
              </p:cNvGrpSpPr>
              <p:nvPr/>
            </p:nvGrpSpPr>
            <p:grpSpPr bwMode="auto">
              <a:xfrm>
                <a:off x="838200" y="3424164"/>
                <a:ext cx="7543800" cy="2600189"/>
                <a:chOff x="838200" y="3420347"/>
                <a:chExt cx="7543800" cy="2855188"/>
              </a:xfrm>
            </p:grpSpPr>
            <p:sp>
              <p:nvSpPr>
                <p:cNvPr id="65" name="Rectangle 11"/>
                <p:cNvSpPr>
                  <a:spLocks noChangeArrowheads="1"/>
                </p:cNvSpPr>
                <p:nvPr/>
              </p:nvSpPr>
              <p:spPr bwMode="auto">
                <a:xfrm>
                  <a:off x="838200" y="4190915"/>
                  <a:ext cx="7543800" cy="1389306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 w="22225" algn="ctr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6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838200" y="5768498"/>
                  <a:ext cx="7543800" cy="507037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Tahoma" panose="020B0604030504040204" pitchFamily="34" charset="0"/>
                    </a:rPr>
                    <a:t>System Calls (User-level Programming)</a:t>
                  </a: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7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3420347"/>
                  <a:ext cx="4114800" cy="40010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Process and CPU Scheduling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40" name="Group 1"/>
              <p:cNvGrpSpPr>
                <a:grpSpLocks/>
              </p:cNvGrpSpPr>
              <p:nvPr/>
            </p:nvGrpSpPr>
            <p:grpSpPr bwMode="auto">
              <a:xfrm>
                <a:off x="825846" y="1132710"/>
                <a:ext cx="7556154" cy="4258441"/>
                <a:chOff x="825846" y="1131697"/>
                <a:chExt cx="7556154" cy="4676966"/>
              </a:xfrm>
            </p:grpSpPr>
            <p:sp>
              <p:nvSpPr>
                <p:cNvPr id="4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15887" y="3049751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Memory Management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4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3287829"/>
                  <a:ext cx="2039937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Virtualization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45" name="Straight Connector 7"/>
                <p:cNvCxnSpPr>
                  <a:cxnSpLocks noChangeShapeType="1"/>
                </p:cNvCxnSpPr>
                <p:nvPr/>
              </p:nvCxnSpPr>
              <p:spPr bwMode="auto">
                <a:xfrm>
                  <a:off x="2976563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46" name="Group 42"/>
                <p:cNvGrpSpPr>
                  <a:grpSpLocks/>
                </p:cNvGrpSpPr>
                <p:nvPr/>
              </p:nvGrpSpPr>
              <p:grpSpPr bwMode="auto">
                <a:xfrm>
                  <a:off x="825846" y="2027509"/>
                  <a:ext cx="7543800" cy="2109625"/>
                  <a:chOff x="825846" y="3475098"/>
                  <a:chExt cx="7543800" cy="2109994"/>
                </a:xfrm>
              </p:grpSpPr>
              <p:sp>
                <p:nvSpPr>
                  <p:cNvPr id="6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25846" y="4195788"/>
                    <a:ext cx="7543800" cy="1389304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4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0072" y="3475098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Thread   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cxnSp>
              <p:nvCxnSpPr>
                <p:cNvPr id="47" name="Straight Connector 37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04416" y="1367435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Race Conditions, Lock/Semaphore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0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1740227"/>
                  <a:ext cx="1905000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Concurrency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51" name="Group 42"/>
                <p:cNvGrpSpPr>
                  <a:grpSpLocks/>
                </p:cNvGrpSpPr>
                <p:nvPr/>
              </p:nvGrpSpPr>
              <p:grpSpPr bwMode="auto">
                <a:xfrm>
                  <a:off x="838200" y="1139710"/>
                  <a:ext cx="7543800" cy="3865050"/>
                  <a:chOff x="838200" y="4187628"/>
                  <a:chExt cx="7543800" cy="3865728"/>
                </a:xfrm>
              </p:grpSpPr>
              <p:sp>
                <p:nvSpPr>
                  <p:cNvPr id="6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38200" y="4187628"/>
                    <a:ext cx="7543800" cy="1389306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2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2926" y="7653256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IO Devices and Storage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52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849312" y="4904144"/>
                  <a:ext cx="2290763" cy="400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Persistence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54" name="Straight Connector 46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1131697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5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5252478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File System                                 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6" name="TextBox 2">
                  <a:extLst>
                    <a:ext uri="{FF2B5EF4-FFF2-40B4-BE49-F238E27FC236}">
                      <a16:creationId xmlns:a16="http://schemas.microsoft.com/office/drawing/2014/main" id="{A822F933-86CC-4D3B-8F4D-ADF117984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91446" y="3028909"/>
                  <a:ext cx="919121" cy="439428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HW#4</a:t>
                  </a:r>
                </a:p>
              </p:txBody>
            </p:sp>
            <p:cxnSp>
              <p:nvCxnSpPr>
                <p:cNvPr id="57" name="Straight Connector 49"/>
                <p:cNvCxnSpPr>
                  <a:cxnSpLocks noChangeShapeType="1"/>
                </p:cNvCxnSpPr>
                <p:nvPr/>
              </p:nvCxnSpPr>
              <p:spPr bwMode="auto">
                <a:xfrm>
                  <a:off x="7335838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8" name="Straight Connector 50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Straight Connector 51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1131698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0" name="TextBox 2">
                  <a:extLst>
                    <a:ext uri="{FF2B5EF4-FFF2-40B4-BE49-F238E27FC236}">
                      <a16:creationId xmlns:a16="http://schemas.microsoft.com/office/drawing/2014/main" id="{4A985E7A-07D9-428B-AAEC-3991306AE1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80335" y="4570394"/>
                  <a:ext cx="968331" cy="1116007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HW#2</a:t>
                  </a:r>
                  <a:r>
                    <a:rPr lang="en-US" altLang="zh-CN" sz="2000" dirty="0"/>
                    <a:t> </a:t>
                  </a:r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    &amp;</a:t>
                  </a:r>
                  <a:endParaRPr lang="en-US" altLang="zh-CN" sz="2000" dirty="0"/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Project</a:t>
                  </a:r>
                </a:p>
              </p:txBody>
            </p:sp>
          </p:grpSp>
          <p:pic>
            <p:nvPicPr>
              <p:cNvPr id="41" name="Picture 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6059488"/>
                <a:ext cx="7566025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C261D44-1D84-49AF-ACE7-3AF17D5BB2EA}"/>
                  </a:ext>
                </a:extLst>
              </p:cNvPr>
              <p:cNvCxnSpPr/>
              <p:nvPr/>
            </p:nvCxnSpPr>
            <p:spPr bwMode="auto">
              <a:xfrm>
                <a:off x="838545" y="5494171"/>
                <a:ext cx="754345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2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6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379788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HW#3</a:t>
              </a:r>
            </a:p>
          </p:txBody>
        </p:sp>
        <p:sp>
          <p:nvSpPr>
            <p:cNvPr id="38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188" y="5581650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7523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– Resource management via virtualization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8329" y="956433"/>
            <a:ext cx="2413471" cy="1680479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OS provides services via </a:t>
            </a:r>
            <a:r>
              <a:rPr lang="en-US" altLang="ko-KR" sz="1400" b="1" dirty="0"/>
              <a:t>System Call</a:t>
            </a:r>
            <a:r>
              <a:rPr lang="en-US" altLang="ko-KR" sz="1400" dirty="0"/>
              <a:t> (typically a few hundred) to run </a:t>
            </a:r>
            <a:r>
              <a:rPr lang="en-US" altLang="ko-KR" sz="1400" b="1" dirty="0"/>
              <a:t>process</a:t>
            </a:r>
            <a:r>
              <a:rPr lang="en-US" altLang="ko-KR" sz="1400" dirty="0"/>
              <a:t>, access memory/devices/files, etc. </a:t>
            </a:r>
          </a:p>
          <a:p>
            <a:pPr marL="457200" lvl="1" indent="0">
              <a:buNone/>
            </a:pPr>
            <a:endParaRPr lang="en-US" altLang="ko-KR" sz="1400" dirty="0"/>
          </a:p>
          <a:p>
            <a:pPr marL="457200" lvl="1" indent="0">
              <a:buNone/>
            </a:pPr>
            <a:endParaRPr lang="ko-KR" altLang="en-US"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251520" y="962639"/>
            <a:ext cx="2341463" cy="1746297"/>
          </a:xfrm>
          <a:prstGeom prst="roundRect">
            <a:avLst/>
          </a:prstGeom>
          <a:solidFill>
            <a:schemeClr val="accent5">
              <a:lumMod val="40000"/>
              <a:lumOff val="60000"/>
              <a:alpha val="26000"/>
            </a:schemeClr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3808" y="830462"/>
            <a:ext cx="6120680" cy="5919617"/>
            <a:chOff x="2843808" y="830462"/>
            <a:chExt cx="6120680" cy="591961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3808" y="830462"/>
              <a:ext cx="6120680" cy="537016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006445" y="6165304"/>
              <a:ext cx="58860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Design Of The Unix Operating System (Maurice Bach, 1986)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107504" y="2934582"/>
            <a:ext cx="2808312" cy="3734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1pPr>
            <a:lvl2pPr marL="742950" indent="-28575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2pPr>
            <a:lvl3pPr marL="11430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3pPr>
            <a:lvl4pPr marL="16002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4pPr>
            <a:lvl5pPr marL="20574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kern="0" dirty="0"/>
              <a:t>The OS </a:t>
            </a:r>
            <a:r>
              <a:rPr lang="en-US" altLang="ko-KR" sz="1400" b="1" kern="0" dirty="0"/>
              <a:t>manages resources </a:t>
            </a:r>
            <a:r>
              <a:rPr lang="en-US" altLang="ko-KR" sz="1400" kern="0" dirty="0"/>
              <a:t>such as </a:t>
            </a:r>
            <a:r>
              <a:rPr lang="en-US" altLang="ko-KR" sz="1400" i="1" kern="0" dirty="0"/>
              <a:t>CPU</a:t>
            </a:r>
            <a:r>
              <a:rPr lang="en-US" altLang="ko-KR" sz="1400" kern="0" dirty="0"/>
              <a:t>, </a:t>
            </a:r>
            <a:r>
              <a:rPr lang="en-US" altLang="ko-KR" sz="1400" i="1" kern="0" dirty="0"/>
              <a:t>memory</a:t>
            </a:r>
            <a:r>
              <a:rPr lang="en-US" altLang="ko-KR" sz="1400" kern="0" dirty="0"/>
              <a:t> and </a:t>
            </a:r>
            <a:r>
              <a:rPr lang="en-US" altLang="ko-KR" sz="1400" i="1" kern="0" dirty="0"/>
              <a:t>disk</a:t>
            </a:r>
            <a:r>
              <a:rPr lang="en-US" altLang="ko-KR" sz="1400" kern="0" dirty="0"/>
              <a:t> via </a:t>
            </a:r>
            <a:r>
              <a:rPr lang="en-US" altLang="ko-KR" sz="1400" b="1" kern="0" dirty="0"/>
              <a:t>virtualization</a:t>
            </a:r>
            <a:r>
              <a:rPr lang="en-US" altLang="ko-KR" sz="1400" kern="0" dirty="0"/>
              <a:t>.</a:t>
            </a:r>
          </a:p>
          <a:p>
            <a:pPr indent="-285750"/>
            <a:r>
              <a:rPr lang="en-US" altLang="ko-KR" sz="1400" kern="0" dirty="0"/>
              <a:t>many programs to run (processes) </a:t>
            </a:r>
            <a:r>
              <a:rPr lang="en-US" altLang="ko-KR" sz="1400" kern="0" dirty="0">
                <a:sym typeface="Wingdings" pitchFamily="2" charset="2"/>
              </a:rPr>
              <a:t> Sharing the CPU</a:t>
            </a:r>
          </a:p>
          <a:p>
            <a:pPr indent="-285750"/>
            <a:r>
              <a:rPr lang="en-US" altLang="ko-KR" sz="1400" kern="0" dirty="0">
                <a:solidFill>
                  <a:srgbClr val="C00000"/>
                </a:solidFill>
                <a:sym typeface="Wingdings" pitchFamily="2" charset="2"/>
              </a:rPr>
              <a:t>many processes to </a:t>
            </a:r>
            <a:r>
              <a:rPr lang="en-US" altLang="ko-KR" sz="1400" i="1" kern="0" dirty="0">
                <a:solidFill>
                  <a:srgbClr val="C00000"/>
                </a:solidFill>
                <a:sym typeface="Wingdings" pitchFamily="2" charset="2"/>
              </a:rPr>
              <a:t>concurrently</a:t>
            </a:r>
            <a:r>
              <a:rPr lang="en-US" altLang="ko-KR" sz="1400" kern="0" dirty="0">
                <a:solidFill>
                  <a:srgbClr val="C00000"/>
                </a:solidFill>
                <a:sym typeface="Wingdings" pitchFamily="2" charset="2"/>
              </a:rPr>
              <a:t> access their own instructions and data  Sharing </a:t>
            </a:r>
            <a:r>
              <a:rPr lang="en-US" altLang="ko-KR" sz="1400" u="sng" kern="0" dirty="0">
                <a:solidFill>
                  <a:srgbClr val="C00000"/>
                </a:solidFill>
                <a:sym typeface="Wingdings" pitchFamily="2" charset="2"/>
              </a:rPr>
              <a:t>memory</a:t>
            </a:r>
          </a:p>
          <a:p>
            <a:pPr indent="-285750"/>
            <a:r>
              <a:rPr lang="en-US" altLang="ko-KR" sz="1400" kern="0" dirty="0">
                <a:sym typeface="Wingdings" pitchFamily="2" charset="2"/>
              </a:rPr>
              <a:t>many processes to access devices  Sharing </a:t>
            </a:r>
            <a:r>
              <a:rPr lang="en-US" altLang="ko-KR" sz="1400" u="sng" kern="0" dirty="0">
                <a:sym typeface="Wingdings" pitchFamily="2" charset="2"/>
              </a:rPr>
              <a:t>disks</a:t>
            </a:r>
          </a:p>
          <a:p>
            <a:pPr marL="457200" lvl="1" indent="0">
              <a:buNone/>
            </a:pPr>
            <a:endParaRPr lang="en-US" altLang="ko-KR" kern="0" dirty="0">
              <a:sym typeface="Wingdings" pitchFamily="2" charset="2"/>
            </a:endParaRPr>
          </a:p>
          <a:p>
            <a:endParaRPr lang="en-US" altLang="ko-KR" u="sng" kern="0" dirty="0"/>
          </a:p>
          <a:p>
            <a:pPr lvl="1"/>
            <a:endParaRPr lang="ko-KR" altLang="en-US" kern="0" dirty="0"/>
          </a:p>
        </p:txBody>
      </p:sp>
      <p:sp>
        <p:nvSpPr>
          <p:cNvPr id="12" name="Rounded Rectangle 11"/>
          <p:cNvSpPr/>
          <p:nvPr/>
        </p:nvSpPr>
        <p:spPr>
          <a:xfrm>
            <a:off x="107504" y="2837478"/>
            <a:ext cx="2828157" cy="354385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26000"/>
            </a:schemeClr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230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11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I: TLB (Translation Lookaside Buffer)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8637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Part of the chip’s memory-management unit(MMU).</a:t>
            </a:r>
          </a:p>
          <a:p>
            <a:r>
              <a:rPr lang="en-US" altLang="ko-KR" dirty="0"/>
              <a:t>A hardware cache containing </a:t>
            </a:r>
            <a:r>
              <a:rPr lang="en-US" altLang="ko-KR" b="1" dirty="0"/>
              <a:t>popular</a:t>
            </a:r>
            <a:r>
              <a:rPr lang="en-US" altLang="ko-KR" dirty="0"/>
              <a:t> virtual-to-physical address translation.</a:t>
            </a:r>
          </a:p>
          <a:p>
            <a:pPr lvl="1"/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3126360" y="2716646"/>
            <a:ext cx="2286327" cy="2143629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MMU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867273" y="4014456"/>
            <a:ext cx="1080120" cy="724345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200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708340" y="391690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54531" y="398890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261411" y="3123466"/>
            <a:ext cx="2016224" cy="658203"/>
          </a:xfrm>
          <a:prstGeom prst="roundRect">
            <a:avLst>
              <a:gd name="adj" fmla="val 10966"/>
            </a:avLst>
          </a:prstGeom>
          <a:solidFill>
            <a:schemeClr val="accent3">
              <a:lumMod val="50000"/>
            </a:schemeClr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TLB</a:t>
            </a:r>
          </a:p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popular v to p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754531" y="431601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754531" y="465841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1" name="Straight Arrow Connector 20"/>
          <p:cNvCxnSpPr>
            <a:stCxn id="6" idx="0"/>
            <a:endCxn id="16" idx="2"/>
          </p:cNvCxnSpPr>
          <p:nvPr/>
        </p:nvCxnSpPr>
        <p:spPr>
          <a:xfrm flipV="1">
            <a:off x="1407333" y="3664005"/>
            <a:ext cx="0" cy="35045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0"/>
          <p:cNvCxnSpPr/>
          <p:nvPr/>
        </p:nvCxnSpPr>
        <p:spPr>
          <a:xfrm>
            <a:off x="5277635" y="3205678"/>
            <a:ext cx="1256510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35280" y="2814382"/>
            <a:ext cx="1800678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TLB Hit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393" y="5441108"/>
            <a:ext cx="496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Translation with MMU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5751" y="5573085"/>
            <a:ext cx="178274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754531" y="521455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9721" y="487600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795265" y="2794700"/>
            <a:ext cx="1224136" cy="86930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0665" y="2936965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Logical </a:t>
            </a:r>
          </a:p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</a:p>
        </p:txBody>
      </p:sp>
      <p:cxnSp>
        <p:nvCxnSpPr>
          <p:cNvPr id="27" name="Straight Arrow Connector 20"/>
          <p:cNvCxnSpPr>
            <a:stCxn id="16" idx="3"/>
          </p:cNvCxnSpPr>
          <p:nvPr/>
        </p:nvCxnSpPr>
        <p:spPr>
          <a:xfrm flipV="1">
            <a:off x="2019401" y="3229351"/>
            <a:ext cx="1221368" cy="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141657" y="2652720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</a:t>
            </a:r>
          </a:p>
          <a:p>
            <a:pPr algn="ctr"/>
            <a:r>
              <a:rPr lang="en-US" sz="1600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Lookup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3281014" y="4080598"/>
            <a:ext cx="2016224" cy="658203"/>
          </a:xfrm>
          <a:prstGeom prst="roundRect">
            <a:avLst>
              <a:gd name="adj" fmla="val 10966"/>
            </a:avLst>
          </a:prstGeom>
          <a:solidFill>
            <a:schemeClr val="accent3">
              <a:lumMod val="50000"/>
            </a:schemeClr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Page Table</a:t>
            </a:r>
          </a:p>
          <a:p>
            <a:pPr algn="ctr"/>
            <a:r>
              <a:rPr lang="en-US" altLang="ko-KR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all v to p entries</a:t>
            </a:r>
          </a:p>
        </p:txBody>
      </p:sp>
      <p:cxnSp>
        <p:nvCxnSpPr>
          <p:cNvPr id="33" name="Straight Arrow Connector 20"/>
          <p:cNvCxnSpPr>
            <a:endCxn id="32" idx="0"/>
          </p:cNvCxnSpPr>
          <p:nvPr/>
        </p:nvCxnSpPr>
        <p:spPr>
          <a:xfrm>
            <a:off x="4289126" y="3788460"/>
            <a:ext cx="0" cy="29213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74432" y="3729634"/>
            <a:ext cx="20882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Miss </a:t>
            </a:r>
            <a:endParaRPr lang="en-US" sz="1600" i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623890" y="2771025"/>
            <a:ext cx="1224136" cy="86930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90458" y="2913289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Physical</a:t>
            </a:r>
          </a:p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</a:p>
        </p:txBody>
      </p:sp>
      <p:cxnSp>
        <p:nvCxnSpPr>
          <p:cNvPr id="43" name="Straight Arrow Connector 20"/>
          <p:cNvCxnSpPr>
            <a:endCxn id="9" idx="0"/>
          </p:cNvCxnSpPr>
          <p:nvPr/>
        </p:nvCxnSpPr>
        <p:spPr>
          <a:xfrm flipH="1">
            <a:off x="7248400" y="3633733"/>
            <a:ext cx="2173" cy="28316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5297238" y="4216973"/>
            <a:ext cx="73285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6030089" y="3521740"/>
            <a:ext cx="0" cy="69523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20"/>
          <p:cNvCxnSpPr/>
          <p:nvPr/>
        </p:nvCxnSpPr>
        <p:spPr>
          <a:xfrm>
            <a:off x="6030089" y="3521740"/>
            <a:ext cx="504056" cy="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000320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Basic Algorithm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3789040"/>
            <a:ext cx="8786812" cy="1944216"/>
          </a:xfrm>
        </p:spPr>
        <p:txBody>
          <a:bodyPr/>
          <a:lstStyle/>
          <a:p>
            <a:pPr lvl="1"/>
            <a:r>
              <a:rPr lang="en-US" altLang="ko-KR" dirty="0"/>
              <a:t>(Line 1) Extract the virtual page number(VPN).</a:t>
            </a:r>
          </a:p>
          <a:p>
            <a:pPr lvl="1"/>
            <a:r>
              <a:rPr lang="en-US" altLang="ko-KR" dirty="0"/>
              <a:t>(Line 2) Check if the TLB holds the translation for this VPN.</a:t>
            </a:r>
          </a:p>
          <a:p>
            <a:pPr lvl="1"/>
            <a:r>
              <a:rPr lang="en-US" altLang="ko-KR" dirty="0"/>
              <a:t>(Lines 5-8) Extract the page frame number from the relevant TLB entry, and form the desired physical address and access memory.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1560" y="1039271"/>
            <a:ext cx="7992888" cy="2677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1: VPN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VPN_MASK ) &gt;&gt; SHIFT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2: (Success 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TLB_Lookup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(VPN)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3: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(Success ==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Ture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){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TLB Hit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4: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TlbEntry.ProtectBit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True ){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5:        offset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OFFSET_MASK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6: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7: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8:    }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(PROTECTION_ERROR)</a:t>
            </a:r>
          </a:p>
        </p:txBody>
      </p:sp>
    </p:spTree>
    <p:extLst>
      <p:ext uri="{BB962C8B-B14F-4D97-AF65-F5344CB8AC3E}">
        <p14:creationId xmlns:p14="http://schemas.microsoft.com/office/powerpoint/2010/main" val="4178280422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Basic Algorithm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4149080"/>
            <a:ext cx="8786812" cy="1872208"/>
          </a:xfrm>
        </p:spPr>
        <p:txBody>
          <a:bodyPr/>
          <a:lstStyle/>
          <a:p>
            <a:pPr lvl="1"/>
            <a:r>
              <a:rPr lang="en-US" altLang="ko-KR" dirty="0"/>
              <a:t>(11-12 lines)  The hardware accesses the page table to find the translation.</a:t>
            </a:r>
          </a:p>
          <a:p>
            <a:pPr lvl="1"/>
            <a:r>
              <a:rPr lang="en-US" altLang="ko-KR" dirty="0"/>
              <a:t>(16 lines) updates the TLB with the translation.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39552" y="1052736"/>
            <a:ext cx="7992888" cy="297389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11:}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//TLB Miss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12: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PTBR + (VPN *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(PTE))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13:        PTE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14:        (…)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15:        }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16: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TLB_Insert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VPN , PTE.PFN 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17: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RetryInstruction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18:        }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19:}</a:t>
            </a:r>
          </a:p>
        </p:txBody>
      </p:sp>
    </p:spTree>
    <p:extLst>
      <p:ext uri="{BB962C8B-B14F-4D97-AF65-F5344CB8AC3E}">
        <p14:creationId xmlns:p14="http://schemas.microsoft.com/office/powerpoint/2010/main" val="2639445561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How a TLB can improve its performance.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Accessing An Array</a:t>
            </a:r>
            <a:endParaRPr lang="ko-KR" altLang="en-US" dirty="0"/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</p:nvPr>
        </p:nvGraphicFramePr>
        <p:xfrm>
          <a:off x="1115616" y="1620319"/>
          <a:ext cx="2448273" cy="459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144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           OFFSET</a:t>
                      </a:r>
                    </a:p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00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04      08      12      16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b="1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a[0]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a[1]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a[2]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07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a[3]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a[4]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a[5]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a[6]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08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a[7]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a[8]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a[9]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09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3923928" y="2010249"/>
            <a:ext cx="4176464" cy="13849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0: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sum = 0 ; 	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1: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=0;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&lt;10;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++){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2:		sum+=a[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3:	}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4824028" y="4210348"/>
            <a:ext cx="2664296" cy="621678"/>
          </a:xfrm>
          <a:prstGeom prst="roundRect">
            <a:avLst/>
          </a:prstGeom>
          <a:noFill/>
          <a:ln w="1587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 misses and 7 hits. </a:t>
            </a:r>
          </a:p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Thus </a:t>
            </a:r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TLB hit rate 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is 70%.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4067944" y="3562276"/>
            <a:ext cx="3888432" cy="621678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The TLB improves the performance</a:t>
            </a:r>
          </a:p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due to </a:t>
            </a: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spatial locality</a:t>
            </a:r>
          </a:p>
        </p:txBody>
      </p:sp>
    </p:spTree>
    <p:extLst>
      <p:ext uri="{BB962C8B-B14F-4D97-AF65-F5344CB8AC3E}">
        <p14:creationId xmlns:p14="http://schemas.microsoft.com/office/powerpoint/2010/main" val="3032670484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Locality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Temporal Locality</a:t>
            </a:r>
          </a:p>
          <a:p>
            <a:pPr lvl="1"/>
            <a:r>
              <a:rPr lang="en-US" altLang="ko-KR" dirty="0"/>
              <a:t>An instruction or data item that has been recently accessed will likely be re-accessed soon in the future.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Spatial Locality</a:t>
            </a:r>
            <a:endParaRPr lang="en-US" altLang="ko-KR" i="1" dirty="0"/>
          </a:p>
          <a:p>
            <a:pPr lvl="1"/>
            <a:r>
              <a:rPr lang="en-US" altLang="ko-KR" dirty="0"/>
              <a:t>If a program accesses memory at address </a:t>
            </a:r>
            <a:r>
              <a:rPr lang="en-US" altLang="ko-KR" dirty="0">
                <a:latin typeface="Courier" pitchFamily="49" charset="0"/>
              </a:rPr>
              <a:t>x</a:t>
            </a:r>
            <a:r>
              <a:rPr lang="en-US" altLang="ko-KR" dirty="0"/>
              <a:t>, it will likely soon access memory near </a:t>
            </a:r>
            <a:r>
              <a:rPr lang="en-US" altLang="ko-KR" dirty="0">
                <a:latin typeface="Courier" pitchFamily="49" charset="0"/>
              </a:rPr>
              <a:t>x.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0" name="아래쪽 화살표 29"/>
          <p:cNvSpPr/>
          <p:nvPr/>
        </p:nvSpPr>
        <p:spPr>
          <a:xfrm>
            <a:off x="5441486" y="2360372"/>
            <a:ext cx="131894" cy="29034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02325" y="1982322"/>
            <a:ext cx="2179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400" baseline="30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access is page1.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1400" baseline="30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nd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access is also page1.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56176" y="3396078"/>
            <a:ext cx="154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5326813" y="4488059"/>
            <a:ext cx="3112132" cy="1605237"/>
            <a:chOff x="1619672" y="2074344"/>
            <a:chExt cx="5097229" cy="2388716"/>
          </a:xfrm>
        </p:grpSpPr>
        <p:sp>
          <p:nvSpPr>
            <p:cNvPr id="35" name="직사각형 34"/>
            <p:cNvSpPr/>
            <p:nvPr/>
          </p:nvSpPr>
          <p:spPr>
            <a:xfrm rot="5400000">
              <a:off x="3527884" y="944724"/>
              <a:ext cx="1080120" cy="48965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 rot="5400000">
              <a:off x="1452669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 rot="5400000">
              <a:off x="1939610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 rot="5400000">
              <a:off x="2460781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 rot="5400000">
              <a:off x="2964837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 rot="5400000">
              <a:off x="3468893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 rot="5400000">
              <a:off x="5598114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아래쪽 화살표 41"/>
            <p:cNvSpPr/>
            <p:nvPr/>
          </p:nvSpPr>
          <p:spPr>
            <a:xfrm>
              <a:off x="1823097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669445" y="2074344"/>
              <a:ext cx="4047456" cy="7785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en-US" altLang="ko-KR" sz="1400" baseline="30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st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access is page1.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en-US" altLang="ko-KR" sz="1400" baseline="30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nd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access is near by 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page1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978050" y="4005064"/>
              <a:ext cx="2524251" cy="45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Virtual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44007" y="3140968"/>
              <a:ext cx="1058778" cy="4121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48" name="아래쪽 화살표 47"/>
          <p:cNvSpPr/>
          <p:nvPr/>
        </p:nvSpPr>
        <p:spPr>
          <a:xfrm>
            <a:off x="5752967" y="4758661"/>
            <a:ext cx="131894" cy="290340"/>
          </a:xfrm>
          <a:prstGeom prst="downArrow">
            <a:avLst/>
          </a:prstGeom>
          <a:solidFill>
            <a:srgbClr val="0070C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5345862" y="2621838"/>
            <a:ext cx="2980074" cy="725850"/>
            <a:chOff x="5345862" y="2621838"/>
            <a:chExt cx="2980074" cy="725850"/>
          </a:xfrm>
        </p:grpSpPr>
        <p:sp>
          <p:nvSpPr>
            <p:cNvPr id="19" name="직사각형 18"/>
            <p:cNvSpPr/>
            <p:nvPr/>
          </p:nvSpPr>
          <p:spPr>
            <a:xfrm rot="5400000">
              <a:off x="6472974" y="1494726"/>
              <a:ext cx="725850" cy="298007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 rot="5400000">
              <a:off x="5185449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 rot="5400000">
              <a:off x="5494608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 rot="5400000">
              <a:off x="5803767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 rot="5400000">
              <a:off x="6112926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 rot="5400000">
              <a:off x="6422085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 rot="5400000">
              <a:off x="7833941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52320" y="2815397"/>
              <a:ext cx="64644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46" name="직사각형 45"/>
            <p:cNvSpPr/>
            <p:nvPr/>
          </p:nvSpPr>
          <p:spPr>
            <a:xfrm rot="5400000">
              <a:off x="6731244" y="2850840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 rot="5400000">
              <a:off x="7040401" y="2850840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7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805145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Who Handles The TLB Miss?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Hardware handle the TLB miss entirely on </a:t>
            </a:r>
            <a:r>
              <a:rPr lang="en-US" altLang="ko-KR" dirty="0" err="1">
                <a:solidFill>
                  <a:schemeClr val="accent6"/>
                </a:solidFill>
              </a:rPr>
              <a:t>CISC</a:t>
            </a:r>
            <a:r>
              <a:rPr lang="en-US" altLang="ko-KR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US" altLang="ko-KR" dirty="0"/>
              <a:t>The hardware has to know exactly where the page tables are located in memory.</a:t>
            </a:r>
          </a:p>
          <a:p>
            <a:pPr lvl="1"/>
            <a:r>
              <a:rPr lang="en-US" altLang="ko-KR" dirty="0"/>
              <a:t>The hardware would “walk” the page table, find the correct page-table entry and </a:t>
            </a:r>
            <a:r>
              <a:rPr lang="en-US" altLang="ko-KR" dirty="0">
                <a:solidFill>
                  <a:schemeClr val="accent6"/>
                </a:solidFill>
              </a:rPr>
              <a:t>extract</a:t>
            </a:r>
            <a:r>
              <a:rPr lang="en-US" altLang="ko-KR" dirty="0"/>
              <a:t> the desired translation, </a:t>
            </a:r>
            <a:r>
              <a:rPr lang="en-US" altLang="ko-KR" dirty="0">
                <a:solidFill>
                  <a:schemeClr val="accent6"/>
                </a:solidFill>
              </a:rPr>
              <a:t>update</a:t>
            </a:r>
            <a:r>
              <a:rPr lang="en-US" altLang="ko-KR" dirty="0"/>
              <a:t> and </a:t>
            </a:r>
            <a:r>
              <a:rPr lang="en-US" altLang="ko-KR" dirty="0">
                <a:solidFill>
                  <a:schemeClr val="accent6"/>
                </a:solidFill>
              </a:rPr>
              <a:t>retry</a:t>
            </a:r>
            <a:r>
              <a:rPr lang="en-US" altLang="ko-KR" dirty="0"/>
              <a:t> instruction.</a:t>
            </a:r>
          </a:p>
          <a:p>
            <a:pPr lvl="1"/>
            <a:r>
              <a:rPr lang="en-US" altLang="ko-KR" b="1" u="sng" dirty="0"/>
              <a:t>hardware-managed TLB.</a:t>
            </a:r>
          </a:p>
          <a:p>
            <a:r>
              <a:rPr lang="en-US" altLang="ko-KR" dirty="0">
                <a:solidFill>
                  <a:schemeClr val="accent6"/>
                </a:solidFill>
              </a:rPr>
              <a:t>RISC</a:t>
            </a:r>
            <a:r>
              <a:rPr lang="en-US" altLang="ko-KR" dirty="0"/>
              <a:t> have what is known as a </a:t>
            </a:r>
            <a:r>
              <a:rPr lang="en-US" altLang="ko-KR" b="1" u="sng" dirty="0"/>
              <a:t>software-managed TLB.</a:t>
            </a:r>
          </a:p>
          <a:p>
            <a:pPr lvl="1"/>
            <a:r>
              <a:rPr lang="en-US" altLang="ko-KR" dirty="0"/>
              <a:t>On a TLB miss, the hardware raises exception( trap handler ).</a:t>
            </a:r>
          </a:p>
          <a:p>
            <a:pPr lvl="2"/>
            <a:r>
              <a:rPr lang="en-US" altLang="ko-KR" b="1" u="sng" dirty="0"/>
              <a:t>Trap handler is code </a:t>
            </a:r>
            <a:r>
              <a:rPr lang="en-US" altLang="ko-KR" dirty="0"/>
              <a:t>within the OS that is written with the express purpose of </a:t>
            </a:r>
            <a:r>
              <a:rPr lang="en-US" altLang="ko-KR" dirty="0">
                <a:solidFill>
                  <a:schemeClr val="accent6"/>
                </a:solidFill>
              </a:rPr>
              <a:t>handling TLB miss.</a:t>
            </a:r>
          </a:p>
          <a:p>
            <a:pPr marL="0" indent="0">
              <a:buNone/>
            </a:pPr>
            <a:endParaRPr lang="ko-KR" altLang="en-US" b="1" u="sng" dirty="0"/>
          </a:p>
        </p:txBody>
      </p:sp>
    </p:spTree>
    <p:extLst>
      <p:ext uri="{BB962C8B-B14F-4D97-AF65-F5344CB8AC3E}">
        <p14:creationId xmlns:p14="http://schemas.microsoft.com/office/powerpoint/2010/main" val="509178703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TLB is managed by a </a:t>
            </a:r>
            <a:r>
              <a:rPr lang="en-US" altLang="ko-KR" b="1" dirty="0"/>
              <a:t>Fully-Associative </a:t>
            </a:r>
            <a:r>
              <a:rPr lang="en-US" altLang="ko-KR" dirty="0"/>
              <a:t>method.</a:t>
            </a:r>
          </a:p>
          <a:p>
            <a:pPr lvl="1"/>
            <a:r>
              <a:rPr lang="en-US" altLang="ko-KR" dirty="0"/>
              <a:t>A typical TLB might have 32,64, or 128 entries.</a:t>
            </a:r>
          </a:p>
          <a:p>
            <a:pPr lvl="1"/>
            <a:r>
              <a:rPr lang="en-US" altLang="ko-KR" dirty="0"/>
              <a:t>Hardware search the entire TLB in parallel to find the desired translation.</a:t>
            </a:r>
          </a:p>
          <a:p>
            <a:pPr lvl="1"/>
            <a:r>
              <a:rPr lang="en-US" altLang="ko-KR" dirty="0"/>
              <a:t>other bits: valid bits , protection bits, address-space identifier, dirty bit</a:t>
            </a:r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475656" y="3356992"/>
            <a:ext cx="6154412" cy="792088"/>
            <a:chOff x="580855" y="2636912"/>
            <a:chExt cx="6154412" cy="792088"/>
          </a:xfrm>
          <a:effectLst/>
        </p:grpSpPr>
        <p:sp>
          <p:nvSpPr>
            <p:cNvPr id="6" name="직사각형 5"/>
            <p:cNvSpPr/>
            <p:nvPr/>
          </p:nvSpPr>
          <p:spPr>
            <a:xfrm>
              <a:off x="580855" y="2636912"/>
              <a:ext cx="6151386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80856" y="2636912"/>
              <a:ext cx="1830905" cy="792088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VPN</a:t>
              </a:r>
              <a:endParaRPr lang="ko-KR" altLang="en-US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411761" y="2636912"/>
              <a:ext cx="2451298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PFN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863059" y="2636912"/>
              <a:ext cx="1872208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other bits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979712" y="4221088"/>
            <a:ext cx="496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Typical TLB entry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620961915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539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39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2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608709" y="1195118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54900" y="126712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62788" y="1594233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62788" y="19366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20677" y="2851302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67699" y="249277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90090" y="2154221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27" name="Straight Arrow Connector 20"/>
          <p:cNvCxnSpPr>
            <a:stCxn id="7" idx="3"/>
          </p:cNvCxnSpPr>
          <p:nvPr/>
        </p:nvCxnSpPr>
        <p:spPr>
          <a:xfrm>
            <a:off x="2123728" y="2384884"/>
            <a:ext cx="1484981" cy="0"/>
          </a:xfrm>
          <a:prstGeom prst="straightConnector1">
            <a:avLst/>
          </a:prstGeom>
          <a:ln w="15875">
            <a:solidFill>
              <a:schemeClr val="tx2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35696" y="2060848"/>
            <a:ext cx="2003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access </a:t>
            </a:r>
            <a:r>
              <a:rPr lang="en-US" altLang="ko-KR" sz="1400" b="1" dirty="0" err="1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VPN10</a:t>
            </a:r>
            <a:endParaRPr lang="ko-KR" altLang="en-US" sz="1400" b="1" dirty="0">
              <a:solidFill>
                <a:srgbClr val="1F497D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608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54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62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62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667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0090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3490" y="5364505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/>
        </p:nvGraphicFramePr>
        <p:xfrm>
          <a:off x="5364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꺾인 연결선 13"/>
          <p:cNvCxnSpPr>
            <a:stCxn id="19" idx="3"/>
          </p:cNvCxnSpPr>
          <p:nvPr/>
        </p:nvCxnSpPr>
        <p:spPr>
          <a:xfrm>
            <a:off x="4688829" y="2023210"/>
            <a:ext cx="675259" cy="1252719"/>
          </a:xfrm>
          <a:prstGeom prst="bentConnector3">
            <a:avLst/>
          </a:prstGeom>
          <a:ln w="15875">
            <a:solidFill>
              <a:schemeClr val="tx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76056" y="2010326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Insert TLB Entry</a:t>
            </a:r>
            <a:endParaRPr lang="ko-KR" altLang="en-US" sz="1600" b="1" dirty="0">
              <a:solidFill>
                <a:srgbClr val="1F497D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8014060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539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39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2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608709" y="1195118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54900" y="126712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62788" y="1594233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62788" y="19366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20677" y="2851302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67699" y="249277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90090" y="2154221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27" name="Straight Arrow Connector 20"/>
          <p:cNvCxnSpPr/>
          <p:nvPr/>
        </p:nvCxnSpPr>
        <p:spPr>
          <a:xfrm>
            <a:off x="2123728" y="4581128"/>
            <a:ext cx="1484981" cy="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608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54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62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62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667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0090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3490" y="5364505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/>
        </p:nvGraphicFramePr>
        <p:xfrm>
          <a:off x="5364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꺾인 연결선 13"/>
          <p:cNvCxnSpPr>
            <a:stCxn id="32" idx="3"/>
          </p:cNvCxnSpPr>
          <p:nvPr/>
        </p:nvCxnSpPr>
        <p:spPr>
          <a:xfrm flipV="1">
            <a:off x="4688829" y="3936318"/>
            <a:ext cx="675259" cy="600095"/>
          </a:xfrm>
          <a:prstGeom prst="bentConnector3">
            <a:avLst/>
          </a:prstGeom>
          <a:ln w="19050">
            <a:solidFill>
              <a:schemeClr val="accent3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1520" y="3159079"/>
            <a:ext cx="1350211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Context</a:t>
            </a:r>
          </a:p>
          <a:p>
            <a:r>
              <a:rPr 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Switching</a:t>
            </a:r>
          </a:p>
        </p:txBody>
      </p:sp>
      <p:cxnSp>
        <p:nvCxnSpPr>
          <p:cNvPr id="36" name="구부러진 연결선 35"/>
          <p:cNvCxnSpPr/>
          <p:nvPr/>
        </p:nvCxnSpPr>
        <p:spPr>
          <a:xfrm rot="10800000" flipV="1">
            <a:off x="526529" y="2384883"/>
            <a:ext cx="12700" cy="2175475"/>
          </a:xfrm>
          <a:prstGeom prst="curvedConnector3">
            <a:avLst>
              <a:gd name="adj1" fmla="val 2475000"/>
            </a:avLst>
          </a:prstGeom>
          <a:ln w="158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35696" y="4221088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</a:rPr>
              <a:t>access </a:t>
            </a:r>
            <a:r>
              <a:rPr lang="en-US" altLang="ko-KR" sz="1600" b="1" dirty="0" err="1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VPN10</a:t>
            </a:r>
            <a:endParaRPr lang="ko-KR" altLang="en-US" sz="1600" b="1" dirty="0">
              <a:solidFill>
                <a:srgbClr val="9BBB59">
                  <a:lumMod val="75000"/>
                </a:srgbClr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32040" y="4530606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</a:rPr>
              <a:t>Insert TLB Entry</a:t>
            </a:r>
            <a:endParaRPr lang="ko-KR" altLang="en-US" sz="1600" b="1" dirty="0">
              <a:solidFill>
                <a:srgbClr val="9BBB59">
                  <a:lumMod val="7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138218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539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39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2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320677" y="1195118"/>
            <a:ext cx="1755379" cy="1963961"/>
            <a:chOff x="3320677" y="1195118"/>
            <a:chExt cx="1755379" cy="1963961"/>
          </a:xfrm>
        </p:grpSpPr>
        <p:sp>
          <p:nvSpPr>
            <p:cNvPr id="19" name="직사각형 18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 Memory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3608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54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62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62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667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0090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3490" y="5364505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/>
        </p:nvGraphicFramePr>
        <p:xfrm>
          <a:off x="5364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5349948" y="3111455"/>
            <a:ext cx="3614539" cy="317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349948" y="3760341"/>
            <a:ext cx="3614539" cy="317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210814" y="4637568"/>
            <a:ext cx="3825682" cy="880825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Can’t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distinguish 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which entry is for which process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134174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Solve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Provide an address space identifier(ASID) field in the TLB.</a:t>
            </a:r>
          </a:p>
          <a:p>
            <a:pPr lvl="1"/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611560" y="2426720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11560" y="4654313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120" y="2838289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924338" y="1739573"/>
            <a:ext cx="1755379" cy="1963961"/>
            <a:chOff x="3320677" y="1195118"/>
            <a:chExt cx="1755379" cy="1963961"/>
          </a:xfrm>
        </p:grpSpPr>
        <p:sp>
          <p:nvSpPr>
            <p:cNvPr id="10" name="직사각형 9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 Memory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3239557" y="4270327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285748" y="434233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293636" y="4669442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293636" y="501184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98547" y="5567984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20938" y="5229430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4338" y="5926511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24" name="내용 개체 틀 5"/>
          <p:cNvGraphicFramePr>
            <a:graphicFrameLocks/>
          </p:cNvGraphicFramePr>
          <p:nvPr/>
        </p:nvGraphicFramePr>
        <p:xfrm>
          <a:off x="5256076" y="316169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ASID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9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모서리가 둥근 직사각형 71"/>
          <p:cNvSpPr/>
          <p:nvPr/>
        </p:nvSpPr>
        <p:spPr>
          <a:xfrm>
            <a:off x="8119614" y="3140280"/>
            <a:ext cx="753645" cy="1695169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7640542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Case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Two processes </a:t>
            </a:r>
            <a:r>
              <a:rPr lang="en-US" altLang="ko-KR" dirty="0">
                <a:solidFill>
                  <a:schemeClr val="accent6"/>
                </a:solidFill>
              </a:rPr>
              <a:t>share a page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Process 1 is sharing physical page 101 with Process2.</a:t>
            </a:r>
          </a:p>
          <a:p>
            <a:pPr lvl="1"/>
            <a:r>
              <a:rPr lang="en-US" altLang="ko-KR" dirty="0"/>
              <a:t>P1 maps this page into the 10</a:t>
            </a:r>
            <a:r>
              <a:rPr lang="en-US" altLang="ko-KR" baseline="30000" dirty="0"/>
              <a:t>th</a:t>
            </a:r>
            <a:r>
              <a:rPr lang="en-US" altLang="ko-KR" dirty="0"/>
              <a:t> page of its address space.</a:t>
            </a:r>
          </a:p>
          <a:p>
            <a:pPr lvl="1"/>
            <a:r>
              <a:rPr lang="en-US" altLang="ko-KR" dirty="0"/>
              <a:t>P2 maps this page to the 50</a:t>
            </a:r>
            <a:r>
              <a:rPr lang="en-US" altLang="ko-KR" baseline="30000" dirty="0"/>
              <a:t>th</a:t>
            </a:r>
            <a:r>
              <a:rPr lang="en-US" altLang="ko-KR" dirty="0"/>
              <a:t> page of its address space.</a:t>
            </a:r>
          </a:p>
        </p:txBody>
      </p:sp>
      <p:graphicFrame>
        <p:nvGraphicFramePr>
          <p:cNvPr id="6" name="내용 개체 틀 5"/>
          <p:cNvGraphicFramePr>
            <a:graphicFrameLocks/>
          </p:cNvGraphicFramePr>
          <p:nvPr/>
        </p:nvGraphicFramePr>
        <p:xfrm>
          <a:off x="938980" y="3269986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ASID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9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1653172" y="3252691"/>
            <a:ext cx="724238" cy="1678385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036243" y="3212976"/>
            <a:ext cx="3064149" cy="1760201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Sharing of physical pages is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useful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as it reduces the number of physical pages in use.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83523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LRU(Least Recently Used)</a:t>
            </a:r>
          </a:p>
          <a:p>
            <a:pPr lvl="1"/>
            <a:r>
              <a:rPr lang="en-US" altLang="ko-KR" dirty="0"/>
              <a:t>Evict an entry that has not recently been used.</a:t>
            </a:r>
          </a:p>
          <a:p>
            <a:pPr lvl="1"/>
            <a:r>
              <a:rPr lang="en-US" altLang="ko-KR" dirty="0"/>
              <a:t>Take advantage of </a:t>
            </a:r>
            <a:r>
              <a:rPr lang="en-US" altLang="ko-KR" i="1" dirty="0"/>
              <a:t>locality</a:t>
            </a:r>
            <a:r>
              <a:rPr lang="en-US" altLang="ko-KR" dirty="0"/>
              <a:t> in the memory-reference stream.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Replacement Policy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331640" y="3189090"/>
            <a:ext cx="6840760" cy="859408"/>
          </a:xfrm>
          <a:prstGeom prst="roundRect">
            <a:avLst>
              <a:gd name="adj" fmla="val 555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                                                                         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94964" y="3040385"/>
            <a:ext cx="1924907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Reference Row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580614" y="4162764"/>
            <a:ext cx="303321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582628" y="4230590"/>
            <a:ext cx="301307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80614" y="4590506"/>
            <a:ext cx="303321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20" y="4715112"/>
            <a:ext cx="147927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 Frame: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956796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956796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956796" y="4586200"/>
            <a:ext cx="305991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956797" y="4946240"/>
            <a:ext cx="305990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80614" y="4959054"/>
            <a:ext cx="303321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335495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35496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335495" y="4586200"/>
            <a:ext cx="305991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35496" y="494624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730564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730564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730564" y="458620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730564" y="4946240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517968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517968" y="4226284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HK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17968" y="458620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517969" y="4946240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273168" y="4158458"/>
            <a:ext cx="311594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73167" y="4226284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277357" y="4586200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282041" y="4946240"/>
            <a:ext cx="298532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649771" y="4158458"/>
            <a:ext cx="316278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649770" y="4226284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HK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653960" y="4586200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649771" y="4946240"/>
            <a:ext cx="316277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015144" y="4158458"/>
            <a:ext cx="316278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015143" y="4226284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HK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015143" y="458620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5015144" y="4946240"/>
            <a:ext cx="3162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411901" y="4158458"/>
            <a:ext cx="3162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411902" y="4226284"/>
            <a:ext cx="3162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411901" y="458620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5411901" y="494624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584302" y="4158458"/>
            <a:ext cx="3381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584302" y="4226284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584302" y="4586200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584303" y="4946240"/>
            <a:ext cx="3381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7319240" y="4167983"/>
            <a:ext cx="3381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7319240" y="4235809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7319240" y="4595725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7319241" y="4955765"/>
            <a:ext cx="3381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5364088" y="5536482"/>
            <a:ext cx="3577616" cy="772838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Total 11 TLB miss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15397" y="3462908"/>
            <a:ext cx="433753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894576" y="3462908"/>
            <a:ext cx="433753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2273755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657272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040789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3424306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807823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4191340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574857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958374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341891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6108925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725408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6492442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875959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7259476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7642992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936868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Font typeface="Wingdings" pitchFamily="2" charset="2"/>
              <a:buNone/>
            </a:pP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Real TLB Entry</a:t>
            </a:r>
            <a:endParaRPr lang="ko-KR" altLang="en-US" dirty="0"/>
          </a:p>
        </p:txBody>
      </p:sp>
      <p:graphicFrame>
        <p:nvGraphicFramePr>
          <p:cNvPr id="12" name="내용 개체 틀 11"/>
          <p:cNvGraphicFramePr>
            <a:graphicFrameLocks noGrp="1"/>
          </p:cNvGraphicFramePr>
          <p:nvPr>
            <p:ph idx="1"/>
          </p:nvPr>
        </p:nvGraphicFramePr>
        <p:xfrm>
          <a:off x="929583" y="1822267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내용 개체 틀 11"/>
          <p:cNvGraphicFramePr>
            <a:graphicFrameLocks/>
          </p:cNvGraphicFramePr>
          <p:nvPr/>
        </p:nvGraphicFramePr>
        <p:xfrm>
          <a:off x="929583" y="2182307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801791" y="1868838"/>
            <a:ext cx="504056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902" y="1510767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0  1  2  3  4  5  6  7  8  9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49642" y="1505148"/>
            <a:ext cx="5277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 11  …                     19     …                                  31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12153" y="1868838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6247" y="1862652"/>
            <a:ext cx="64807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ASID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879" y="2229993"/>
            <a:ext cx="64807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435" y="2223807"/>
            <a:ext cx="527848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9149" y="2223807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9963" y="2222905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6140" y="1124744"/>
            <a:ext cx="562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All 64 bits of this TLB entry(example of MIPS R4000)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/>
              <p:cNvGraphicFramePr>
                <a:graphicFrameLocks noGrp="1"/>
              </p:cNvGraphicFramePr>
              <p:nvPr/>
            </p:nvGraphicFramePr>
            <p:xfrm>
              <a:off x="904582" y="2708920"/>
              <a:ext cx="7226653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2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446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44016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Flag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Content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016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19-bit VPN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The rest reserved for the kernel.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24-bit PFN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Systems can support with up to 64GB of main memory(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b="0" i="1" dirty="0" smtClean="0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1200" b="0" i="1" dirty="0" smtClean="0">
                                      <a:latin typeface="Cambria Math"/>
                                    </a:rPr>
                                    <m:t>24</m:t>
                                  </m:r>
                                </m:sup>
                              </m:sSup>
                              <m:r>
                                <a:rPr lang="en-US" altLang="ko-KR" sz="1200" b="0" i="1" dirty="0" smtClean="0">
                                  <a:latin typeface="Cambria Math"/>
                                </a:rPr>
                                <m:t>∗4</m:t>
                              </m:r>
                              <m:r>
                                <a:rPr lang="en-US" altLang="ko-KR" sz="1200" b="0" i="1" dirty="0" smtClean="0">
                                  <a:latin typeface="Cambria Math"/>
                                </a:rPr>
                                <m:t>𝐾𝐵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 pages ).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657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Global bit(G)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Used for pages that are globally-shared among processes.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ASID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OS can use to distinguish between address spaces.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Coherence bit(C)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determine how a page is cached by the hardware.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57851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Dirty bit(D)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marking when the page has been written.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Valid bit(V)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tells the hardware if there is a valid translation present in the entry.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3517700"/>
                  </p:ext>
                </p:extLst>
              </p:nvPr>
            </p:nvGraphicFramePr>
            <p:xfrm>
              <a:off x="904582" y="2708920"/>
              <a:ext cx="7226653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2037"/>
                    <a:gridCol w="5544616"/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Flag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Content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19-bit VPN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The rest reserved for the kernel.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24-bit </a:t>
                          </a: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PFN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0330" t="-200000" b="-517778"/>
                          </a:stretch>
                        </a:blip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Global bit(G</a:t>
                          </a: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)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Used for pages that are globally-shared among processes.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ASID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OS can use to distinguish between address spaces.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Coherence bit(C)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determine how a page is cached by the hardware.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Dirty bit(D)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marking when the page has been written.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Valid bit(V)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tells the hardware if there is a valid translation present in the entry.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76186360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II: Advanced Paging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82524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67192"/>
            <a:ext cx="8786812" cy="5501258"/>
          </a:xfrm>
        </p:spPr>
        <p:txBody>
          <a:bodyPr/>
          <a:lstStyle/>
          <a:p>
            <a:r>
              <a:rPr lang="en-US" altLang="ko-KR" dirty="0"/>
              <a:t>We usually have one page table for every process in the system.</a:t>
            </a:r>
          </a:p>
          <a:p>
            <a:pPr lvl="1"/>
            <a:r>
              <a:rPr lang="en-US" altLang="ko-KR" dirty="0"/>
              <a:t>Assume that 32-bit address space with 4KB pages and 4-byte page-table entry.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Linear Tables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142095" y="4797152"/>
                <a:ext cx="4950185" cy="48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Page table size =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𝟑𝟐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𝟏𝟐</m:t>
                            </m:r>
                          </m:sup>
                        </m:sSup>
                      </m:den>
                    </m:f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∗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𝑩𝒚𝒕𝒆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𝑴𝑩</m:t>
                    </m:r>
                    <m:r>
                      <a:rPr lang="en-US" altLang="ko-KR" sz="1600" b="1" smtClean="0">
                        <a:solidFill>
                          <a:srgbClr val="FF0000"/>
                        </a:solidFill>
                        <a:latin typeface="Cambria Math"/>
                      </a:rPr>
                      <m:t>𝐲𝐭𝐞</m:t>
                    </m:r>
                  </m:oMath>
                </a14:m>
                <a:endParaRPr lang="ko-KR" altLang="en-US" sz="16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095" y="4797152"/>
                <a:ext cx="4950185" cy="483530"/>
              </a:xfrm>
              <a:prstGeom prst="rect">
                <a:avLst/>
              </a:prstGeom>
              <a:blipFill rotWithShape="1">
                <a:blip r:embed="rId3"/>
                <a:stretch>
                  <a:fillRect l="-616" b="-3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그룹 30"/>
          <p:cNvGrpSpPr/>
          <p:nvPr/>
        </p:nvGrpSpPr>
        <p:grpSpPr>
          <a:xfrm>
            <a:off x="4499992" y="2579418"/>
            <a:ext cx="1755379" cy="1963961"/>
            <a:chOff x="3320677" y="1195118"/>
            <a:chExt cx="1755379" cy="1963961"/>
          </a:xfrm>
        </p:grpSpPr>
        <p:sp>
          <p:nvSpPr>
            <p:cNvPr id="32" name="직사각형 31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…</a:t>
              </a: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2825663" y="2565662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826711" y="25685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7044" y="3395716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826711" y="27987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826711" y="3014780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826712" y="400871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10444" y="4238916"/>
            <a:ext cx="175537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of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267744" y="2556023"/>
            <a:ext cx="504056" cy="23236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947054" y="2664304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4KB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83568" y="5517231"/>
            <a:ext cx="7539501" cy="693369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tables are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too big 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and thus consume too much memory. 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2555776" y="2565662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2699792" y="2568556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2554727" y="2798756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4572216" y="2667884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4716232" y="2670778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4571167" y="2900978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716362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67192"/>
            <a:ext cx="8786812" cy="5501258"/>
          </a:xfrm>
        </p:spPr>
        <p:txBody>
          <a:bodyPr/>
          <a:lstStyle/>
          <a:p>
            <a:r>
              <a:rPr lang="en-US" altLang="ko-KR" dirty="0"/>
              <a:t>Page table are too big and thus consume too much memory. </a:t>
            </a:r>
          </a:p>
          <a:p>
            <a:pPr lvl="1"/>
            <a:r>
              <a:rPr lang="en-US" altLang="ko-KR" dirty="0"/>
              <a:t>Assume that 32-bit address space with </a:t>
            </a:r>
            <a:r>
              <a:rPr lang="en-US" altLang="ko-KR" dirty="0" err="1">
                <a:solidFill>
                  <a:srgbClr val="FF0000"/>
                </a:solidFill>
              </a:rPr>
              <a:t>16KB</a:t>
            </a:r>
            <a:r>
              <a:rPr lang="en-US" altLang="ko-KR" dirty="0"/>
              <a:t> pages and 4-byte page-table entry.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Smaller Tables</a:t>
            </a:r>
            <a:endParaRPr lang="ko-KR" altLang="en-US" dirty="0"/>
          </a:p>
        </p:txBody>
      </p:sp>
      <p:grpSp>
        <p:nvGrpSpPr>
          <p:cNvPr id="31" name="그룹 30"/>
          <p:cNvGrpSpPr/>
          <p:nvPr/>
        </p:nvGrpSpPr>
        <p:grpSpPr>
          <a:xfrm>
            <a:off x="4499992" y="2579418"/>
            <a:ext cx="1755379" cy="1963961"/>
            <a:chOff x="3320677" y="1195118"/>
            <a:chExt cx="1755379" cy="1963961"/>
          </a:xfrm>
        </p:grpSpPr>
        <p:sp>
          <p:nvSpPr>
            <p:cNvPr id="32" name="직사각형 31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…</a:t>
              </a: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2825663" y="2565662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826711" y="25685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7044" y="3395716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826711" y="27987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826711" y="3014780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826712" y="400871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10444" y="4238916"/>
            <a:ext cx="175537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of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267744" y="2556023"/>
            <a:ext cx="504056" cy="23236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555776" y="2565662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2699792" y="2568556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2554727" y="2798756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4572216" y="2667884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4716232" y="2670778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4571167" y="2900978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3900925" y="266636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16KB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718159" y="4797152"/>
                <a:ext cx="4950185" cy="48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𝟑𝟐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HK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𝟏𝟒</m:t>
                            </m:r>
                          </m:sup>
                        </m:sSup>
                      </m:den>
                    </m:f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∗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𝑴𝑩</m:t>
                    </m:r>
                  </m:oMath>
                </a14:m>
                <a:r>
                  <a:rPr lang="ko-KR" altLang="en-US" sz="16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  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per page table</a:t>
                </a:r>
                <a:endParaRPr lang="ko-KR" altLang="en-US" sz="16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159" y="4797152"/>
                <a:ext cx="4950185" cy="483530"/>
              </a:xfrm>
              <a:prstGeom prst="rect">
                <a:avLst/>
              </a:prstGeom>
              <a:blipFill>
                <a:blip r:embed="rId3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모서리가 둥근 직사각형 49"/>
          <p:cNvSpPr/>
          <p:nvPr/>
        </p:nvSpPr>
        <p:spPr>
          <a:xfrm>
            <a:off x="683568" y="5517231"/>
            <a:ext cx="7539501" cy="693369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Big pages lead to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internal fragmentation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3900296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내용 개체 틀 2"/>
          <p:cNvSpPr txBox="1">
            <a:spLocks/>
          </p:cNvSpPr>
          <p:nvPr/>
        </p:nvSpPr>
        <p:spPr bwMode="auto">
          <a:xfrm>
            <a:off x="214313" y="852698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Single page table for the entries address space of a process.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</a:t>
            </a:r>
            <a:endParaRPr lang="ko-KR" altLang="en-US" dirty="0"/>
          </a:p>
        </p:txBody>
      </p:sp>
      <p:graphicFrame>
        <p:nvGraphicFramePr>
          <p:cNvPr id="8" name="내용 개체 틀 7"/>
          <p:cNvGraphicFramePr>
            <a:graphicFrameLocks noGrp="1"/>
          </p:cNvGraphicFramePr>
          <p:nvPr>
            <p:ph idx="1"/>
          </p:nvPr>
        </p:nvGraphicFramePr>
        <p:xfrm>
          <a:off x="1067735" y="2304025"/>
          <a:ext cx="1224136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312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7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8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9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10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11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12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13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14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3511" y="2232017"/>
            <a:ext cx="52450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code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062" y="3168121"/>
            <a:ext cx="5293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1650" y="5256353"/>
            <a:ext cx="5357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018363" y="1893599"/>
            <a:ext cx="1008112" cy="4128854"/>
            <a:chOff x="5364088" y="1540769"/>
            <a:chExt cx="2016224" cy="4028981"/>
          </a:xfrm>
        </p:grpSpPr>
        <p:grpSp>
          <p:nvGrpSpPr>
            <p:cNvPr id="29" name="그룹 28"/>
            <p:cNvGrpSpPr/>
            <p:nvPr/>
          </p:nvGrpSpPr>
          <p:grpSpPr>
            <a:xfrm>
              <a:off x="5364088" y="1540769"/>
              <a:ext cx="2016224" cy="2336302"/>
              <a:chOff x="5364088" y="1464476"/>
              <a:chExt cx="1872208" cy="4361097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5364088" y="204054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5364088" y="2904635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5364088" y="348070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5364088" y="376873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5364088" y="4056764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5364088" y="434571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5364088" y="463374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5364088" y="49217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5364088" y="520889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5364088" y="3695867"/>
              <a:ext cx="2016224" cy="1873883"/>
              <a:chOff x="5364088" y="1464476"/>
              <a:chExt cx="1872208" cy="3497915"/>
            </a:xfrm>
          </p:grpSpPr>
          <p:sp>
            <p:nvSpPr>
              <p:cNvPr id="31" name="직사각형 30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364088" y="2040539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5364088" y="290463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5364088" y="348069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5364088" y="376873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5364088" y="4056763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5364088" y="434571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</p:grpSp>
      <p:sp>
        <p:nvSpPr>
          <p:cNvPr id="56" name="직사각형 55"/>
          <p:cNvSpPr/>
          <p:nvPr/>
        </p:nvSpPr>
        <p:spPr>
          <a:xfrm>
            <a:off x="3018363" y="5858887"/>
            <a:ext cx="1008112" cy="163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761447" y="1803648"/>
            <a:ext cx="612068" cy="4455066"/>
          </a:xfrm>
          <a:prstGeom prst="rect">
            <a:avLst/>
          </a:prstGeom>
          <a:noFill/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25</a:t>
            </a:r>
          </a:p>
          <a:p>
            <a:pPr algn="ctr"/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7" name="직선 화살표 연결선 86"/>
          <p:cNvCxnSpPr>
            <a:endCxn id="50" idx="1"/>
          </p:cNvCxnSpPr>
          <p:nvPr/>
        </p:nvCxnSpPr>
        <p:spPr>
          <a:xfrm>
            <a:off x="2058195" y="2413486"/>
            <a:ext cx="960168" cy="91441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 flipV="1">
            <a:off x="2161063" y="2379132"/>
            <a:ext cx="857300" cy="3010309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2058195" y="3352264"/>
            <a:ext cx="960168" cy="93555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 flipV="1">
            <a:off x="2161151" y="5536418"/>
            <a:ext cx="857212" cy="76725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073140" y="245403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</a:t>
            </a:r>
            <a:endParaRPr lang="ko-KR" altLang="en-US" sz="1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53404" y="1889609"/>
            <a:ext cx="1865036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Address</a:t>
            </a:r>
          </a:p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Space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13200" y="1631989"/>
            <a:ext cx="175537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7499" y="6022453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16KB Address Space with 1KB Pages</a:t>
            </a:r>
          </a:p>
        </p:txBody>
      </p: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770665"/>
              </p:ext>
            </p:extLst>
          </p:nvPr>
        </p:nvGraphicFramePr>
        <p:xfrm>
          <a:off x="4720134" y="2085461"/>
          <a:ext cx="374441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present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dirty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HK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r-x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4671096" y="5260836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Page Table For 16KB Address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9632" y="56612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…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4932039" y="4931876"/>
            <a:ext cx="35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501947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Most of the page table is </a:t>
            </a:r>
            <a:r>
              <a:rPr lang="en-US" altLang="ko-KR" b="1" dirty="0">
                <a:solidFill>
                  <a:srgbClr val="FF0000"/>
                </a:solidFill>
              </a:rPr>
              <a:t>unused</a:t>
            </a:r>
            <a:r>
              <a:rPr lang="en-US" altLang="ko-KR" dirty="0">
                <a:solidFill>
                  <a:prstClr val="black"/>
                </a:solidFill>
              </a:rPr>
              <a:t>, full of invalid entries.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Problem</a:t>
            </a:r>
            <a:endParaRPr lang="ko-KR" altLang="en-US"/>
          </a:p>
        </p:txBody>
      </p:sp>
      <p:graphicFrame>
        <p:nvGraphicFramePr>
          <p:cNvPr id="8" name="내용 개체 틀 7"/>
          <p:cNvGraphicFramePr>
            <a:graphicFrameLocks noGrp="1"/>
          </p:cNvGraphicFramePr>
          <p:nvPr>
            <p:ph idx="1"/>
          </p:nvPr>
        </p:nvGraphicFramePr>
        <p:xfrm>
          <a:off x="1067735" y="2304025"/>
          <a:ext cx="1224136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312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3511" y="2232017"/>
            <a:ext cx="52450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code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062" y="3168121"/>
            <a:ext cx="5293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1650" y="5256353"/>
            <a:ext cx="5357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018363" y="1893599"/>
            <a:ext cx="1008112" cy="4128854"/>
            <a:chOff x="5364088" y="1540769"/>
            <a:chExt cx="2016224" cy="4028981"/>
          </a:xfrm>
        </p:grpSpPr>
        <p:grpSp>
          <p:nvGrpSpPr>
            <p:cNvPr id="29" name="그룹 28"/>
            <p:cNvGrpSpPr/>
            <p:nvPr/>
          </p:nvGrpSpPr>
          <p:grpSpPr>
            <a:xfrm>
              <a:off x="5364088" y="1540769"/>
              <a:ext cx="2016224" cy="2336302"/>
              <a:chOff x="5364088" y="1464476"/>
              <a:chExt cx="1872208" cy="4361097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5364088" y="204054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5364088" y="2904635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5364088" y="348070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5364088" y="376873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5364088" y="4056764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5364088" y="434571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5364088" y="463374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5364088" y="49217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5364088" y="520889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5364088" y="3695867"/>
              <a:ext cx="2016224" cy="1873883"/>
              <a:chOff x="5364088" y="1464476"/>
              <a:chExt cx="1872208" cy="3497915"/>
            </a:xfrm>
          </p:grpSpPr>
          <p:sp>
            <p:nvSpPr>
              <p:cNvPr id="31" name="직사각형 30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364088" y="2040539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5364088" y="290463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5364088" y="348069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5364088" y="376873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5364088" y="4056763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5364088" y="434571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</p:grpSp>
      <p:sp>
        <p:nvSpPr>
          <p:cNvPr id="56" name="직사각형 55"/>
          <p:cNvSpPr/>
          <p:nvPr/>
        </p:nvSpPr>
        <p:spPr>
          <a:xfrm>
            <a:off x="3018363" y="5858887"/>
            <a:ext cx="1008112" cy="163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761447" y="1803648"/>
            <a:ext cx="612068" cy="4455066"/>
          </a:xfrm>
          <a:prstGeom prst="rect">
            <a:avLst/>
          </a:prstGeom>
          <a:noFill/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25</a:t>
            </a:r>
          </a:p>
          <a:p>
            <a:pPr algn="ctr"/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7" name="직선 화살표 연결선 86"/>
          <p:cNvCxnSpPr>
            <a:endCxn id="50" idx="1"/>
          </p:cNvCxnSpPr>
          <p:nvPr/>
        </p:nvCxnSpPr>
        <p:spPr>
          <a:xfrm>
            <a:off x="2058195" y="2413486"/>
            <a:ext cx="960168" cy="91441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 flipV="1">
            <a:off x="2161063" y="2379132"/>
            <a:ext cx="857300" cy="3010309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2073140" y="3352264"/>
            <a:ext cx="945223" cy="93555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 flipV="1">
            <a:off x="2161151" y="5536418"/>
            <a:ext cx="857212" cy="76725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073140" y="245403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</a:t>
            </a:r>
            <a:endParaRPr lang="ko-KR" altLang="en-US" sz="1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53404" y="1889609"/>
            <a:ext cx="1865036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Address</a:t>
            </a:r>
          </a:p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Space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13200" y="1631989"/>
            <a:ext cx="175537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7499" y="6022453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16KB Address Space with 1KB Pages</a:t>
            </a:r>
          </a:p>
        </p:txBody>
      </p: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112654"/>
              </p:ext>
            </p:extLst>
          </p:nvPr>
        </p:nvGraphicFramePr>
        <p:xfrm>
          <a:off x="4720134" y="2085461"/>
          <a:ext cx="374441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present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dirty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HK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r-x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4631263" y="5265549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Page Table For 16KB Address Space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4719383" y="3796802"/>
            <a:ext cx="3744416" cy="55221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713632" y="2692327"/>
            <a:ext cx="3744416" cy="84709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59632" y="56612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…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4932040" y="4850831"/>
            <a:ext cx="353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774705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Hybrid Approach: Paging and Segments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 order to reduce the memory overhead of page tables.</a:t>
            </a:r>
          </a:p>
          <a:p>
            <a:pPr lvl="1"/>
            <a:r>
              <a:rPr lang="en-US" altLang="ko-KR" dirty="0"/>
              <a:t>Using base not to point to the segment itself but rather to hold the </a:t>
            </a:r>
            <a:r>
              <a:rPr lang="en-US" altLang="ko-KR" dirty="0">
                <a:solidFill>
                  <a:schemeClr val="accent6"/>
                </a:solidFill>
              </a:rPr>
              <a:t>physical address of the page table </a:t>
            </a:r>
            <a:r>
              <a:rPr lang="en-US" altLang="ko-KR" dirty="0"/>
              <a:t>of that segment.</a:t>
            </a:r>
            <a:endParaRPr lang="ko-KR" altLang="en-US" dirty="0"/>
          </a:p>
          <a:p>
            <a:pPr lvl="1"/>
            <a:r>
              <a:rPr lang="en-US" altLang="ko-KR" dirty="0"/>
              <a:t>The bounds register is used to indicate the end of the page table.</a:t>
            </a:r>
          </a:p>
          <a:p>
            <a:r>
              <a:rPr lang="en-US" altLang="ko-KR" dirty="0"/>
              <a:t>Problems</a:t>
            </a:r>
          </a:p>
          <a:p>
            <a:pPr lvl="1"/>
            <a:r>
              <a:rPr lang="en-US" altLang="ko-KR" dirty="0"/>
              <a:t>Complicated for managing both segments/pages</a:t>
            </a:r>
          </a:p>
          <a:p>
            <a:pPr lvl="1"/>
            <a:r>
              <a:rPr lang="en-US" altLang="ko-KR" dirty="0"/>
              <a:t>If we have a large but sparsely-used heap, we can still end up with a lot of page table waste.</a:t>
            </a:r>
          </a:p>
          <a:p>
            <a:pPr lvl="1"/>
            <a:r>
              <a:rPr lang="en-US" altLang="ko-KR" dirty="0"/>
              <a:t>External fragmentation arises again.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7770656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Turns the linear page table into something like a tree.</a:t>
            </a:r>
          </a:p>
          <a:p>
            <a:pPr lvl="1"/>
            <a:r>
              <a:rPr lang="en-US" altLang="ko-KR" dirty="0"/>
              <a:t>Chop up the page table into page-sized units.</a:t>
            </a:r>
          </a:p>
          <a:p>
            <a:pPr lvl="1"/>
            <a:r>
              <a:rPr lang="en-US" altLang="ko-KR" dirty="0"/>
              <a:t>If an entire page of page-table entries is invalid, don’t allocate that page of the page table at all.</a:t>
            </a:r>
          </a:p>
          <a:p>
            <a:pPr lvl="1"/>
            <a:r>
              <a:rPr lang="en-US" altLang="ko-KR" dirty="0"/>
              <a:t>To track whether a page of the page table is valid, use a new structure, called </a:t>
            </a:r>
            <a:r>
              <a:rPr lang="en-US" altLang="ko-KR" dirty="0">
                <a:solidFill>
                  <a:schemeClr val="accent6"/>
                </a:solidFill>
              </a:rPr>
              <a:t>page directory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5460302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Tables: Page directory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865193" y="1344245"/>
            <a:ext cx="1779910" cy="2845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520" y="1268760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PTBR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552" y="1052736"/>
            <a:ext cx="2309627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 Page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6560" y="1052736"/>
            <a:ext cx="231760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Multi-level Page Table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571555" y="1696542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958261" y="1692948"/>
            <a:ext cx="546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50798" y="1744374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484194"/>
              </p:ext>
            </p:extLst>
          </p:nvPr>
        </p:nvGraphicFramePr>
        <p:xfrm>
          <a:off x="611560" y="2060848"/>
          <a:ext cx="163699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823564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37669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8714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94524"/>
                  </a:ext>
                </a:extLst>
              </a:tr>
            </a:tbl>
          </a:graphicData>
        </a:graphic>
      </p:graphicFrame>
      <p:cxnSp>
        <p:nvCxnSpPr>
          <p:cNvPr id="90" name="직선 연결선 89"/>
          <p:cNvCxnSpPr/>
          <p:nvPr/>
        </p:nvCxnSpPr>
        <p:spPr>
          <a:xfrm>
            <a:off x="588735" y="2057153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588735" y="3140728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559776" y="4242446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2659076" y="1484081"/>
            <a:ext cx="32874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>
            <a:cxnSpLocks/>
          </p:cNvCxnSpPr>
          <p:nvPr/>
        </p:nvCxnSpPr>
        <p:spPr>
          <a:xfrm>
            <a:off x="2987824" y="1484081"/>
            <a:ext cx="0" cy="57676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H="1">
            <a:off x="2627784" y="2056678"/>
            <a:ext cx="360040" cy="417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 rot="16200000">
            <a:off x="2242235" y="2457498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 rot="16200000">
            <a:off x="2200482" y="3558975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PFN202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2200481" y="4616509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PFN203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>
            <a:off x="5818123" y="1563242"/>
            <a:ext cx="20976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>
          <a:xfrm>
            <a:off x="6026265" y="1572190"/>
            <a:ext cx="0" cy="97856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 flipH="1">
            <a:off x="5494752" y="2552671"/>
            <a:ext cx="531514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>
            <a:off x="3759515" y="2551625"/>
            <a:ext cx="17352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" name="표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403006"/>
              </p:ext>
            </p:extLst>
          </p:nvPr>
        </p:nvGraphicFramePr>
        <p:xfrm>
          <a:off x="4237160" y="2568514"/>
          <a:ext cx="11329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4" name="직선 연결선 123"/>
          <p:cNvCxnSpPr/>
          <p:nvPr/>
        </p:nvCxnSpPr>
        <p:spPr>
          <a:xfrm>
            <a:off x="3759515" y="3678148"/>
            <a:ext cx="17352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3419872" y="3704188"/>
            <a:ext cx="2376264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Page Directory</a:t>
            </a:r>
          </a:p>
        </p:txBody>
      </p:sp>
      <p:cxnSp>
        <p:nvCxnSpPr>
          <p:cNvPr id="128" name="직선 연결선 127"/>
          <p:cNvCxnSpPr/>
          <p:nvPr/>
        </p:nvCxnSpPr>
        <p:spPr>
          <a:xfrm>
            <a:off x="5436096" y="2680690"/>
            <a:ext cx="1037071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 rot="16200000">
            <a:off x="3585935" y="2958447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PFN200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TextBox 138"/>
          <p:cNvSpPr txBox="1"/>
          <p:nvPr/>
        </p:nvSpPr>
        <p:spPr>
          <a:xfrm rot="16200000">
            <a:off x="4051164" y="2156648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651210" y="2257127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/>
        </p:nvGraphicFramePr>
        <p:xfrm>
          <a:off x="6617183" y="2573258"/>
          <a:ext cx="16369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 rot="16200000">
            <a:off x="8009104" y="302385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 rot="16200000">
            <a:off x="6427967" y="2150717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9" name="TextBox 148"/>
          <p:cNvSpPr txBox="1"/>
          <p:nvPr/>
        </p:nvSpPr>
        <p:spPr>
          <a:xfrm rot="16200000">
            <a:off x="6814673" y="2172841"/>
            <a:ext cx="546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552903" y="220953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6300192" y="3815835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[Page 1 of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PT:Not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Allocated]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00192" y="4391899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[Page 2 of PT: Not Allocated]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5486047" y="3518856"/>
            <a:ext cx="984379" cy="1432978"/>
            <a:chOff x="6081232" y="3909161"/>
            <a:chExt cx="984379" cy="1432978"/>
          </a:xfrm>
        </p:grpSpPr>
        <p:cxnSp>
          <p:nvCxnSpPr>
            <p:cNvPr id="136" name="직선 연결선 135"/>
            <p:cNvCxnSpPr/>
            <p:nvPr/>
          </p:nvCxnSpPr>
          <p:spPr>
            <a:xfrm>
              <a:off x="6568243" y="5332614"/>
              <a:ext cx="497368" cy="0"/>
            </a:xfrm>
            <a:prstGeom prst="line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/>
            <p:cNvCxnSpPr/>
            <p:nvPr/>
          </p:nvCxnSpPr>
          <p:spPr>
            <a:xfrm>
              <a:off x="6081232" y="3909161"/>
              <a:ext cx="4820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/>
            <p:cNvCxnSpPr/>
            <p:nvPr/>
          </p:nvCxnSpPr>
          <p:spPr>
            <a:xfrm>
              <a:off x="6563232" y="3909161"/>
              <a:ext cx="0" cy="1432978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9" name="표 158"/>
          <p:cNvGraphicFramePr>
            <a:graphicFrameLocks noGrp="1"/>
          </p:cNvGraphicFramePr>
          <p:nvPr/>
        </p:nvGraphicFramePr>
        <p:xfrm>
          <a:off x="6587257" y="4843616"/>
          <a:ext cx="16369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 rot="16200000">
            <a:off x="8013564" y="5236469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PFN204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6456167" y="3660062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6451650" y="4248491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6455625" y="4830306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559776" y="5348093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6476964" y="2564904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6476376" y="5949280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4035606" y="1419865"/>
            <a:ext cx="1779910" cy="2845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200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421933" y="1369343"/>
            <a:ext cx="6944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PDBR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347408" y="6156012"/>
            <a:ext cx="632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Linear (Left) And Multi-Level (Right) Page Tables</a:t>
            </a:r>
            <a:endParaRPr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7504" y="764704"/>
            <a:ext cx="71542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PTBR=Page Table Base Address     PDBR=Page Directory Base Address</a:t>
            </a:r>
            <a:endParaRPr lang="ko-KR" altLang="en-US" sz="1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7422C-A5E5-50EF-8A9A-A2A053649C8C}"/>
              </a:ext>
            </a:extLst>
          </p:cNvPr>
          <p:cNvSpPr txBox="1"/>
          <p:nvPr/>
        </p:nvSpPr>
        <p:spPr>
          <a:xfrm rot="16200000">
            <a:off x="2211389" y="574891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PFN204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4" name="직선 연결선 52">
            <a:extLst>
              <a:ext uri="{FF2B5EF4-FFF2-40B4-BE49-F238E27FC236}">
                <a16:creationId xmlns:a16="http://schemas.microsoft.com/office/drawing/2014/main" id="{9DF5D3DA-8B4E-419A-B4A5-6870F9FE9535}"/>
              </a:ext>
            </a:extLst>
          </p:cNvPr>
          <p:cNvCxnSpPr/>
          <p:nvPr/>
        </p:nvCxnSpPr>
        <p:spPr>
          <a:xfrm>
            <a:off x="554405" y="6453336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616942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Tables: Page directory entries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page directory contains one entry per page of the page table.</a:t>
            </a:r>
          </a:p>
          <a:p>
            <a:pPr lvl="1"/>
            <a:r>
              <a:rPr lang="en-US" altLang="ko-KR" dirty="0"/>
              <a:t>It consists of a number of</a:t>
            </a:r>
            <a:r>
              <a:rPr lang="en-US" altLang="ko-KR" dirty="0">
                <a:solidFill>
                  <a:schemeClr val="accent6"/>
                </a:solidFill>
              </a:rPr>
              <a:t> page directory entries(</a:t>
            </a:r>
            <a:r>
              <a:rPr lang="en-US" altLang="ko-KR" dirty="0" err="1">
                <a:solidFill>
                  <a:schemeClr val="accent6"/>
                </a:solidFill>
              </a:rPr>
              <a:t>PDE</a:t>
            </a:r>
            <a:r>
              <a:rPr lang="en-US" altLang="ko-KR" dirty="0">
                <a:solidFill>
                  <a:schemeClr val="accent6"/>
                </a:solidFill>
              </a:rPr>
              <a:t>).</a:t>
            </a:r>
          </a:p>
          <a:p>
            <a:r>
              <a:rPr lang="en-US" altLang="ko-KR" dirty="0" err="1"/>
              <a:t>PDE</a:t>
            </a:r>
            <a:r>
              <a:rPr lang="en-US" altLang="ko-KR" dirty="0"/>
              <a:t> has a valid bit and page frame number(</a:t>
            </a:r>
            <a:r>
              <a:rPr lang="en-US" altLang="ko-KR" dirty="0" err="1"/>
              <a:t>PFN</a:t>
            </a:r>
            <a:r>
              <a:rPr lang="en-US" altLang="ko-KR" dirty="0"/>
              <a:t>).</a:t>
            </a:r>
            <a:endParaRPr lang="ko-KR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16E8B16-93D9-F1B0-1378-630CC022A4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002760"/>
              </p:ext>
            </p:extLst>
          </p:nvPr>
        </p:nvGraphicFramePr>
        <p:xfrm>
          <a:off x="2267744" y="2276872"/>
          <a:ext cx="4935438" cy="4189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686480" imgH="3977640" progId="PBrush">
                  <p:embed/>
                </p:oleObj>
              </mc:Choice>
              <mc:Fallback>
                <p:oleObj name="Bitmap Image" r:id="rId2" imgW="4686480" imgH="39776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67744" y="2276872"/>
                        <a:ext cx="4935438" cy="4189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8628458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Tables: Advantage &amp; Disadvantage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Advantage</a:t>
            </a:r>
          </a:p>
          <a:p>
            <a:pPr lvl="1"/>
            <a:r>
              <a:rPr lang="en-US" altLang="ko-KR" dirty="0"/>
              <a:t>Only allocates the page-table space in proportion to the amount of address space you are using.</a:t>
            </a:r>
          </a:p>
          <a:p>
            <a:pPr lvl="1"/>
            <a:r>
              <a:rPr lang="en-US" altLang="ko-KR" dirty="0"/>
              <a:t>The OS can grab the next free page when it needs to allocate or grow a page table.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Disadvantage</a:t>
            </a:r>
          </a:p>
          <a:p>
            <a:pPr lvl="1"/>
            <a:r>
              <a:rPr lang="en-US" altLang="ko-KR" dirty="0"/>
              <a:t>Multi-level table is a small example of a </a:t>
            </a:r>
            <a:r>
              <a:rPr lang="en-US" altLang="ko-KR" dirty="0">
                <a:solidFill>
                  <a:schemeClr val="accent6"/>
                </a:solidFill>
              </a:rPr>
              <a:t>time-space trade-off.</a:t>
            </a:r>
          </a:p>
          <a:p>
            <a:pPr lvl="1"/>
            <a:r>
              <a:rPr lang="en-US" altLang="ko-KR" dirty="0">
                <a:solidFill>
                  <a:schemeClr val="accent6"/>
                </a:solidFill>
              </a:rPr>
              <a:t>Complexity.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0363584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Table: Level of indirection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multi-level structure can adjust </a:t>
            </a:r>
            <a:r>
              <a:rPr lang="en-US" altLang="ko-KR" dirty="0">
                <a:solidFill>
                  <a:schemeClr val="accent6"/>
                </a:solidFill>
              </a:rPr>
              <a:t>level of indirection </a:t>
            </a:r>
            <a:r>
              <a:rPr lang="en-US" altLang="ko-KR" dirty="0"/>
              <a:t>through use of the page directory.</a:t>
            </a:r>
          </a:p>
          <a:p>
            <a:pPr lvl="1"/>
            <a:r>
              <a:rPr lang="en-US" altLang="ko-KR" dirty="0"/>
              <a:t>Indirection can help us place page-table pages wherever we like in physical memory.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BB1F4FCF-51D7-C611-F6EF-3FA1900093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881502"/>
              </p:ext>
            </p:extLst>
          </p:nvPr>
        </p:nvGraphicFramePr>
        <p:xfrm>
          <a:off x="572039" y="2477062"/>
          <a:ext cx="4156350" cy="352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686480" imgH="3977640" progId="PBrush">
                  <p:embed/>
                </p:oleObj>
              </mc:Choice>
              <mc:Fallback>
                <p:oleObj name="Bitmap Image" r:id="rId2" imgW="4686480" imgH="39776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2039" y="2477062"/>
                        <a:ext cx="4156350" cy="3528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35DCC7D7-C546-83E2-DC60-2A34664A92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142597"/>
              </p:ext>
            </p:extLst>
          </p:nvPr>
        </p:nvGraphicFramePr>
        <p:xfrm>
          <a:off x="4943965" y="2660980"/>
          <a:ext cx="3627996" cy="331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4350960" imgH="3977640" progId="PBrush">
                  <p:embed/>
                </p:oleObj>
              </mc:Choice>
              <mc:Fallback>
                <p:oleObj name="Bitmap Image" r:id="rId4" imgW="4350960" imgH="39776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43965" y="2660980"/>
                        <a:ext cx="3627996" cy="331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5959656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Assumptions:</a:t>
            </a:r>
          </a:p>
          <a:p>
            <a:pPr lvl="1"/>
            <a:r>
              <a:rPr lang="en-HK" dirty="0"/>
              <a:t>Each page is 4 KB  (12 bits to represent its offsets from 0x 000  - 0x </a:t>
            </a:r>
            <a:r>
              <a:rPr lang="en-HK" dirty="0" err="1"/>
              <a:t>fff</a:t>
            </a:r>
            <a:r>
              <a:rPr lang="en-HK" dirty="0"/>
              <a:t> )</a:t>
            </a:r>
          </a:p>
          <a:p>
            <a:pPr lvl="1"/>
            <a:r>
              <a:rPr lang="en-HK" dirty="0"/>
              <a:t>The virtual space of a process: 4GB (32-bit to represent from 0x 00000000 – 0x </a:t>
            </a:r>
            <a:r>
              <a:rPr lang="en-HK" dirty="0" err="1"/>
              <a:t>ffffffff</a:t>
            </a:r>
            <a:r>
              <a:rPr lang="en-HK" dirty="0"/>
              <a:t>)</a:t>
            </a:r>
          </a:p>
          <a:p>
            <a:pPr lvl="1"/>
            <a:r>
              <a:rPr lang="en-HK" dirty="0"/>
              <a:t>Each entry in the page table is 4 B</a:t>
            </a:r>
          </a:p>
          <a:p>
            <a:pPr lvl="1"/>
            <a:r>
              <a:rPr lang="en-HK" dirty="0"/>
              <a:t>How big for the page table to one process (map 4GB virtual space to 4GB physical space)</a:t>
            </a:r>
          </a:p>
          <a:p>
            <a:pPr lvl="2"/>
            <a:r>
              <a:rPr lang="en-HK" dirty="0"/>
              <a:t>How many entries in the page table:  4GB/4KB = 1 M</a:t>
            </a:r>
          </a:p>
          <a:p>
            <a:pPr lvl="2"/>
            <a:r>
              <a:rPr lang="en-HK" dirty="0"/>
              <a:t>How big:  1M * 4 B = 4 MB  </a:t>
            </a:r>
          </a:p>
          <a:p>
            <a:pPr lvl="1"/>
            <a:r>
              <a:rPr lang="en-HK" dirty="0"/>
              <a:t>If we have 1024 of processes running</a:t>
            </a:r>
          </a:p>
          <a:p>
            <a:pPr lvl="2"/>
            <a:r>
              <a:rPr lang="en-HK" dirty="0"/>
              <a:t>The page table of each process is 4MB</a:t>
            </a:r>
          </a:p>
          <a:p>
            <a:pPr lvl="2"/>
            <a:r>
              <a:rPr lang="en-HK" dirty="0"/>
              <a:t>The page tables of 1024 of processes is 4GB (ONLY for tables) </a:t>
            </a:r>
          </a:p>
        </p:txBody>
      </p:sp>
    </p:spTree>
    <p:extLst>
      <p:ext uri="{BB962C8B-B14F-4D97-AF65-F5344CB8AC3E}">
        <p14:creationId xmlns:p14="http://schemas.microsoft.com/office/powerpoint/2010/main" val="3404732043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Idea: direct mapping to indirect mapping</a:t>
            </a:r>
          </a:p>
          <a:p>
            <a:pPr marL="0" indent="0">
              <a:buNone/>
            </a:pPr>
            <a:endParaRPr lang="en-HK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9" y="1988840"/>
            <a:ext cx="4175368" cy="41006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108" y="1607175"/>
            <a:ext cx="4751891" cy="448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6978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4205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To understand the idea behind multi-level page tables better, let’s do an example.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Detailed Multi-Level Example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내용 개체 틀 13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415180" y="2456567"/>
              <a:ext cx="4392488" cy="21270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962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962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1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Flag</a:t>
                          </a:r>
                          <a:endParaRPr lang="ko-KR" altLang="en-US" sz="1200" b="1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1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Detail</a:t>
                          </a:r>
                          <a:endParaRPr lang="ko-KR" altLang="en-US" sz="1200" b="1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Address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space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16 KB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Page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size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64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byte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Virtual</a:t>
                          </a:r>
                          <a:r>
                            <a:rPr lang="en-US" altLang="ko-KR" sz="1200" b="0" baseline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address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14 bit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err="1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VPN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8 bit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Offset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6 bit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Page table entry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8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(256)</m:t>
                                </m:r>
                              </m:oMath>
                            </m:oMathPara>
                          </a14:m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내용 개체 틀 1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25643583"/>
                  </p:ext>
                </p:extLst>
              </p:nvPr>
            </p:nvGraphicFramePr>
            <p:xfrm>
              <a:off x="3415180" y="2456567"/>
              <a:ext cx="4392488" cy="21270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96244"/>
                    <a:gridCol w="2196244"/>
                  </a:tblGrid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1" dirty="0" smtClean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Flag</a:t>
                          </a:r>
                          <a:endParaRPr lang="ko-KR" altLang="en-US" sz="1200" b="1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1" dirty="0" smtClean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Detail</a:t>
                          </a:r>
                          <a:endParaRPr lang="ko-KR" altLang="en-US" sz="1200" b="1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Address</a:t>
                          </a:r>
                          <a:r>
                            <a:rPr lang="en-US" altLang="ko-KR" sz="1200" b="0" baseline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space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16 KB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Page</a:t>
                          </a:r>
                          <a:r>
                            <a:rPr lang="en-US" altLang="ko-KR" sz="1200" b="0" baseline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size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64</a:t>
                          </a:r>
                          <a:r>
                            <a:rPr lang="en-US" altLang="ko-KR" sz="1200" b="0" baseline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byte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Virtual</a:t>
                          </a:r>
                          <a:r>
                            <a:rPr lang="en-US" altLang="ko-KR" sz="1200" b="0" baseline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 address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14 bit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err="1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VPN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8 bit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Offset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6 bit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03861"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200" b="0" dirty="0" smtClean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Page table entry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78" t="-600000" b="-6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934694" y="2207330"/>
          <a:ext cx="1152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15180" y="4645963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16-KB Address Space With 64-byte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112" y="2229578"/>
            <a:ext cx="15376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00 0000 0000 0000</a:t>
            </a:r>
          </a:p>
          <a:p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2112" y="2509314"/>
            <a:ext cx="15376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00 0000 0000 0001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  ...</a:t>
            </a:r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2112" y="4661353"/>
            <a:ext cx="1537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11 1111 1111 1111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1123152" y="5446968"/>
          <a:ext cx="64560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698066" y="5951025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12160" y="5912094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H="1">
            <a:off x="1128177" y="5805264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4814792" y="5801704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147226" y="5907924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4830076" y="5912094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7588962" y="5805873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874343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Detailed Multi-Level Example: Page Directory </a:t>
            </a:r>
            <a:r>
              <a:rPr lang="en-US" altLang="ko-KR" dirty="0" err="1"/>
              <a:t>Idx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page directory needs one entry (4 bytes) per page of the page table</a:t>
            </a:r>
          </a:p>
          <a:p>
            <a:pPr lvl="1"/>
            <a:r>
              <a:rPr lang="en-US" altLang="ko-KR" dirty="0"/>
              <a:t>it has 16 entries.</a:t>
            </a:r>
          </a:p>
          <a:p>
            <a:r>
              <a:rPr lang="en-US" altLang="ko-KR" dirty="0"/>
              <a:t>The page-directory entry is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invalid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ko-KR" dirty="0"/>
              <a:t>Raise an exception (The access is invalid)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596482" y="4489198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14-bits Virtual address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1187624" y="3716295"/>
          <a:ext cx="64560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762538" y="4220352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76632" y="4181421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 flipH="1">
            <a:off x="1192649" y="4074591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H="1">
            <a:off x="4879264" y="4071031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211698" y="4177251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4894548" y="4181421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7653434" y="4075200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>
            <a:off x="1191043" y="3527448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3041621" y="3505097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191044" y="3602999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49332" y="3296017"/>
            <a:ext cx="1734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Directory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5217669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Detailed Multi-Level Example: Page Table </a:t>
            </a:r>
            <a:r>
              <a:rPr lang="en-US" altLang="ko-KR" dirty="0" err="1"/>
              <a:t>Idx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</a:t>
            </a:r>
            <a:r>
              <a:rPr lang="en-US" altLang="ko-KR" dirty="0" err="1"/>
              <a:t>PDE</a:t>
            </a:r>
            <a:r>
              <a:rPr lang="en-US" altLang="ko-KR" dirty="0"/>
              <a:t> is valid, we have more work to do.</a:t>
            </a:r>
          </a:p>
          <a:p>
            <a:pPr lvl="1"/>
            <a:r>
              <a:rPr lang="en-US" altLang="ko-KR" dirty="0"/>
              <a:t>To fetch the page table entry(</a:t>
            </a:r>
            <a:r>
              <a:rPr lang="en-US" altLang="ko-KR" dirty="0" err="1"/>
              <a:t>PTE</a:t>
            </a:r>
            <a:r>
              <a:rPr lang="en-US" altLang="ko-KR" dirty="0"/>
              <a:t>) from the page of the page table pointed to by this page-directory entry.</a:t>
            </a:r>
          </a:p>
          <a:p>
            <a:r>
              <a:rPr lang="en-US" altLang="ko-KR" dirty="0"/>
              <a:t>This </a:t>
            </a:r>
            <a:r>
              <a:rPr lang="en-US" altLang="ko-KR" dirty="0">
                <a:solidFill>
                  <a:schemeClr val="accent6"/>
                </a:solidFill>
              </a:rPr>
              <a:t>page-table index</a:t>
            </a:r>
            <a:r>
              <a:rPr lang="en-US" altLang="ko-KR" dirty="0"/>
              <a:t> can then be used to index into the page table itself.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740498" y="4845706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14-bits Virtual address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1331640" y="4072803"/>
          <a:ext cx="64560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906554" y="4576860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20648" y="4537929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H="1">
            <a:off x="1336665" y="4431099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5023280" y="4427539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355714" y="4533759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5038564" y="4537929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7797450" y="4431708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1335059" y="3852696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3185637" y="3853790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1335060" y="3959507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03648" y="3656057"/>
            <a:ext cx="1734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Directory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3181758" y="3961287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5023279" y="3847375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24574" y="3653752"/>
            <a:ext cx="1435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5229813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3" y="736054"/>
            <a:ext cx="8786812" cy="5501258"/>
          </a:xfrm>
        </p:spPr>
        <p:txBody>
          <a:bodyPr/>
          <a:lstStyle/>
          <a:p>
            <a:r>
              <a:rPr lang="en-HK" dirty="0"/>
              <a:t>TLB (Translation Lookaside Buffer)</a:t>
            </a:r>
          </a:p>
          <a:p>
            <a:pPr lvl="1"/>
            <a:r>
              <a:rPr lang="en-US" dirty="0"/>
              <a:t>Part of the chip’s memory-management unit(MMU).</a:t>
            </a:r>
          </a:p>
          <a:p>
            <a:pPr lvl="1"/>
            <a:r>
              <a:rPr lang="en-US" dirty="0"/>
              <a:t>A hardware cache of popular virtual-to-physical address translation.</a:t>
            </a:r>
            <a:endParaRPr lang="en-HK" dirty="0"/>
          </a:p>
          <a:p>
            <a:r>
              <a:rPr lang="en-HK" dirty="0"/>
              <a:t>Advanced Paging</a:t>
            </a:r>
          </a:p>
          <a:p>
            <a:pPr lvl="1"/>
            <a:r>
              <a:rPr lang="en-HK" altLang="ko-KR" dirty="0"/>
              <a:t>Big page size</a:t>
            </a:r>
          </a:p>
          <a:p>
            <a:pPr lvl="1"/>
            <a:r>
              <a:rPr lang="en-HK" altLang="ko-KR" dirty="0"/>
              <a:t>Hybrid approach (paging + segmentation) </a:t>
            </a:r>
            <a:endParaRPr lang="en-US" altLang="ko-KR" dirty="0"/>
          </a:p>
          <a:p>
            <a:pPr lvl="1"/>
            <a:r>
              <a:rPr lang="en-HK" dirty="0"/>
              <a:t>Multi-level page table</a:t>
            </a:r>
            <a:endParaRPr lang="en-US" dirty="0"/>
          </a:p>
          <a:p>
            <a:r>
              <a:rPr lang="en-US" dirty="0"/>
              <a:t>Next: Swapping (</a:t>
            </a:r>
            <a:r>
              <a:rPr lang="en-US" dirty="0">
                <a:hlinkClick r:id="rId2"/>
              </a:rPr>
              <a:t>Chapters </a:t>
            </a:r>
            <a:r>
              <a:rPr lang="en-US" dirty="0">
                <a:hlinkClick r:id="rId3"/>
              </a:rPr>
              <a:t>21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22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5739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106361</TotalTime>
  <Words>2768</Words>
  <Application>Microsoft Office PowerPoint</Application>
  <PresentationFormat>On-screen Show (4:3)</PresentationFormat>
  <Paragraphs>940</Paragraphs>
  <Slides>35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Courier</vt:lpstr>
      <vt:lpstr>HY견고딕</vt:lpstr>
      <vt:lpstr>맑은 고딕</vt:lpstr>
      <vt:lpstr>Cambria Math</vt:lpstr>
      <vt:lpstr>Courier New</vt:lpstr>
      <vt:lpstr>Tahoma</vt:lpstr>
      <vt:lpstr>Times New Roman</vt:lpstr>
      <vt:lpstr>Wingdings</vt:lpstr>
      <vt:lpstr>양식_공청회_발표자료-총괄-양식</vt:lpstr>
      <vt:lpstr>Bitmap Image</vt:lpstr>
      <vt:lpstr>Lecture 11: Virtualizing Memory – TLB and Advanced Paging </vt:lpstr>
      <vt:lpstr>PowerPoint Presentation</vt:lpstr>
      <vt:lpstr>OS – Resource management via virtualization</vt:lpstr>
      <vt:lpstr>PowerPoint Presentation</vt:lpstr>
      <vt:lpstr>TLB</vt:lpstr>
      <vt:lpstr>TLB Basic Algorithm</vt:lpstr>
      <vt:lpstr>TLB Basic Algorithm (Cont.)</vt:lpstr>
      <vt:lpstr>Example: Accessing An Array</vt:lpstr>
      <vt:lpstr>Locality</vt:lpstr>
      <vt:lpstr>Who Handles The TLB Miss?</vt:lpstr>
      <vt:lpstr>TLB entry</vt:lpstr>
      <vt:lpstr>TLB Issue: Context Switching</vt:lpstr>
      <vt:lpstr>TLB Issue: Context Switching</vt:lpstr>
      <vt:lpstr>TLB Issue: Context Switching</vt:lpstr>
      <vt:lpstr>To Solve Problem</vt:lpstr>
      <vt:lpstr>Another Case</vt:lpstr>
      <vt:lpstr>TLB Replacement Policy</vt:lpstr>
      <vt:lpstr>A Real TLB Entry</vt:lpstr>
      <vt:lpstr>PowerPoint Presentation</vt:lpstr>
      <vt:lpstr>Paging: Linear Tables</vt:lpstr>
      <vt:lpstr>Paging: Smaller Tables</vt:lpstr>
      <vt:lpstr>Problem</vt:lpstr>
      <vt:lpstr>Problem</vt:lpstr>
      <vt:lpstr>Hybrid Approach: Paging and Segments </vt:lpstr>
      <vt:lpstr>Multi-level Page Tables</vt:lpstr>
      <vt:lpstr>Multi-level Page Tables: Page directory</vt:lpstr>
      <vt:lpstr>Multi-level Page Tables: Page directory entries</vt:lpstr>
      <vt:lpstr>Multi-level Page Tables: Advantage &amp; Disadvantage</vt:lpstr>
      <vt:lpstr>Multi-level Page Table: Level of indirection</vt:lpstr>
      <vt:lpstr>Example</vt:lpstr>
      <vt:lpstr>Example</vt:lpstr>
      <vt:lpstr>A Detailed Multi-Level Example</vt:lpstr>
      <vt:lpstr>A Detailed Multi-Level Example: Page Directory Idx</vt:lpstr>
      <vt:lpstr>A Detailed Multi-Level Example: Page Table Idx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User-level Programming    via System Calls (File &amp; Directory)</dc:title>
  <dc:creator>Shao Zi Li</dc:creator>
  <cp:lastModifiedBy>Zili Shao (CSD)</cp:lastModifiedBy>
  <cp:revision>116</cp:revision>
  <cp:lastPrinted>2015-03-03T01:48:46Z</cp:lastPrinted>
  <dcterms:created xsi:type="dcterms:W3CDTF">2011-05-01T06:09:10Z</dcterms:created>
  <dcterms:modified xsi:type="dcterms:W3CDTF">2025-10-27T12:01:40Z</dcterms:modified>
</cp:coreProperties>
</file>