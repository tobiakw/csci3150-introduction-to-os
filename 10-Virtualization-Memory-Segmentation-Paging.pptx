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49"/>
  </p:notesMasterIdLst>
  <p:sldIdLst>
    <p:sldId id="284" r:id="rId2"/>
    <p:sldId id="323" r:id="rId3"/>
    <p:sldId id="261" r:id="rId4"/>
    <p:sldId id="306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7" r:id="rId19"/>
    <p:sldId id="308" r:id="rId20"/>
    <p:sldId id="321" r:id="rId21"/>
    <p:sldId id="322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37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292" r:id="rId4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10" name="Picture 9" descr="Overlay-FullBackground.jpg"/>
          <p:cNvPicPr>
            <a:picLocks noChangeAspect="1"/>
          </p:cNvPicPr>
          <p:nvPr/>
        </p:nvPicPr>
        <p:blipFill>
          <a:blip r:embed="rId3"/>
          <a:srcRect t="21046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486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3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6" r:id="rId5"/>
    <p:sldLayoutId id="2147483677" r:id="rId6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://pages.cs.wisc.edu/~remzi/OSTEP/vm-complete.pdf" TargetMode="External"/><Relationship Id="rId3" Type="http://schemas.openxmlformats.org/officeDocument/2006/relationships/hyperlink" Target="http://pages.cs.wisc.edu/~remzi/OSTEP/vm-freespace.pdf" TargetMode="External"/><Relationship Id="rId7" Type="http://schemas.openxmlformats.org/officeDocument/2006/relationships/hyperlink" Target="http://pages.cs.wisc.edu/~remzi/OSTEP/vm-beyondphys-policy.pdf" TargetMode="External"/><Relationship Id="rId2" Type="http://schemas.openxmlformats.org/officeDocument/2006/relationships/hyperlink" Target="http://pages.cs.wisc.edu/~remzi/OSTEP/vm-intro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ges.cs.wisc.edu/~remzi/OSTEP/vm-beyondphys.pdf" TargetMode="External"/><Relationship Id="rId5" Type="http://schemas.openxmlformats.org/officeDocument/2006/relationships/hyperlink" Target="http://pages.cs.wisc.edu/~remzi/OSTEP/vm-smalltables.pdf" TargetMode="External"/><Relationship Id="rId4" Type="http://schemas.openxmlformats.org/officeDocument/2006/relationships/hyperlink" Target="http://pages.cs.wisc.edu/~remzi/OSTEP/vm-tlb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7504" y="2060848"/>
            <a:ext cx="8856984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10</a:t>
            </a:r>
            <a:r>
              <a:rPr lang="en-HK">
                <a:latin typeface="Times New Roman" panose="02020603050405020304" pitchFamily="18" charset="0"/>
                <a:cs typeface="Times New Roman" panose="02020603050405020304" pitchFamily="18" charset="0"/>
              </a:rPr>
              <a:t>: Virtualizing </a:t>
            </a:r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– Segmentation </a:t>
            </a:r>
            <a:r>
              <a:rPr lang="en-HK">
                <a:latin typeface="Times New Roman" panose="02020603050405020304" pitchFamily="18" charset="0"/>
                <a:cs typeface="Times New Roman" panose="02020603050405020304" pitchFamily="18" charset="0"/>
              </a:rPr>
              <a:t>and Paging 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50A1145-9280-49F0-BA7E-BF828E2DFE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52" y="2780928"/>
            <a:ext cx="7920880" cy="532730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" name="Group 33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35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6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7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4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4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4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6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4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4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0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6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54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6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57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4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752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– Resource management via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8329" y="956433"/>
            <a:ext cx="2413471" cy="16804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OS provides services via </a:t>
            </a:r>
            <a:r>
              <a:rPr lang="en-US" altLang="ko-KR" sz="1400" b="1" dirty="0"/>
              <a:t>System Call</a:t>
            </a:r>
            <a:r>
              <a:rPr lang="en-US" altLang="ko-KR" sz="1400" dirty="0"/>
              <a:t> (typically a few hundred) to run </a:t>
            </a:r>
            <a:r>
              <a:rPr lang="en-US" altLang="ko-KR" sz="1400" b="1" dirty="0"/>
              <a:t>process</a:t>
            </a:r>
            <a:r>
              <a:rPr lang="en-US" altLang="ko-KR" sz="1400" dirty="0"/>
              <a:t>, access memory/devices/files, etc. 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ko-KR" altLang="en-US"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251520" y="962639"/>
            <a:ext cx="2341463" cy="174629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3808" y="830462"/>
            <a:ext cx="6120680" cy="5919617"/>
            <a:chOff x="2843808" y="830462"/>
            <a:chExt cx="6120680" cy="591961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830462"/>
              <a:ext cx="6120680" cy="537016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006445" y="6165304"/>
              <a:ext cx="5886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Design Of The Unix Operating System (Maurice Bach, 1986)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107504" y="2934582"/>
            <a:ext cx="2808312" cy="3734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1pPr>
            <a:lvl2pPr marL="742950" indent="-28575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2pPr>
            <a:lvl3pPr marL="11430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3pPr>
            <a:lvl4pPr marL="16002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4pPr>
            <a:lvl5pPr marL="20574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kern="0" dirty="0"/>
              <a:t>The OS </a:t>
            </a:r>
            <a:r>
              <a:rPr lang="en-US" altLang="ko-KR" sz="1400" b="1" kern="0" dirty="0"/>
              <a:t>manages resources </a:t>
            </a:r>
            <a:r>
              <a:rPr lang="en-US" altLang="ko-KR" sz="1400" kern="0" dirty="0"/>
              <a:t>such as </a:t>
            </a:r>
            <a:r>
              <a:rPr lang="en-US" altLang="ko-KR" sz="1400" i="1" kern="0" dirty="0"/>
              <a:t>CPU</a:t>
            </a:r>
            <a:r>
              <a:rPr lang="en-US" altLang="ko-KR" sz="1400" kern="0" dirty="0"/>
              <a:t>, </a:t>
            </a:r>
            <a:r>
              <a:rPr lang="en-US" altLang="ko-KR" sz="1400" i="1" kern="0" dirty="0"/>
              <a:t>memory</a:t>
            </a:r>
            <a:r>
              <a:rPr lang="en-US" altLang="ko-KR" sz="1400" kern="0" dirty="0"/>
              <a:t> and </a:t>
            </a:r>
            <a:r>
              <a:rPr lang="en-US" altLang="ko-KR" sz="1400" i="1" kern="0" dirty="0"/>
              <a:t>disk</a:t>
            </a:r>
            <a:r>
              <a:rPr lang="en-US" altLang="ko-KR" sz="1400" kern="0" dirty="0"/>
              <a:t> via </a:t>
            </a:r>
            <a:r>
              <a:rPr lang="en-US" altLang="ko-KR" sz="1400" b="1" kern="0" dirty="0"/>
              <a:t>virtualization</a:t>
            </a:r>
            <a:r>
              <a:rPr lang="en-US" altLang="ko-KR" sz="1400" kern="0" dirty="0"/>
              <a:t>.</a:t>
            </a:r>
          </a:p>
          <a:p>
            <a:pPr indent="-285750"/>
            <a:r>
              <a:rPr lang="en-US" altLang="ko-KR" sz="1400" kern="0" dirty="0"/>
              <a:t>many programs to run (processes) </a:t>
            </a:r>
            <a:r>
              <a:rPr lang="en-US" altLang="ko-KR" sz="1400" kern="0" dirty="0">
                <a:sym typeface="Wingdings" pitchFamily="2" charset="2"/>
              </a:rPr>
              <a:t> Sharing the CPU</a:t>
            </a:r>
          </a:p>
          <a:p>
            <a:pPr indent="-285750"/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many processes to </a:t>
            </a:r>
            <a:r>
              <a:rPr lang="en-US" altLang="ko-KR" sz="1400" i="1" kern="0" dirty="0">
                <a:solidFill>
                  <a:srgbClr val="C00000"/>
                </a:solidFill>
                <a:sym typeface="Wingdings" pitchFamily="2" charset="2"/>
              </a:rPr>
              <a:t>concurrently</a:t>
            </a:r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 access their own instructions and data  Sharing </a:t>
            </a:r>
            <a:r>
              <a:rPr lang="en-US" altLang="ko-KR" sz="1400" u="sng" kern="0" dirty="0">
                <a:solidFill>
                  <a:srgbClr val="C00000"/>
                </a:solidFill>
                <a:sym typeface="Wingdings" pitchFamily="2" charset="2"/>
              </a:rPr>
              <a:t>memory</a:t>
            </a:r>
          </a:p>
          <a:p>
            <a:pPr indent="-285750"/>
            <a:r>
              <a:rPr lang="en-US" altLang="ko-KR" sz="1400" kern="0" dirty="0">
                <a:sym typeface="Wingdings" pitchFamily="2" charset="2"/>
              </a:rPr>
              <a:t>many processes to access devices  Sharing </a:t>
            </a:r>
            <a:r>
              <a:rPr lang="en-US" altLang="ko-KR" sz="1400" u="sng" kern="0" dirty="0">
                <a:sym typeface="Wingdings" pitchFamily="2" charset="2"/>
              </a:rPr>
              <a:t>disks</a:t>
            </a:r>
          </a:p>
          <a:p>
            <a:pPr marL="457200" lvl="1" indent="0">
              <a:buNone/>
            </a:pPr>
            <a:endParaRPr lang="en-US" altLang="ko-KR" kern="0" dirty="0">
              <a:sym typeface="Wingdings" pitchFamily="2" charset="2"/>
            </a:endParaRPr>
          </a:p>
          <a:p>
            <a:endParaRPr lang="en-US" altLang="ko-KR" u="sng" kern="0" dirty="0"/>
          </a:p>
          <a:p>
            <a:pPr lvl="1"/>
            <a:endParaRPr lang="ko-KR" altLang="en-US" kern="0" dirty="0"/>
          </a:p>
        </p:txBody>
      </p:sp>
      <p:sp>
        <p:nvSpPr>
          <p:cNvPr id="12" name="Rounded Rectangle 11"/>
          <p:cNvSpPr/>
          <p:nvPr/>
        </p:nvSpPr>
        <p:spPr>
          <a:xfrm>
            <a:off x="107504" y="2837478"/>
            <a:ext cx="2828157" cy="354385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230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I: Segmentation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8637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Inefficiency of the Base and Bound Approach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99792" y="910150"/>
            <a:ext cx="6336704" cy="5501258"/>
          </a:xfrm>
        </p:spPr>
        <p:txBody>
          <a:bodyPr/>
          <a:lstStyle/>
          <a:p>
            <a:r>
              <a:rPr lang="en-US" altLang="ko-KR" b="1" dirty="0"/>
              <a:t>Big chunk of “free” </a:t>
            </a:r>
            <a:r>
              <a:rPr lang="en-US" altLang="ko-KR" dirty="0"/>
              <a:t>space</a:t>
            </a:r>
          </a:p>
          <a:p>
            <a:r>
              <a:rPr lang="en-US" altLang="ko-KR" dirty="0"/>
              <a:t>“free” space </a:t>
            </a:r>
            <a:r>
              <a:rPr lang="en-US" altLang="ko-KR" b="1" dirty="0"/>
              <a:t>takes up</a:t>
            </a:r>
            <a:r>
              <a:rPr lang="en-US" altLang="ko-KR" dirty="0"/>
              <a:t> physical memory.</a:t>
            </a:r>
          </a:p>
          <a:p>
            <a:r>
              <a:rPr lang="en-US" altLang="ko-KR" dirty="0"/>
              <a:t>Hard to run when an address space </a:t>
            </a:r>
            <a:r>
              <a:rPr lang="en-US" altLang="ko-KR" b="1" dirty="0"/>
              <a:t>does not fit</a:t>
            </a:r>
            <a:r>
              <a:rPr lang="en-US" altLang="ko-KR" dirty="0"/>
              <a:t> into physical memory</a:t>
            </a:r>
          </a:p>
          <a:p>
            <a:endParaRPr lang="ko-KR" altLang="en-US" dirty="0"/>
          </a:p>
        </p:txBody>
      </p:sp>
      <p:grpSp>
        <p:nvGrpSpPr>
          <p:cNvPr id="40" name="그룹 39"/>
          <p:cNvGrpSpPr/>
          <p:nvPr/>
        </p:nvGrpSpPr>
        <p:grpSpPr>
          <a:xfrm>
            <a:off x="107504" y="908156"/>
            <a:ext cx="2252567" cy="5441514"/>
            <a:chOff x="5436096" y="982383"/>
            <a:chExt cx="2252567" cy="5441514"/>
          </a:xfrm>
        </p:grpSpPr>
        <p:sp>
          <p:nvSpPr>
            <p:cNvPr id="6" name="직사각형 5"/>
            <p:cNvSpPr/>
            <p:nvPr/>
          </p:nvSpPr>
          <p:spPr>
            <a:xfrm>
              <a:off x="6151062" y="2722306"/>
              <a:ext cx="1537306" cy="298658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8" name="직선 화살표 연결선 7"/>
            <p:cNvCxnSpPr>
              <a:stCxn id="27" idx="0"/>
            </p:cNvCxnSpPr>
            <p:nvPr/>
          </p:nvCxnSpPr>
          <p:spPr>
            <a:xfrm flipH="1" flipV="1">
              <a:off x="6919539" y="5149025"/>
              <a:ext cx="162" cy="559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>
              <a:stCxn id="25" idx="2"/>
            </p:cNvCxnSpPr>
            <p:nvPr/>
          </p:nvCxnSpPr>
          <p:spPr>
            <a:xfrm>
              <a:off x="6919863" y="2724836"/>
              <a:ext cx="0" cy="4825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450147" y="556316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151062" y="1075847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50147" y="6116120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28423" y="98238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528423" y="1452229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28423" y="2017995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151062" y="161893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151062" y="2171883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151062" y="5708889"/>
              <a:ext cx="1537277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28423" y="257658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36096" y="5839643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528423" y="2300107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28423" y="1741518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528423" y="119843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293756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Segment is just </a:t>
            </a:r>
            <a:r>
              <a:rPr lang="en-US" altLang="ko-KR" b="1" dirty="0"/>
              <a:t>a contiguous portion</a:t>
            </a:r>
            <a:r>
              <a:rPr lang="en-US" altLang="ko-KR" dirty="0"/>
              <a:t> of the address space of a particular length.</a:t>
            </a:r>
          </a:p>
          <a:p>
            <a:pPr lvl="1"/>
            <a:r>
              <a:rPr lang="en-US" altLang="ko-KR" dirty="0"/>
              <a:t>Logically-different segment: code, stack, heap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Each segment can be </a:t>
            </a:r>
            <a:r>
              <a:rPr lang="en-US" altLang="ko-KR" b="1" dirty="0"/>
              <a:t>placed</a:t>
            </a:r>
            <a:r>
              <a:rPr lang="en-US" altLang="ko-KR" dirty="0"/>
              <a:t> in </a:t>
            </a:r>
            <a:r>
              <a:rPr lang="en-US" altLang="ko-KR" b="1" dirty="0"/>
              <a:t>different part of physical memory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Base</a:t>
            </a:r>
            <a:r>
              <a:rPr lang="en-US" altLang="ko-KR" dirty="0"/>
              <a:t> and </a:t>
            </a:r>
            <a:r>
              <a:rPr lang="en-US" altLang="ko-KR" b="1" dirty="0"/>
              <a:t>bounds</a:t>
            </a:r>
            <a:r>
              <a:rPr lang="en-US" altLang="ko-KR" dirty="0"/>
              <a:t> exist </a:t>
            </a:r>
            <a:r>
              <a:rPr lang="en-US" altLang="ko-KR" b="1" dirty="0"/>
              <a:t>per each segment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154801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Placing Segment In Physical Memory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93516" y="145355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93523" y="23408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1720" y="334738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89836" y="433597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9836" y="52051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36463" y="349003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7784" y="536054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736464" y="2514770"/>
            <a:ext cx="1681939" cy="4904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736458" y="3843430"/>
            <a:ext cx="1681939" cy="151711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736462" y="366423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736463" y="3005225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736465" y="1533859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20" name="직선 화살표 연결선 19"/>
          <p:cNvCxnSpPr>
            <a:stCxn id="18" idx="0"/>
          </p:cNvCxnSpPr>
          <p:nvPr/>
        </p:nvCxnSpPr>
        <p:spPr>
          <a:xfrm flipH="1" flipV="1">
            <a:off x="3577427" y="2801225"/>
            <a:ext cx="6" cy="20400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2736465" y="3175075"/>
            <a:ext cx="1681939" cy="32619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13" name="직선 화살표 연결선 12"/>
          <p:cNvCxnSpPr>
            <a:stCxn id="17" idx="2"/>
          </p:cNvCxnSpPr>
          <p:nvPr/>
        </p:nvCxnSpPr>
        <p:spPr>
          <a:xfrm flipH="1">
            <a:off x="3577427" y="3843430"/>
            <a:ext cx="5" cy="25393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5076056" y="2564904"/>
            <a:ext cx="3096344" cy="1448496"/>
            <a:chOff x="1119210" y="1898889"/>
            <a:chExt cx="3096344" cy="1448496"/>
          </a:xfrm>
        </p:grpSpPr>
        <p:sp>
          <p:nvSpPr>
            <p:cNvPr id="44" name="직사각형 43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 Size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28K	 2K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1331640" y="2340865"/>
              <a:ext cx="2664296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0257169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 on Segmentation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altLang="ko-KR" dirty="0"/>
              <a:t> of virtual address </a:t>
            </a:r>
            <a:r>
              <a:rPr lang="en-US" altLang="ko-KR" dirty="0">
                <a:cs typeface="Courier New" panose="02070309020205020404" pitchFamily="49" charset="0"/>
              </a:rPr>
              <a:t>100</a:t>
            </a:r>
            <a:r>
              <a:rPr lang="en-US" altLang="ko-KR" dirty="0"/>
              <a:t> is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code segment </a:t>
            </a:r>
            <a:r>
              <a:rPr lang="en-US" altLang="ko-KR" b="1" dirty="0"/>
              <a:t>starts at virtual address 0 </a:t>
            </a:r>
            <a:r>
              <a:rPr lang="en-US" altLang="ko-KR" dirty="0"/>
              <a:t>in address space.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879858" y="2924944"/>
            <a:ext cx="2377582" cy="570600"/>
            <a:chOff x="1117493" y="1898889"/>
            <a:chExt cx="3098061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/>
          <p:cNvGrpSpPr/>
          <p:nvPr/>
        </p:nvGrpSpPr>
        <p:grpSpPr>
          <a:xfrm>
            <a:off x="597525" y="3888282"/>
            <a:ext cx="2102267" cy="1801771"/>
            <a:chOff x="323528" y="1915261"/>
            <a:chExt cx="2102267" cy="1801771"/>
          </a:xfrm>
        </p:grpSpPr>
        <p:sp>
          <p:nvSpPr>
            <p:cNvPr id="27" name="TextBox 26"/>
            <p:cNvSpPr txBox="1"/>
            <p:nvPr/>
          </p:nvSpPr>
          <p:spPr>
            <a:xfrm>
              <a:off x="323528" y="191526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3528" y="24389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888194" y="2057488"/>
              <a:ext cx="1537601" cy="1659544"/>
              <a:chOff x="1187624" y="2057488"/>
              <a:chExt cx="1537601" cy="1659544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1187624" y="2057488"/>
                <a:ext cx="1537601" cy="55295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algn="ctr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 anchorCtr="0"/>
              <a:lstStyle/>
              <a:p>
                <a:pPr algn="ctr"/>
                <a:endPara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Program Code</a:t>
                </a: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1187624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>
                <a:off x="2725225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직사각형 33"/>
            <p:cNvSpPr/>
            <p:nvPr/>
          </p:nvSpPr>
          <p:spPr>
            <a:xfrm>
              <a:off x="888194" y="2601977"/>
              <a:ext cx="1537601" cy="528587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8" y="30010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52120" y="290246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52120" y="388828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699792" y="4029132"/>
            <a:ext cx="1270389" cy="720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69611" y="4100306"/>
            <a:ext cx="410215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4218" y="411781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모서리가 둥근 직사각형 92"/>
              <p:cNvSpPr/>
              <p:nvPr/>
            </p:nvSpPr>
            <p:spPr>
              <a:xfrm>
                <a:off x="2267744" y="941512"/>
                <a:ext cx="4535092" cy="64807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𝑝h𝑦𝑠𝑖𝑐𝑎𝑙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𝑜𝑓𝑓𝑠𝑒𝑡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</m:oMath>
                  </m:oMathPara>
                </a14:m>
                <a:endParaRPr lang="en-US" altLang="ko-KR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93" name="모서리가 둥근 직사각형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941512"/>
                <a:ext cx="4535092" cy="648072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직사각형 96"/>
          <p:cNvSpPr/>
          <p:nvPr/>
        </p:nvSpPr>
        <p:spPr>
          <a:xfrm>
            <a:off x="3969427" y="4564708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969427" y="4021924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969427" y="3042518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3969427" y="5103585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9" name="직선 화살표 연결선 48"/>
          <p:cNvCxnSpPr>
            <a:stCxn id="101" idx="0"/>
          </p:cNvCxnSpPr>
          <p:nvPr/>
        </p:nvCxnSpPr>
        <p:spPr>
          <a:xfrm>
            <a:off x="4810397" y="5103585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>
            <a:off x="3969427" y="2780928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5652120" y="2780928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969427" y="6088083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651365" y="6088083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>
            <a:off x="2699792" y="4570156"/>
            <a:ext cx="1269635" cy="4843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52120" y="441626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2" name="직선 화살표 연결선 121"/>
          <p:cNvCxnSpPr/>
          <p:nvPr/>
        </p:nvCxnSpPr>
        <p:spPr>
          <a:xfrm flipH="1">
            <a:off x="5652120" y="4218220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모서리가 둥근 직사각형 133"/>
              <p:cNvSpPr/>
              <p:nvPr/>
            </p:nvSpPr>
            <p:spPr>
              <a:xfrm>
                <a:off x="6372200" y="3758357"/>
                <a:ext cx="2304256" cy="919725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𝟏𝟎𝟎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𝟑𝟐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𝑲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𝒐𝒓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𝟑𝟐𝟖𝟔𝟖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desired physical address</a:t>
                </a:r>
              </a:p>
            </p:txBody>
          </p:sp>
        </mc:Choice>
        <mc:Fallback xmlns="">
          <p:sp>
            <p:nvSpPr>
              <p:cNvPr id="134" name="모서리가 둥근 직사각형 1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758357"/>
                <a:ext cx="2304256" cy="919725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3"/>
                <a:stretch>
                  <a:fillRect b="-2632"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717829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Address Translation on Segmentation(Cont.)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altLang="ko-KR" dirty="0"/>
              <a:t> of virtual address </a:t>
            </a:r>
            <a:r>
              <a:rPr lang="en-US" altLang="ko-KR" dirty="0">
                <a:cs typeface="Courier New" panose="02070309020205020404" pitchFamily="49" charset="0"/>
              </a:rPr>
              <a:t>4200</a:t>
            </a:r>
            <a:r>
              <a:rPr lang="en-US" altLang="ko-KR" dirty="0"/>
              <a:t> is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104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heap segment </a:t>
            </a:r>
            <a:r>
              <a:rPr lang="en-US" altLang="ko-KR" b="1" dirty="0"/>
              <a:t>starts at virtual address 4096</a:t>
            </a:r>
            <a:r>
              <a:rPr lang="en-US" altLang="ko-KR" dirty="0"/>
              <a:t> in address space.</a:t>
            </a:r>
          </a:p>
          <a:p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879858" y="2852936"/>
            <a:ext cx="2377582" cy="570600"/>
            <a:chOff x="1117493" y="1898889"/>
            <a:chExt cx="3098061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5652120" y="379274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699792" y="4510485"/>
            <a:ext cx="127038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3969427" y="4492700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969427" y="3949916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969427" y="2970510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3969427" y="5031577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9" name="직선 화살표 연결선 48"/>
          <p:cNvCxnSpPr>
            <a:stCxn id="101" idx="0"/>
          </p:cNvCxnSpPr>
          <p:nvPr/>
        </p:nvCxnSpPr>
        <p:spPr>
          <a:xfrm>
            <a:off x="4810397" y="5031577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>
            <a:off x="3969427" y="2708920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5652120" y="2708920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969427" y="601607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651365" y="601607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V="1">
            <a:off x="2699792" y="5031577"/>
            <a:ext cx="1270389" cy="1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52120" y="434426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2" name="직선 화살표 연결선 121"/>
          <p:cNvCxnSpPr/>
          <p:nvPr/>
        </p:nvCxnSpPr>
        <p:spPr>
          <a:xfrm flipH="1">
            <a:off x="5652120" y="4686255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모서리가 둥근 직사각형 125"/>
              <p:cNvSpPr/>
              <p:nvPr/>
            </p:nvSpPr>
            <p:spPr>
              <a:xfrm>
                <a:off x="6372200" y="4226392"/>
                <a:ext cx="2304256" cy="919725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𝟏𝟎𝟒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𝟑𝟒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𝑲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𝒐𝒓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𝟑𝟒𝟗𝟐𝟎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desired physical address</a:t>
                </a:r>
              </a:p>
            </p:txBody>
          </p:sp>
        </mc:Choice>
        <mc:Fallback xmlns="">
          <p:sp>
            <p:nvSpPr>
              <p:cNvPr id="126" name="모서리가 둥근 직사각형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4226392"/>
                <a:ext cx="2304256" cy="919725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2"/>
                <a:stretch>
                  <a:fillRect b="-2614"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/>
          <p:cNvGrpSpPr/>
          <p:nvPr/>
        </p:nvGrpSpPr>
        <p:grpSpPr>
          <a:xfrm>
            <a:off x="588619" y="3792742"/>
            <a:ext cx="2111173" cy="1718590"/>
            <a:chOff x="307604" y="3935826"/>
            <a:chExt cx="2111173" cy="1718590"/>
          </a:xfrm>
        </p:grpSpPr>
        <p:sp>
          <p:nvSpPr>
            <p:cNvPr id="28" name="TextBox 27"/>
            <p:cNvSpPr txBox="1"/>
            <p:nvPr/>
          </p:nvSpPr>
          <p:spPr>
            <a:xfrm>
              <a:off x="307604" y="503742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81177" y="4645852"/>
              <a:ext cx="1537600" cy="5288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/>
            <p:cNvSpPr/>
            <p:nvPr/>
          </p:nvSpPr>
          <p:spPr>
            <a:xfrm>
              <a:off x="881176" y="409335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17828" y="447392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4" name="직선 연결선 43"/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/>
            <p:cNvSpPr/>
            <p:nvPr/>
          </p:nvSpPr>
          <p:spPr>
            <a:xfrm>
              <a:off x="881175" y="5174661"/>
              <a:ext cx="1537601" cy="3357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6" name="직선 화살표 연결선 45"/>
            <p:cNvCxnSpPr>
              <a:stCxn id="45" idx="0"/>
            </p:cNvCxnSpPr>
            <p:nvPr/>
          </p:nvCxnSpPr>
          <p:spPr>
            <a:xfrm>
              <a:off x="1649976" y="5174661"/>
              <a:ext cx="1" cy="229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1034945" y="5553343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40753" y="610208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86816" y="4550931"/>
            <a:ext cx="496258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7229" y="455093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2120" y="48776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모서리가 둥근 직사각형 68"/>
              <p:cNvSpPr/>
              <p:nvPr/>
            </p:nvSpPr>
            <p:spPr>
              <a:xfrm>
                <a:off x="1004757" y="980728"/>
                <a:ext cx="7357533" cy="561482"/>
              </a:xfrm>
              <a:prstGeom prst="roundRect">
                <a:avLst>
                  <a:gd name="adj" fmla="val 14582"/>
                </a:avLst>
              </a:prstGeom>
              <a:solidFill>
                <a:srgbClr val="FFC000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𝑽𝒊𝒓𝒕𝒖𝒂𝒍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𝒃𝒂𝒔𝒆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not the correct physical address.</a:t>
                </a:r>
              </a:p>
            </p:txBody>
          </p:sp>
        </mc:Choice>
        <mc:Fallback xmlns="">
          <p:sp>
            <p:nvSpPr>
              <p:cNvPr id="69" name="모서리가 둥근 직사각형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57" y="980728"/>
                <a:ext cx="7357533" cy="561482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3"/>
                <a:stretch>
                  <a:fillRect/>
                </a:stretch>
              </a:blip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09910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Segmentation Fault or Violation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an </a:t>
            </a:r>
            <a:r>
              <a:rPr lang="en-US" altLang="ko-KR" b="1" dirty="0"/>
              <a:t>illegal address</a:t>
            </a:r>
            <a:r>
              <a:rPr lang="en-US" altLang="ko-KR" dirty="0"/>
              <a:t> such as 7KB which is beyond the end of heap is referenced, the OS occurs </a:t>
            </a:r>
            <a:r>
              <a:rPr lang="en-US" altLang="ko-KR" b="1" dirty="0"/>
              <a:t>segmentation fault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hardware detects that the address is </a:t>
            </a:r>
            <a:r>
              <a:rPr lang="en-US" altLang="ko-KR" b="1" dirty="0"/>
              <a:t>out of bounds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3062" y="4224185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616635" y="3832614"/>
            <a:ext cx="1537600" cy="5288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3616634" y="3122588"/>
            <a:ext cx="1318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3616634" y="3280113"/>
            <a:ext cx="1537601" cy="55295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53286" y="3660683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H="1">
            <a:off x="5154234" y="3122588"/>
            <a:ext cx="1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3616633" y="4361423"/>
            <a:ext cx="1537601" cy="57974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14" name="직선 화살표 연결선 13"/>
          <p:cNvCxnSpPr>
            <a:stCxn id="13" idx="0"/>
          </p:cNvCxnSpPr>
          <p:nvPr/>
        </p:nvCxnSpPr>
        <p:spPr>
          <a:xfrm>
            <a:off x="4385434" y="4361423"/>
            <a:ext cx="1" cy="22949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89388" y="5499326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3062" y="4497406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7KB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43062" y="4787279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8991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Referring to Segment</a:t>
            </a:r>
            <a:endParaRPr lang="ko-KR" altLang="en-US" dirty="0"/>
          </a:p>
        </p:txBody>
      </p:sp>
      <p:sp>
        <p:nvSpPr>
          <p:cNvPr id="128" name="내용 개체 틀 1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Explicit approach</a:t>
            </a:r>
          </a:p>
          <a:p>
            <a:pPr lvl="1"/>
            <a:r>
              <a:rPr lang="en-US" altLang="ko-KR" dirty="0"/>
              <a:t>Chop up the address space into segments based on the </a:t>
            </a:r>
            <a:r>
              <a:rPr lang="en-US" altLang="ko-KR" b="1" dirty="0"/>
              <a:t>top few bits </a:t>
            </a:r>
            <a:r>
              <a:rPr lang="en-US" altLang="ko-KR" dirty="0"/>
              <a:t>of virtual address.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Example: virtual address 4200 (01000001101000)</a:t>
            </a:r>
          </a:p>
        </p:txBody>
      </p:sp>
      <p:grpSp>
        <p:nvGrpSpPr>
          <p:cNvPr id="140" name="그룹 139"/>
          <p:cNvGrpSpPr/>
          <p:nvPr/>
        </p:nvGrpSpPr>
        <p:grpSpPr>
          <a:xfrm>
            <a:off x="1609697" y="2348880"/>
            <a:ext cx="5401114" cy="1353118"/>
            <a:chOff x="1485064" y="1787850"/>
            <a:chExt cx="5401114" cy="1353118"/>
          </a:xfrm>
        </p:grpSpPr>
        <p:grpSp>
          <p:nvGrpSpPr>
            <p:cNvPr id="127" name="그룹 126"/>
            <p:cNvGrpSpPr/>
            <p:nvPr/>
          </p:nvGrpSpPr>
          <p:grpSpPr>
            <a:xfrm>
              <a:off x="1831554" y="1787850"/>
              <a:ext cx="5054624" cy="648071"/>
              <a:chOff x="1831554" y="3501008"/>
              <a:chExt cx="5054624" cy="648071"/>
            </a:xfrm>
          </p:grpSpPr>
          <p:grpSp>
            <p:nvGrpSpPr>
              <p:cNvPr id="126" name="그룹 125"/>
              <p:cNvGrpSpPr/>
              <p:nvPr/>
            </p:nvGrpSpPr>
            <p:grpSpPr>
              <a:xfrm>
                <a:off x="1831554" y="3501008"/>
                <a:ext cx="5044702" cy="360040"/>
                <a:chOff x="1831554" y="3501008"/>
                <a:chExt cx="5044702" cy="36004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651621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183155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615697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2" name="직사각형 51"/>
                <p:cNvSpPr/>
                <p:nvPr/>
              </p:nvSpPr>
              <p:spPr>
                <a:xfrm>
                  <a:off x="219159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3" name="직사각형 52"/>
                <p:cNvSpPr/>
                <p:nvPr/>
              </p:nvSpPr>
              <p:spPr>
                <a:xfrm>
                  <a:off x="579693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4" name="직사각형 53"/>
                <p:cNvSpPr/>
                <p:nvPr/>
              </p:nvSpPr>
              <p:spPr>
                <a:xfrm>
                  <a:off x="25554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5" name="직사각형 54"/>
                <p:cNvSpPr/>
                <p:nvPr/>
              </p:nvSpPr>
              <p:spPr>
                <a:xfrm>
                  <a:off x="543689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6" name="직사각형 55"/>
                <p:cNvSpPr/>
                <p:nvPr/>
              </p:nvSpPr>
              <p:spPr>
                <a:xfrm>
                  <a:off x="29155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7" name="직사각형 56"/>
                <p:cNvSpPr/>
                <p:nvPr/>
              </p:nvSpPr>
              <p:spPr>
                <a:xfrm>
                  <a:off x="507574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4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8" name="직사각형 57"/>
                <p:cNvSpPr/>
                <p:nvPr/>
              </p:nvSpPr>
              <p:spPr>
                <a:xfrm>
                  <a:off x="327720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9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9" name="직사각형 58"/>
                <p:cNvSpPr/>
                <p:nvPr/>
              </p:nvSpPr>
              <p:spPr>
                <a:xfrm>
                  <a:off x="363724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8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0" name="직사각형 59"/>
                <p:cNvSpPr/>
                <p:nvPr/>
              </p:nvSpPr>
              <p:spPr>
                <a:xfrm>
                  <a:off x="399562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7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1" name="직사각형 60"/>
                <p:cNvSpPr/>
                <p:nvPr/>
              </p:nvSpPr>
              <p:spPr>
                <a:xfrm>
                  <a:off x="43556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6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2" name="직사각형 61"/>
                <p:cNvSpPr/>
                <p:nvPr/>
              </p:nvSpPr>
              <p:spPr>
                <a:xfrm>
                  <a:off x="47157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5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  <p:grpSp>
            <p:nvGrpSpPr>
              <p:cNvPr id="125" name="그룹 124"/>
              <p:cNvGrpSpPr/>
              <p:nvPr/>
            </p:nvGrpSpPr>
            <p:grpSpPr>
              <a:xfrm>
                <a:off x="1845308" y="3789038"/>
                <a:ext cx="5040870" cy="360041"/>
                <a:chOff x="1845308" y="3789038"/>
                <a:chExt cx="5040870" cy="360041"/>
              </a:xfrm>
            </p:grpSpPr>
            <p:cxnSp>
              <p:nvCxnSpPr>
                <p:cNvPr id="96" name="직선 연결선 95"/>
                <p:cNvCxnSpPr/>
                <p:nvPr/>
              </p:nvCxnSpPr>
              <p:spPr>
                <a:xfrm>
                  <a:off x="2200635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/>
                <p:cNvCxnSpPr/>
                <p:nvPr/>
              </p:nvCxnSpPr>
              <p:spPr>
                <a:xfrm>
                  <a:off x="255467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직선 연결선 100"/>
                <p:cNvCxnSpPr/>
                <p:nvPr/>
              </p:nvCxnSpPr>
              <p:spPr>
                <a:xfrm>
                  <a:off x="2914712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/>
                <p:cNvCxnSpPr/>
                <p:nvPr/>
              </p:nvCxnSpPr>
              <p:spPr>
                <a:xfrm>
                  <a:off x="327641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직선 연결선 102"/>
                <p:cNvCxnSpPr/>
                <p:nvPr/>
              </p:nvCxnSpPr>
              <p:spPr>
                <a:xfrm>
                  <a:off x="363645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/>
                <p:cNvCxnSpPr/>
                <p:nvPr/>
              </p:nvCxnSpPr>
              <p:spPr>
                <a:xfrm flipH="1">
                  <a:off x="3994832" y="3789040"/>
                  <a:ext cx="2022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연결선 104"/>
                <p:cNvCxnSpPr>
                  <a:endCxn id="94" idx="2"/>
                </p:cNvCxnSpPr>
                <p:nvPr/>
              </p:nvCxnSpPr>
              <p:spPr>
                <a:xfrm>
                  <a:off x="4365743" y="3789038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연결선 105"/>
                <p:cNvCxnSpPr/>
                <p:nvPr/>
              </p:nvCxnSpPr>
              <p:spPr>
                <a:xfrm>
                  <a:off x="472162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직선 연결선 106"/>
                <p:cNvCxnSpPr/>
                <p:nvPr/>
              </p:nvCxnSpPr>
              <p:spPr>
                <a:xfrm>
                  <a:off x="5076056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직선 연결선 107"/>
                <p:cNvCxnSpPr/>
                <p:nvPr/>
              </p:nvCxnSpPr>
              <p:spPr>
                <a:xfrm flipH="1">
                  <a:off x="5434992" y="3789040"/>
                  <a:ext cx="1464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연결선 108"/>
                <p:cNvCxnSpPr/>
                <p:nvPr/>
              </p:nvCxnSpPr>
              <p:spPr>
                <a:xfrm>
                  <a:off x="579613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/>
                <p:cNvCxnSpPr/>
                <p:nvPr/>
              </p:nvCxnSpPr>
              <p:spPr>
                <a:xfrm>
                  <a:off x="615617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/>
                <p:cNvCxnSpPr/>
                <p:nvPr/>
              </p:nvCxnSpPr>
              <p:spPr>
                <a:xfrm>
                  <a:off x="6516216" y="3798566"/>
                  <a:ext cx="0" cy="350513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직사각형 93"/>
                <p:cNvSpPr/>
                <p:nvPr/>
              </p:nvSpPr>
              <p:spPr>
                <a:xfrm>
                  <a:off x="1845308" y="3789039"/>
                  <a:ext cx="5040870" cy="36003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2000" rtlCol="0" anchor="ctr">
                  <a:noAutofit/>
                </a:bodyPr>
                <a:lstStyle/>
                <a:p>
                  <a:pPr algn="ctr"/>
                  <a:endParaRPr lang="ko-KR" altLang="en-US" sz="1600" dirty="0">
                    <a:solidFill>
                      <a:prstClr val="black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</p:grpSp>
        <p:sp>
          <p:nvSpPr>
            <p:cNvPr id="131" name="TextBox 130"/>
            <p:cNvSpPr txBox="1"/>
            <p:nvPr/>
          </p:nvSpPr>
          <p:spPr>
            <a:xfrm>
              <a:off x="1485064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Segment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36" name="그룹 135"/>
            <p:cNvGrpSpPr/>
            <p:nvPr/>
          </p:nvGrpSpPr>
          <p:grpSpPr>
            <a:xfrm>
              <a:off x="2575309" y="2520004"/>
              <a:ext cx="4310869" cy="304518"/>
              <a:chOff x="2575309" y="2576978"/>
              <a:chExt cx="4310869" cy="304518"/>
            </a:xfrm>
          </p:grpSpPr>
          <p:sp>
            <p:nvSpPr>
              <p:cNvPr id="130" name="왼쪽 대괄호 129"/>
              <p:cNvSpPr/>
              <p:nvPr/>
            </p:nvSpPr>
            <p:spPr>
              <a:xfrm rot="16200000">
                <a:off x="4636213" y="516074"/>
                <a:ext cx="189061" cy="4310869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3" name="직선 연결선 132"/>
              <p:cNvCxnSpPr/>
              <p:nvPr/>
            </p:nvCxnSpPr>
            <p:spPr>
              <a:xfrm>
                <a:off x="4559784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" name="그룹 137"/>
            <p:cNvGrpSpPr/>
            <p:nvPr/>
          </p:nvGrpSpPr>
          <p:grpSpPr>
            <a:xfrm>
              <a:off x="1851398" y="2520005"/>
              <a:ext cx="700237" cy="304517"/>
              <a:chOff x="1851398" y="2576979"/>
              <a:chExt cx="700237" cy="304517"/>
            </a:xfrm>
          </p:grpSpPr>
          <p:sp>
            <p:nvSpPr>
              <p:cNvPr id="129" name="왼쪽 대괄호 128"/>
              <p:cNvSpPr/>
              <p:nvPr/>
            </p:nvSpPr>
            <p:spPr>
              <a:xfrm rot="16200000">
                <a:off x="2106986" y="2321391"/>
                <a:ext cx="189061" cy="700237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7" name="직선 연결선 136"/>
              <p:cNvCxnSpPr/>
              <p:nvPr/>
            </p:nvCxnSpPr>
            <p:spPr>
              <a:xfrm>
                <a:off x="2201516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TextBox 138"/>
            <p:cNvSpPr txBox="1"/>
            <p:nvPr/>
          </p:nvSpPr>
          <p:spPr>
            <a:xfrm>
              <a:off x="3843332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Offset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95" name="그룹 194"/>
          <p:cNvGrpSpPr/>
          <p:nvPr/>
        </p:nvGrpSpPr>
        <p:grpSpPr>
          <a:xfrm>
            <a:off x="2970279" y="4485722"/>
            <a:ext cx="5418145" cy="1353118"/>
            <a:chOff x="1608808" y="3501008"/>
            <a:chExt cx="5418145" cy="1353118"/>
          </a:xfrm>
        </p:grpSpPr>
        <p:grpSp>
          <p:nvGrpSpPr>
            <p:cNvPr id="141" name="그룹 140"/>
            <p:cNvGrpSpPr/>
            <p:nvPr/>
          </p:nvGrpSpPr>
          <p:grpSpPr>
            <a:xfrm>
              <a:off x="1608808" y="3501008"/>
              <a:ext cx="5401114" cy="1353118"/>
              <a:chOff x="1485064" y="1787850"/>
              <a:chExt cx="5401114" cy="1353118"/>
            </a:xfrm>
          </p:grpSpPr>
          <p:grpSp>
            <p:nvGrpSpPr>
              <p:cNvPr id="142" name="그룹 141"/>
              <p:cNvGrpSpPr/>
              <p:nvPr/>
            </p:nvGrpSpPr>
            <p:grpSpPr>
              <a:xfrm>
                <a:off x="1831554" y="1787850"/>
                <a:ext cx="5054624" cy="648071"/>
                <a:chOff x="1831554" y="3501008"/>
                <a:chExt cx="5054624" cy="648071"/>
              </a:xfrm>
            </p:grpSpPr>
            <p:grpSp>
              <p:nvGrpSpPr>
                <p:cNvPr id="151" name="그룹 150"/>
                <p:cNvGrpSpPr/>
                <p:nvPr/>
              </p:nvGrpSpPr>
              <p:grpSpPr>
                <a:xfrm>
                  <a:off x="1831554" y="3501008"/>
                  <a:ext cx="5044702" cy="360040"/>
                  <a:chOff x="1831554" y="3501008"/>
                  <a:chExt cx="5044702" cy="360040"/>
                </a:xfrm>
              </p:grpSpPr>
              <p:sp>
                <p:nvSpPr>
                  <p:cNvPr id="167" name="직사각형 166"/>
                  <p:cNvSpPr/>
                  <p:nvPr/>
                </p:nvSpPr>
                <p:spPr>
                  <a:xfrm>
                    <a:off x="651621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8" name="직사각형 167"/>
                  <p:cNvSpPr/>
                  <p:nvPr/>
                </p:nvSpPr>
                <p:spPr>
                  <a:xfrm>
                    <a:off x="183155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9" name="직사각형 168"/>
                  <p:cNvSpPr/>
                  <p:nvPr/>
                </p:nvSpPr>
                <p:spPr>
                  <a:xfrm>
                    <a:off x="615697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0" name="직사각형 169"/>
                  <p:cNvSpPr/>
                  <p:nvPr/>
                </p:nvSpPr>
                <p:spPr>
                  <a:xfrm>
                    <a:off x="219159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1" name="직사각형 170"/>
                  <p:cNvSpPr/>
                  <p:nvPr/>
                </p:nvSpPr>
                <p:spPr>
                  <a:xfrm>
                    <a:off x="579693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2" name="직사각형 171"/>
                  <p:cNvSpPr/>
                  <p:nvPr/>
                </p:nvSpPr>
                <p:spPr>
                  <a:xfrm>
                    <a:off x="25554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3" name="직사각형 172"/>
                  <p:cNvSpPr/>
                  <p:nvPr/>
                </p:nvSpPr>
                <p:spPr>
                  <a:xfrm>
                    <a:off x="543689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4" name="직사각형 173"/>
                  <p:cNvSpPr/>
                  <p:nvPr/>
                </p:nvSpPr>
                <p:spPr>
                  <a:xfrm>
                    <a:off x="29155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5" name="직사각형 174"/>
                  <p:cNvSpPr/>
                  <p:nvPr/>
                </p:nvSpPr>
                <p:spPr>
                  <a:xfrm>
                    <a:off x="507574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4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6" name="직사각형 175"/>
                  <p:cNvSpPr/>
                  <p:nvPr/>
                </p:nvSpPr>
                <p:spPr>
                  <a:xfrm>
                    <a:off x="327720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9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7" name="직사각형 176"/>
                  <p:cNvSpPr/>
                  <p:nvPr/>
                </p:nvSpPr>
                <p:spPr>
                  <a:xfrm>
                    <a:off x="363724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8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8" name="직사각형 177"/>
                  <p:cNvSpPr/>
                  <p:nvPr/>
                </p:nvSpPr>
                <p:spPr>
                  <a:xfrm>
                    <a:off x="399562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7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9" name="직사각형 178"/>
                  <p:cNvSpPr/>
                  <p:nvPr/>
                </p:nvSpPr>
                <p:spPr>
                  <a:xfrm>
                    <a:off x="43556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6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80" name="직사각형 179"/>
                  <p:cNvSpPr/>
                  <p:nvPr/>
                </p:nvSpPr>
                <p:spPr>
                  <a:xfrm>
                    <a:off x="47157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5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  <p:grpSp>
              <p:nvGrpSpPr>
                <p:cNvPr id="152" name="그룹 151"/>
                <p:cNvGrpSpPr/>
                <p:nvPr/>
              </p:nvGrpSpPr>
              <p:grpSpPr>
                <a:xfrm>
                  <a:off x="1845308" y="3789038"/>
                  <a:ext cx="5040870" cy="360041"/>
                  <a:chOff x="1845308" y="3789038"/>
                  <a:chExt cx="5040870" cy="360041"/>
                </a:xfrm>
              </p:grpSpPr>
              <p:cxnSp>
                <p:nvCxnSpPr>
                  <p:cNvPr id="153" name="직선 연결선 152"/>
                  <p:cNvCxnSpPr/>
                  <p:nvPr/>
                </p:nvCxnSpPr>
                <p:spPr>
                  <a:xfrm>
                    <a:off x="2200635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직선 연결선 153"/>
                  <p:cNvCxnSpPr/>
                  <p:nvPr/>
                </p:nvCxnSpPr>
                <p:spPr>
                  <a:xfrm>
                    <a:off x="255467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직선 연결선 154"/>
                  <p:cNvCxnSpPr/>
                  <p:nvPr/>
                </p:nvCxnSpPr>
                <p:spPr>
                  <a:xfrm>
                    <a:off x="2914712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직선 연결선 155"/>
                  <p:cNvCxnSpPr/>
                  <p:nvPr/>
                </p:nvCxnSpPr>
                <p:spPr>
                  <a:xfrm>
                    <a:off x="327641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직선 연결선 156"/>
                  <p:cNvCxnSpPr/>
                  <p:nvPr/>
                </p:nvCxnSpPr>
                <p:spPr>
                  <a:xfrm>
                    <a:off x="363645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직선 연결선 157"/>
                  <p:cNvCxnSpPr/>
                  <p:nvPr/>
                </p:nvCxnSpPr>
                <p:spPr>
                  <a:xfrm flipH="1">
                    <a:off x="3994832" y="3789040"/>
                    <a:ext cx="2022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직선 연결선 158"/>
                  <p:cNvCxnSpPr>
                    <a:endCxn id="166" idx="2"/>
                  </p:cNvCxnSpPr>
                  <p:nvPr/>
                </p:nvCxnSpPr>
                <p:spPr>
                  <a:xfrm>
                    <a:off x="4365743" y="3789038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직선 연결선 159"/>
                  <p:cNvCxnSpPr/>
                  <p:nvPr/>
                </p:nvCxnSpPr>
                <p:spPr>
                  <a:xfrm>
                    <a:off x="472162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직선 연결선 160"/>
                  <p:cNvCxnSpPr/>
                  <p:nvPr/>
                </p:nvCxnSpPr>
                <p:spPr>
                  <a:xfrm>
                    <a:off x="5076056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직선 연결선 161"/>
                  <p:cNvCxnSpPr/>
                  <p:nvPr/>
                </p:nvCxnSpPr>
                <p:spPr>
                  <a:xfrm flipH="1">
                    <a:off x="5434992" y="3789040"/>
                    <a:ext cx="1464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직선 연결선 162"/>
                  <p:cNvCxnSpPr/>
                  <p:nvPr/>
                </p:nvCxnSpPr>
                <p:spPr>
                  <a:xfrm>
                    <a:off x="579613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직선 연결선 163"/>
                  <p:cNvCxnSpPr/>
                  <p:nvPr/>
                </p:nvCxnSpPr>
                <p:spPr>
                  <a:xfrm>
                    <a:off x="615617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직선 연결선 164"/>
                  <p:cNvCxnSpPr/>
                  <p:nvPr/>
                </p:nvCxnSpPr>
                <p:spPr>
                  <a:xfrm>
                    <a:off x="6516216" y="3798566"/>
                    <a:ext cx="0" cy="35051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6" name="직사각형 165"/>
                  <p:cNvSpPr/>
                  <p:nvPr/>
                </p:nvSpPr>
                <p:spPr>
                  <a:xfrm>
                    <a:off x="1845308" y="3789039"/>
                    <a:ext cx="5040870" cy="360039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252000" rtlCol="0" anchor="ctr">
                    <a:noAutofit/>
                  </a:bodyPr>
                  <a:lstStyle/>
                  <a:p>
                    <a:pPr algn="ctr"/>
                    <a:endParaRPr lang="ko-KR" altLang="en-US" sz="1600" dirty="0">
                      <a:solidFill>
                        <a:prstClr val="black"/>
                      </a:solidFill>
                      <a:latin typeface="Courier New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</p:grpSp>
          <p:sp>
            <p:nvSpPr>
              <p:cNvPr id="143" name="TextBox 142"/>
              <p:cNvSpPr txBox="1"/>
              <p:nvPr/>
            </p:nvSpPr>
            <p:spPr>
              <a:xfrm>
                <a:off x="1485064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Segment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144" name="그룹 143"/>
              <p:cNvGrpSpPr/>
              <p:nvPr/>
            </p:nvGrpSpPr>
            <p:grpSpPr>
              <a:xfrm>
                <a:off x="2575309" y="2520004"/>
                <a:ext cx="4310869" cy="304518"/>
                <a:chOff x="2575309" y="2576978"/>
                <a:chExt cx="4310869" cy="304518"/>
              </a:xfrm>
            </p:grpSpPr>
            <p:sp>
              <p:nvSpPr>
                <p:cNvPr id="149" name="왼쪽 대괄호 148"/>
                <p:cNvSpPr/>
                <p:nvPr/>
              </p:nvSpPr>
              <p:spPr>
                <a:xfrm rot="16200000">
                  <a:off x="4636213" y="516074"/>
                  <a:ext cx="189061" cy="4310869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50" name="직선 연결선 149"/>
                <p:cNvCxnSpPr/>
                <p:nvPr/>
              </p:nvCxnSpPr>
              <p:spPr>
                <a:xfrm>
                  <a:off x="4559784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5" name="그룹 144"/>
              <p:cNvGrpSpPr/>
              <p:nvPr/>
            </p:nvGrpSpPr>
            <p:grpSpPr>
              <a:xfrm>
                <a:off x="1851398" y="2520005"/>
                <a:ext cx="700237" cy="304517"/>
                <a:chOff x="1851398" y="2576979"/>
                <a:chExt cx="700237" cy="304517"/>
              </a:xfrm>
            </p:grpSpPr>
            <p:sp>
              <p:nvSpPr>
                <p:cNvPr id="147" name="왼쪽 대괄호 146"/>
                <p:cNvSpPr/>
                <p:nvPr/>
              </p:nvSpPr>
              <p:spPr>
                <a:xfrm rot="16200000">
                  <a:off x="2106986" y="2321391"/>
                  <a:ext cx="189061" cy="700237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48" name="직선 연결선 147"/>
                <p:cNvCxnSpPr/>
                <p:nvPr/>
              </p:nvCxnSpPr>
              <p:spPr>
                <a:xfrm>
                  <a:off x="2201516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6" name="TextBox 145"/>
              <p:cNvSpPr txBox="1"/>
              <p:nvPr/>
            </p:nvSpPr>
            <p:spPr>
              <a:xfrm>
                <a:off x="3843332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Offset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81" name="직사각형 180"/>
            <p:cNvSpPr/>
            <p:nvPr/>
          </p:nvSpPr>
          <p:spPr>
            <a:xfrm>
              <a:off x="666691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198225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630766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234229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594762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27061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558758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30662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522644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342790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1" name="직사각형 190"/>
            <p:cNvSpPr/>
            <p:nvPr/>
          </p:nvSpPr>
          <p:spPr>
            <a:xfrm>
              <a:off x="378794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414632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45063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48664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204" name="그룹 203"/>
          <p:cNvGrpSpPr/>
          <p:nvPr/>
        </p:nvGrpSpPr>
        <p:grpSpPr>
          <a:xfrm>
            <a:off x="395536" y="4490528"/>
            <a:ext cx="2219995" cy="1386744"/>
            <a:chOff x="395536" y="3698440"/>
            <a:chExt cx="2219995" cy="1386744"/>
          </a:xfrm>
        </p:grpSpPr>
        <p:sp>
          <p:nvSpPr>
            <p:cNvPr id="197" name="직사각형 196"/>
            <p:cNvSpPr/>
            <p:nvPr/>
          </p:nvSpPr>
          <p:spPr>
            <a:xfrm>
              <a:off x="395536" y="3698440"/>
              <a:ext cx="2219995" cy="1386744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bits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00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01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10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-	  11</a:t>
              </a:r>
            </a:p>
          </p:txBody>
        </p:sp>
        <p:cxnSp>
          <p:nvCxnSpPr>
            <p:cNvPr id="198" name="직선 연결선 197"/>
            <p:cNvCxnSpPr/>
            <p:nvPr/>
          </p:nvCxnSpPr>
          <p:spPr>
            <a:xfrm>
              <a:off x="576064" y="4016738"/>
              <a:ext cx="1858937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629152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Referring to Segment(Cont.)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SEG_MASK = 0x3000(11000000000000)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SEG_SHIFT = 12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OFFSET_MASK = 0xFFF (00111111111111)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82067" y="1031830"/>
            <a:ext cx="6552728" cy="232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 top 2 bits of 14-bit VA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Segment =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SEG_MASK) &gt;&gt; SEG_SHIFT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get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Offset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(Offset &gt;= Bounds[Segment])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Base[Segment] +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Register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864289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Referring to Stack Segment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Stack grows </a:t>
            </a:r>
            <a:r>
              <a:rPr lang="en-US" altLang="ko-KR" b="1" dirty="0"/>
              <a:t>backward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Extra hardware support</a:t>
            </a:r>
            <a:r>
              <a:rPr lang="en-US" altLang="ko-KR" dirty="0"/>
              <a:t> is need.</a:t>
            </a:r>
          </a:p>
          <a:p>
            <a:pPr lvl="1"/>
            <a:r>
              <a:rPr lang="en-US" altLang="ko-KR" dirty="0"/>
              <a:t>The hardware checks which way the segment grows.</a:t>
            </a:r>
          </a:p>
          <a:p>
            <a:pPr lvl="1"/>
            <a:r>
              <a:rPr lang="en-US" altLang="ko-KR" dirty="0"/>
              <a:t>1: positive direction, 0: negative direction 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491880" y="3395048"/>
            <a:ext cx="4968552" cy="1448496"/>
            <a:chOff x="1164085" y="1898889"/>
            <a:chExt cx="3096344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64085" y="2374567"/>
              <a:ext cx="2831851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직사각형 17"/>
          <p:cNvSpPr/>
          <p:nvPr/>
        </p:nvSpPr>
        <p:spPr>
          <a:xfrm>
            <a:off x="1326510" y="4374454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326510" y="3395048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326510" y="4926083"/>
            <a:ext cx="1681939" cy="492249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21" name="직선 연결선 20"/>
          <p:cNvCxnSpPr/>
          <p:nvPr/>
        </p:nvCxnSpPr>
        <p:spPr>
          <a:xfrm flipH="1" flipV="1">
            <a:off x="1326508" y="3212976"/>
            <a:ext cx="2" cy="2592288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 flipV="1">
            <a:off x="3008447" y="3212976"/>
            <a:ext cx="2" cy="256081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2"/>
          </p:cNvCxnSpPr>
          <p:nvPr/>
        </p:nvCxnSpPr>
        <p:spPr>
          <a:xfrm flipH="1" flipV="1">
            <a:off x="2167479" y="4077072"/>
            <a:ext cx="1" cy="30247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3568" y="47517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3568" y="42205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6508" y="5773789"/>
            <a:ext cx="1681939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16959" y="3193231"/>
            <a:ext cx="4504430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Register(with Negative-Growth Support)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4635120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Support for Sharing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Segment can be </a:t>
            </a:r>
            <a:r>
              <a:rPr lang="en-US" altLang="ko-KR" b="1" dirty="0"/>
              <a:t>shared between address</a:t>
            </a:r>
            <a:r>
              <a:rPr lang="en-US" altLang="ko-KR" dirty="0"/>
              <a:t> space.</a:t>
            </a:r>
          </a:p>
          <a:p>
            <a:pPr lvl="1"/>
            <a:r>
              <a:rPr lang="en-US" altLang="ko-KR" b="1" dirty="0"/>
              <a:t>Code sharing </a:t>
            </a:r>
            <a:r>
              <a:rPr lang="en-US" altLang="ko-KR" dirty="0"/>
              <a:t>is still in use in systems today.</a:t>
            </a:r>
          </a:p>
          <a:p>
            <a:pPr lvl="1"/>
            <a:r>
              <a:rPr lang="en-US" altLang="ko-KR" dirty="0"/>
              <a:t> by extra hardware support.</a:t>
            </a:r>
          </a:p>
          <a:p>
            <a:r>
              <a:rPr lang="en-US" altLang="ko-KR" dirty="0"/>
              <a:t>Extra hardware support is need for form of </a:t>
            </a:r>
            <a:r>
              <a:rPr lang="en-US" altLang="ko-KR" b="1" dirty="0"/>
              <a:t>Protection bits. </a:t>
            </a:r>
          </a:p>
          <a:p>
            <a:pPr lvl="1"/>
            <a:r>
              <a:rPr lang="en-US" altLang="ko-KR" b="1" dirty="0"/>
              <a:t>A few more bits</a:t>
            </a:r>
            <a:r>
              <a:rPr lang="en-US" altLang="ko-KR" dirty="0"/>
              <a:t> per segment to indicate </a:t>
            </a:r>
            <a:r>
              <a:rPr lang="en-US" altLang="ko-KR" b="1" dirty="0"/>
              <a:t>permissions</a:t>
            </a:r>
            <a:r>
              <a:rPr lang="en-US" altLang="ko-KR" dirty="0"/>
              <a:t> of </a:t>
            </a:r>
            <a:r>
              <a:rPr lang="en-US" altLang="ko-KR" b="1" dirty="0"/>
              <a:t>read,</a:t>
            </a:r>
            <a:r>
              <a:rPr lang="en-US" altLang="ko-KR" dirty="0"/>
              <a:t> write and </a:t>
            </a:r>
            <a:r>
              <a:rPr lang="en-US" altLang="ko-KR" b="1" dirty="0"/>
              <a:t>execute</a:t>
            </a:r>
            <a:r>
              <a:rPr lang="en-US" altLang="ko-KR" dirty="0"/>
              <a:t>. </a:t>
            </a:r>
          </a:p>
          <a:p>
            <a:pPr lvl="1"/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1115617" y="3933056"/>
            <a:ext cx="6252497" cy="1448496"/>
            <a:chOff x="1164085" y="1898889"/>
            <a:chExt cx="3096344" cy="1448496"/>
          </a:xfrm>
        </p:grpSpPr>
        <p:sp>
          <p:nvSpPr>
            <p:cNvPr id="11" name="직사각형 10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  Protection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Read-Execute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          Read-Write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           Read-Write</a:t>
              </a: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164085" y="2374567"/>
              <a:ext cx="3060685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2428632" y="3779167"/>
            <a:ext cx="362646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 Values(with Protection)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7824145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Fine-Grained and Coarse-Grained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Coarse-Grained</a:t>
            </a:r>
            <a:r>
              <a:rPr lang="en-US" altLang="ko-KR" dirty="0"/>
              <a:t> means segmentation in a small number.</a:t>
            </a:r>
          </a:p>
          <a:p>
            <a:pPr lvl="1"/>
            <a:r>
              <a:rPr lang="en-US" altLang="ko-KR" dirty="0"/>
              <a:t> e.g., code, heap, stack.</a:t>
            </a:r>
          </a:p>
          <a:p>
            <a:r>
              <a:rPr lang="en-US" altLang="ko-KR" b="1" dirty="0"/>
              <a:t>Fine-Grained</a:t>
            </a:r>
            <a:r>
              <a:rPr lang="en-US" altLang="ko-KR" dirty="0"/>
              <a:t> segmentation allows </a:t>
            </a:r>
            <a:r>
              <a:rPr lang="en-US" altLang="ko-KR" b="1" dirty="0"/>
              <a:t>more flexibility</a:t>
            </a:r>
            <a:r>
              <a:rPr lang="en-US" altLang="ko-KR" dirty="0"/>
              <a:t> for address space in some early system.</a:t>
            </a:r>
          </a:p>
          <a:p>
            <a:pPr lvl="1"/>
            <a:r>
              <a:rPr lang="en-US" altLang="ko-KR" dirty="0"/>
              <a:t>To support many segments, Hardware support with a </a:t>
            </a:r>
            <a:r>
              <a:rPr lang="en-US" altLang="ko-KR" b="1" dirty="0"/>
              <a:t>segment table</a:t>
            </a:r>
            <a:r>
              <a:rPr lang="en-US" altLang="ko-KR" dirty="0"/>
              <a:t> is required.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2277581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support: Fragmentation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External Fragmentation</a:t>
            </a:r>
            <a:r>
              <a:rPr lang="en-US" altLang="ko-KR" dirty="0"/>
              <a:t>: little holes of </a:t>
            </a:r>
            <a:r>
              <a:rPr lang="en-US" altLang="ko-KR" b="1" dirty="0"/>
              <a:t>free space</a:t>
            </a:r>
            <a:r>
              <a:rPr lang="en-US" altLang="ko-KR" dirty="0"/>
              <a:t> in physical memory that make difficulty to allocate new segments.</a:t>
            </a:r>
          </a:p>
          <a:p>
            <a:pPr lvl="1"/>
            <a:r>
              <a:rPr lang="en-US" altLang="ko-KR" dirty="0"/>
              <a:t>There is </a:t>
            </a:r>
            <a:r>
              <a:rPr lang="en-US" altLang="ko-KR" b="1" i="1" dirty="0">
                <a:latin typeface="Harlow Solid Italic" panose="04030604020F02020D02" pitchFamily="82" charset="0"/>
              </a:rPr>
              <a:t>X </a:t>
            </a:r>
            <a:r>
              <a:rPr lang="en-US" altLang="ko-KR" b="1" dirty="0"/>
              <a:t>KB free</a:t>
            </a:r>
            <a:r>
              <a:rPr lang="en-US" altLang="ko-KR" dirty="0"/>
              <a:t>, but </a:t>
            </a:r>
            <a:r>
              <a:rPr lang="en-US" altLang="ko-KR" b="1" dirty="0"/>
              <a:t>not in one contiguous</a:t>
            </a:r>
            <a:r>
              <a:rPr lang="en-US" altLang="ko-KR" dirty="0"/>
              <a:t> segment.</a:t>
            </a:r>
          </a:p>
          <a:p>
            <a:pPr lvl="1"/>
            <a:r>
              <a:rPr lang="en-US" altLang="ko-KR" dirty="0"/>
              <a:t>The OS </a:t>
            </a:r>
            <a:r>
              <a:rPr lang="en-US" altLang="ko-KR" b="1" dirty="0"/>
              <a:t>cannot</a:t>
            </a:r>
            <a:r>
              <a:rPr lang="en-US" altLang="ko-KR" dirty="0"/>
              <a:t> satisfy the </a:t>
            </a:r>
            <a:r>
              <a:rPr lang="en-US" altLang="ko-KR" b="1" i="1" dirty="0">
                <a:latin typeface="Harlow Solid Italic" panose="04030604020F02020D02" pitchFamily="82" charset="0"/>
              </a:rPr>
              <a:t>X  </a:t>
            </a:r>
            <a:r>
              <a:rPr lang="en-US" altLang="ko-KR" b="1" dirty="0"/>
              <a:t>KB request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Compaction</a:t>
            </a:r>
            <a:r>
              <a:rPr lang="en-US" altLang="ko-KR" dirty="0"/>
              <a:t>: </a:t>
            </a:r>
            <a:r>
              <a:rPr lang="en-US" altLang="ko-KR" b="1" dirty="0"/>
              <a:t>rearranging</a:t>
            </a:r>
            <a:r>
              <a:rPr lang="en-US" altLang="ko-KR" dirty="0"/>
              <a:t> the exiting segments in physical memory.</a:t>
            </a:r>
          </a:p>
          <a:p>
            <a:pPr lvl="1"/>
            <a:r>
              <a:rPr lang="en-US" altLang="ko-KR" dirty="0"/>
              <a:t>Compaction is </a:t>
            </a:r>
            <a:r>
              <a:rPr lang="en-US" altLang="ko-KR" b="1" dirty="0"/>
              <a:t>costly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b="1" dirty="0"/>
              <a:t>Stop</a:t>
            </a:r>
            <a:r>
              <a:rPr lang="en-US" altLang="ko-KR" dirty="0"/>
              <a:t> running process.</a:t>
            </a:r>
          </a:p>
          <a:p>
            <a:pPr lvl="2"/>
            <a:r>
              <a:rPr lang="en-US" altLang="ko-KR" b="1" dirty="0"/>
              <a:t>Copy</a:t>
            </a:r>
            <a:r>
              <a:rPr lang="en-US" altLang="ko-KR" dirty="0"/>
              <a:t> data to somewhere.</a:t>
            </a:r>
          </a:p>
          <a:p>
            <a:pPr lvl="2"/>
            <a:r>
              <a:rPr lang="en-US" altLang="ko-KR" b="1" dirty="0"/>
              <a:t>Change</a:t>
            </a:r>
            <a:r>
              <a:rPr lang="en-US" altLang="ko-KR" dirty="0"/>
              <a:t> segment register value.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9911934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Compaction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10303" y="177383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5180" y="274143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10310" y="37692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6623" y="477740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6623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34246" y="1459380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Not 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948122" y="1854137"/>
            <a:ext cx="1687069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0310" y="22152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6623" y="32454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6623" y="42733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92080" y="528146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949565" y="2884215"/>
            <a:ext cx="1687099" cy="1543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948123" y="4427240"/>
            <a:ext cx="1688542" cy="154425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823" y="177383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84700" y="274143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9830" y="37692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6143" y="477740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6143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632766" y="1854137"/>
            <a:ext cx="1681946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830" y="22152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143" y="32454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6143" y="42733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1600" y="528146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635164" y="2884215"/>
            <a:ext cx="1679548" cy="5151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634245" y="4686060"/>
            <a:ext cx="1681939" cy="7702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635164" y="3398143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35164" y="3913310"/>
            <a:ext cx="1679548" cy="25758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635164" y="4170893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636636" y="5456327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56198" y="1483962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38272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II: Paging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2524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Paging </a:t>
            </a:r>
            <a:r>
              <a:rPr lang="en-US" altLang="ko-KR" b="1" dirty="0"/>
              <a:t>splits up</a:t>
            </a:r>
            <a:r>
              <a:rPr lang="en-US" altLang="ko-KR" dirty="0"/>
              <a:t> address space </a:t>
            </a:r>
            <a:r>
              <a:rPr lang="en-US" altLang="ko-KR"/>
              <a:t>into </a:t>
            </a:r>
            <a:r>
              <a:rPr lang="en-US" altLang="ko-KR" b="1"/>
              <a:t>fixed-sized</a:t>
            </a:r>
            <a:r>
              <a:rPr lang="en-US" altLang="ko-KR"/>
              <a:t> </a:t>
            </a:r>
            <a:r>
              <a:rPr lang="en-US" altLang="ko-KR" dirty="0"/>
              <a:t>unit called a </a:t>
            </a:r>
            <a:r>
              <a:rPr lang="en-US" altLang="ko-KR" b="1" dirty="0"/>
              <a:t>page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Segmentation: variable size of logical segments(code, stack, heap, etc.)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With paging, </a:t>
            </a:r>
            <a:r>
              <a:rPr lang="en-US" altLang="ko-KR" b="1" dirty="0"/>
              <a:t>physical memory</a:t>
            </a:r>
            <a:r>
              <a:rPr lang="en-US" altLang="ko-KR" dirty="0"/>
              <a:t> is also </a:t>
            </a:r>
            <a:r>
              <a:rPr lang="en-US" altLang="ko-KR" b="1" dirty="0"/>
              <a:t>split</a:t>
            </a:r>
            <a:r>
              <a:rPr lang="en-US" altLang="ko-KR" dirty="0"/>
              <a:t> into some number of pages called a </a:t>
            </a:r>
            <a:r>
              <a:rPr lang="en-US" altLang="ko-KR" b="1" dirty="0"/>
              <a:t>page frame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Page table</a:t>
            </a:r>
            <a:r>
              <a:rPr lang="en-US" altLang="ko-KR" dirty="0"/>
              <a:t> per process is needed </a:t>
            </a:r>
            <a:r>
              <a:rPr lang="en-US" altLang="ko-KR" b="1" dirty="0"/>
              <a:t>to translate</a:t>
            </a:r>
            <a:r>
              <a:rPr lang="en-US" altLang="ko-KR" dirty="0"/>
              <a:t> the virtual address to physical address.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04297275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Shape 9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73201">
              <a:defRPr sz="648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Paging </a:t>
            </a:r>
            <a:endParaRPr sz="4600" dirty="0">
              <a:solidFill>
                <a:srgbClr val="FFFFFF"/>
              </a:solidFill>
            </a:endParaRPr>
          </a:p>
        </p:txBody>
      </p:sp>
      <p:sp>
        <p:nvSpPr>
          <p:cNvPr id="904" name="Shape 904"/>
          <p:cNvSpPr/>
          <p:nvPr/>
        </p:nvSpPr>
        <p:spPr>
          <a:xfrm>
            <a:off x="275604" y="2574787"/>
            <a:ext cx="1086018" cy="364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algn="r">
              <a:defRPr sz="2700">
                <a:solidFill>
                  <a:srgbClr val="D4595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 dirty="0"/>
              <a:t>Virt Mem</a:t>
            </a:r>
          </a:p>
        </p:txBody>
      </p:sp>
      <p:sp>
        <p:nvSpPr>
          <p:cNvPr id="905" name="Shape 905"/>
          <p:cNvSpPr/>
          <p:nvPr/>
        </p:nvSpPr>
        <p:spPr>
          <a:xfrm>
            <a:off x="176975" y="3994607"/>
            <a:ext cx="1184647" cy="364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algn="r">
              <a:defRPr sz="2700">
                <a:solidFill>
                  <a:srgbClr val="0065C1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 dirty="0"/>
              <a:t>Phys Mem</a:t>
            </a:r>
          </a:p>
        </p:txBody>
      </p:sp>
      <p:sp>
        <p:nvSpPr>
          <p:cNvPr id="906" name="Shape 906"/>
          <p:cNvSpPr/>
          <p:nvPr/>
        </p:nvSpPr>
        <p:spPr>
          <a:xfrm>
            <a:off x="1860879" y="2531425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07" name="Shape 907"/>
          <p:cNvSpPr/>
          <p:nvPr/>
        </p:nvSpPr>
        <p:spPr>
          <a:xfrm>
            <a:off x="2307363" y="2531425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08" name="Shape 908"/>
          <p:cNvSpPr/>
          <p:nvPr/>
        </p:nvSpPr>
        <p:spPr>
          <a:xfrm>
            <a:off x="2753848" y="2531425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09" name="Shape 909"/>
          <p:cNvSpPr/>
          <p:nvPr/>
        </p:nvSpPr>
        <p:spPr>
          <a:xfrm>
            <a:off x="3200332" y="2531425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0" name="Shape 910"/>
          <p:cNvSpPr/>
          <p:nvPr/>
        </p:nvSpPr>
        <p:spPr>
          <a:xfrm>
            <a:off x="4361191" y="2531425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1" name="Shape 911"/>
          <p:cNvSpPr/>
          <p:nvPr/>
        </p:nvSpPr>
        <p:spPr>
          <a:xfrm>
            <a:off x="4807676" y="2531425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2" name="Shape 912"/>
          <p:cNvSpPr/>
          <p:nvPr/>
        </p:nvSpPr>
        <p:spPr>
          <a:xfrm>
            <a:off x="5254160" y="2531425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3" name="Shape 913"/>
          <p:cNvSpPr/>
          <p:nvPr/>
        </p:nvSpPr>
        <p:spPr>
          <a:xfrm>
            <a:off x="5700645" y="2531425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4" name="Shape 914"/>
          <p:cNvSpPr/>
          <p:nvPr/>
        </p:nvSpPr>
        <p:spPr>
          <a:xfrm>
            <a:off x="6861504" y="2531425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5" name="Shape 915"/>
          <p:cNvSpPr/>
          <p:nvPr/>
        </p:nvSpPr>
        <p:spPr>
          <a:xfrm>
            <a:off x="7307988" y="2531425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6" name="Shape 916"/>
          <p:cNvSpPr/>
          <p:nvPr/>
        </p:nvSpPr>
        <p:spPr>
          <a:xfrm>
            <a:off x="7754473" y="2531425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7" name="Shape 917"/>
          <p:cNvSpPr/>
          <p:nvPr/>
        </p:nvSpPr>
        <p:spPr>
          <a:xfrm>
            <a:off x="8200957" y="2531425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8" name="Shape 918"/>
          <p:cNvSpPr/>
          <p:nvPr/>
        </p:nvSpPr>
        <p:spPr>
          <a:xfrm>
            <a:off x="2713258" y="3955710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19" name="Shape 919"/>
          <p:cNvSpPr/>
          <p:nvPr/>
        </p:nvSpPr>
        <p:spPr>
          <a:xfrm>
            <a:off x="3703642" y="3955710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0" name="Shape 920"/>
          <p:cNvSpPr/>
          <p:nvPr/>
        </p:nvSpPr>
        <p:spPr>
          <a:xfrm>
            <a:off x="7169984" y="3955710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1" name="Shape 921"/>
          <p:cNvSpPr/>
          <p:nvPr/>
        </p:nvSpPr>
        <p:spPr>
          <a:xfrm>
            <a:off x="5684409" y="3955710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2" name="Shape 922"/>
          <p:cNvSpPr/>
          <p:nvPr/>
        </p:nvSpPr>
        <p:spPr>
          <a:xfrm>
            <a:off x="2218066" y="3955710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3" name="Shape 923"/>
          <p:cNvSpPr/>
          <p:nvPr/>
        </p:nvSpPr>
        <p:spPr>
          <a:xfrm>
            <a:off x="3208450" y="3955710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4" name="Shape 924"/>
          <p:cNvSpPr/>
          <p:nvPr/>
        </p:nvSpPr>
        <p:spPr>
          <a:xfrm>
            <a:off x="4198834" y="3955710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5" name="Shape 925"/>
          <p:cNvSpPr/>
          <p:nvPr/>
        </p:nvSpPr>
        <p:spPr>
          <a:xfrm>
            <a:off x="5189217" y="3955710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6" name="Shape 926"/>
          <p:cNvSpPr/>
          <p:nvPr/>
        </p:nvSpPr>
        <p:spPr>
          <a:xfrm>
            <a:off x="4694025" y="3955710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7" name="Shape 927"/>
          <p:cNvSpPr/>
          <p:nvPr/>
        </p:nvSpPr>
        <p:spPr>
          <a:xfrm>
            <a:off x="6179601" y="3955710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8" name="Shape 928"/>
          <p:cNvSpPr/>
          <p:nvPr/>
        </p:nvSpPr>
        <p:spPr>
          <a:xfrm>
            <a:off x="6674792" y="3955710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29" name="Shape 929"/>
          <p:cNvSpPr/>
          <p:nvPr/>
        </p:nvSpPr>
        <p:spPr>
          <a:xfrm>
            <a:off x="7665176" y="3955710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0" name="Shape 930"/>
          <p:cNvSpPr/>
          <p:nvPr/>
        </p:nvSpPr>
        <p:spPr>
          <a:xfrm>
            <a:off x="2083412" y="3001885"/>
            <a:ext cx="1795806" cy="939161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1" name="Shape 931"/>
          <p:cNvSpPr/>
          <p:nvPr/>
        </p:nvSpPr>
        <p:spPr>
          <a:xfrm>
            <a:off x="2529896" y="3001885"/>
            <a:ext cx="449899" cy="936211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2" name="Shape 932"/>
          <p:cNvSpPr/>
          <p:nvPr/>
        </p:nvSpPr>
        <p:spPr>
          <a:xfrm>
            <a:off x="2976381" y="3001885"/>
            <a:ext cx="2901416" cy="919797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3" name="Shape 933"/>
          <p:cNvSpPr/>
          <p:nvPr/>
        </p:nvSpPr>
        <p:spPr>
          <a:xfrm>
            <a:off x="3422865" y="3001885"/>
            <a:ext cx="3987821" cy="906899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4" name="Shape 934"/>
          <p:cNvSpPr/>
          <p:nvPr/>
        </p:nvSpPr>
        <p:spPr>
          <a:xfrm flipH="1">
            <a:off x="2528520" y="3001885"/>
            <a:ext cx="2055205" cy="941780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5" name="Shape 935"/>
          <p:cNvSpPr/>
          <p:nvPr/>
        </p:nvSpPr>
        <p:spPr>
          <a:xfrm flipH="1">
            <a:off x="4516970" y="3001885"/>
            <a:ext cx="513239" cy="940102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6" name="Shape 936"/>
          <p:cNvSpPr/>
          <p:nvPr/>
        </p:nvSpPr>
        <p:spPr>
          <a:xfrm flipH="1">
            <a:off x="3421290" y="3001885"/>
            <a:ext cx="2055404" cy="943753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7" name="Shape 937"/>
          <p:cNvSpPr/>
          <p:nvPr/>
        </p:nvSpPr>
        <p:spPr>
          <a:xfrm flipH="1">
            <a:off x="5467703" y="3001885"/>
            <a:ext cx="455475" cy="939574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8" name="Shape 938"/>
          <p:cNvSpPr/>
          <p:nvPr/>
        </p:nvSpPr>
        <p:spPr>
          <a:xfrm flipH="1">
            <a:off x="6426179" y="3001885"/>
            <a:ext cx="657859" cy="939991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39" name="Shape 939"/>
          <p:cNvSpPr/>
          <p:nvPr/>
        </p:nvSpPr>
        <p:spPr>
          <a:xfrm flipH="1">
            <a:off x="5030522" y="3001885"/>
            <a:ext cx="2500000" cy="925391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40" name="Shape 940"/>
          <p:cNvSpPr/>
          <p:nvPr/>
        </p:nvSpPr>
        <p:spPr>
          <a:xfrm flipH="1">
            <a:off x="7026110" y="3003501"/>
            <a:ext cx="939537" cy="939537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41" name="Shape 941"/>
          <p:cNvSpPr/>
          <p:nvPr/>
        </p:nvSpPr>
        <p:spPr>
          <a:xfrm flipH="1">
            <a:off x="7941002" y="3003501"/>
            <a:ext cx="471129" cy="935175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42" name="Shape 942"/>
          <p:cNvSpPr/>
          <p:nvPr/>
        </p:nvSpPr>
        <p:spPr>
          <a:xfrm>
            <a:off x="5023834" y="2028537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P2</a:t>
            </a:r>
          </a:p>
        </p:txBody>
      </p:sp>
      <p:sp>
        <p:nvSpPr>
          <p:cNvPr id="943" name="Shape 943"/>
          <p:cNvSpPr/>
          <p:nvPr/>
        </p:nvSpPr>
        <p:spPr>
          <a:xfrm>
            <a:off x="7529000" y="2027770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P3</a:t>
            </a:r>
          </a:p>
        </p:txBody>
      </p:sp>
      <p:sp>
        <p:nvSpPr>
          <p:cNvPr id="944" name="Shape 944"/>
          <p:cNvSpPr/>
          <p:nvPr/>
        </p:nvSpPr>
        <p:spPr>
          <a:xfrm>
            <a:off x="1858300" y="2017229"/>
            <a:ext cx="1" cy="455415"/>
          </a:xfrm>
          <a:prstGeom prst="line">
            <a:avLst/>
          </a:prstGeom>
          <a:ln w="76200">
            <a:solidFill>
              <a:schemeClr val="tx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945" name="Shape 945"/>
          <p:cNvSpPr/>
          <p:nvPr/>
        </p:nvSpPr>
        <p:spPr>
          <a:xfrm flipV="1">
            <a:off x="3706745" y="4419315"/>
            <a:ext cx="1" cy="455415"/>
          </a:xfrm>
          <a:prstGeom prst="line">
            <a:avLst/>
          </a:prstGeom>
          <a:ln w="76200">
            <a:solidFill>
              <a:srgbClr val="FFFFFF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45" name="Shape 899"/>
          <p:cNvSpPr/>
          <p:nvPr/>
        </p:nvSpPr>
        <p:spPr>
          <a:xfrm>
            <a:off x="2520351" y="2028537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P1</a:t>
            </a:r>
          </a:p>
        </p:txBody>
      </p:sp>
      <p:sp>
        <p:nvSpPr>
          <p:cNvPr id="46" name="Shape 988"/>
          <p:cNvSpPr/>
          <p:nvPr/>
        </p:nvSpPr>
        <p:spPr>
          <a:xfrm>
            <a:off x="2126190" y="2017229"/>
            <a:ext cx="1" cy="455415"/>
          </a:xfrm>
          <a:prstGeom prst="line">
            <a:avLst/>
          </a:prstGeom>
          <a:ln w="76200">
            <a:solidFill>
              <a:schemeClr val="tx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47" name="Shape 989"/>
          <p:cNvSpPr/>
          <p:nvPr/>
        </p:nvSpPr>
        <p:spPr>
          <a:xfrm flipV="1">
            <a:off x="3974635" y="4419315"/>
            <a:ext cx="1" cy="455415"/>
          </a:xfrm>
          <a:prstGeom prst="line">
            <a:avLst/>
          </a:prstGeom>
          <a:ln w="76200">
            <a:solidFill>
              <a:srgbClr val="FFFFFF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48" name="Shape 1032"/>
          <p:cNvSpPr/>
          <p:nvPr/>
        </p:nvSpPr>
        <p:spPr>
          <a:xfrm>
            <a:off x="2394081" y="2017229"/>
            <a:ext cx="1" cy="455415"/>
          </a:xfrm>
          <a:prstGeom prst="line">
            <a:avLst/>
          </a:prstGeom>
          <a:ln w="76200">
            <a:solidFill>
              <a:schemeClr val="tx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49" name="Shape 1033"/>
          <p:cNvSpPr/>
          <p:nvPr/>
        </p:nvSpPr>
        <p:spPr>
          <a:xfrm flipV="1">
            <a:off x="2813776" y="4419315"/>
            <a:ext cx="1" cy="455415"/>
          </a:xfrm>
          <a:prstGeom prst="line">
            <a:avLst/>
          </a:prstGeom>
          <a:ln w="76200">
            <a:solidFill>
              <a:srgbClr val="FFFFFF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0351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" grpId="0" animBg="1"/>
      <p:bldP spid="944" grpId="1" animBg="1"/>
      <p:bldP spid="945" grpId="0" animBg="1"/>
      <p:bldP spid="9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Shape 1133"/>
          <p:cNvSpPr/>
          <p:nvPr/>
        </p:nvSpPr>
        <p:spPr>
          <a:xfrm>
            <a:off x="395599" y="2250286"/>
            <a:ext cx="1086018" cy="364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algn="r">
              <a:defRPr sz="2700">
                <a:solidFill>
                  <a:srgbClr val="D4595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 dirty="0"/>
              <a:t>Virt Mem</a:t>
            </a:r>
          </a:p>
        </p:txBody>
      </p:sp>
      <p:sp>
        <p:nvSpPr>
          <p:cNvPr id="1134" name="Shape 1134"/>
          <p:cNvSpPr/>
          <p:nvPr/>
        </p:nvSpPr>
        <p:spPr>
          <a:xfrm>
            <a:off x="296970" y="3670107"/>
            <a:ext cx="1184647" cy="364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algn="r">
              <a:defRPr sz="2700">
                <a:solidFill>
                  <a:srgbClr val="0065C1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 dirty="0"/>
              <a:t>Phys Mem</a:t>
            </a:r>
          </a:p>
        </p:txBody>
      </p:sp>
      <p:sp>
        <p:nvSpPr>
          <p:cNvPr id="1135" name="Shape 1135"/>
          <p:cNvSpPr/>
          <p:nvPr/>
        </p:nvSpPr>
        <p:spPr>
          <a:xfrm>
            <a:off x="1980873" y="2206924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36" name="Shape 1136"/>
          <p:cNvSpPr/>
          <p:nvPr/>
        </p:nvSpPr>
        <p:spPr>
          <a:xfrm>
            <a:off x="2427358" y="2206924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37" name="Shape 1137"/>
          <p:cNvSpPr/>
          <p:nvPr/>
        </p:nvSpPr>
        <p:spPr>
          <a:xfrm>
            <a:off x="2873842" y="2206924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38" name="Shape 1138"/>
          <p:cNvSpPr/>
          <p:nvPr/>
        </p:nvSpPr>
        <p:spPr>
          <a:xfrm>
            <a:off x="3320327" y="2206924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39" name="Shape 1139"/>
          <p:cNvSpPr/>
          <p:nvPr/>
        </p:nvSpPr>
        <p:spPr>
          <a:xfrm>
            <a:off x="4481186" y="2206924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0" name="Shape 1140"/>
          <p:cNvSpPr/>
          <p:nvPr/>
        </p:nvSpPr>
        <p:spPr>
          <a:xfrm>
            <a:off x="4927670" y="2206924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1" name="Shape 1141"/>
          <p:cNvSpPr/>
          <p:nvPr/>
        </p:nvSpPr>
        <p:spPr>
          <a:xfrm>
            <a:off x="5374155" y="2206924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2" name="Shape 1142"/>
          <p:cNvSpPr/>
          <p:nvPr/>
        </p:nvSpPr>
        <p:spPr>
          <a:xfrm>
            <a:off x="5820639" y="2206924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3" name="Shape 1143"/>
          <p:cNvSpPr/>
          <p:nvPr/>
        </p:nvSpPr>
        <p:spPr>
          <a:xfrm>
            <a:off x="6981498" y="2206924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4" name="Shape 1144"/>
          <p:cNvSpPr/>
          <p:nvPr/>
        </p:nvSpPr>
        <p:spPr>
          <a:xfrm>
            <a:off x="7427983" y="2206924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5" name="Shape 1145"/>
          <p:cNvSpPr/>
          <p:nvPr/>
        </p:nvSpPr>
        <p:spPr>
          <a:xfrm>
            <a:off x="7874467" y="2206924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6" name="Shape 1146"/>
          <p:cNvSpPr/>
          <p:nvPr/>
        </p:nvSpPr>
        <p:spPr>
          <a:xfrm>
            <a:off x="8320952" y="2206924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7" name="Shape 1147"/>
          <p:cNvSpPr/>
          <p:nvPr/>
        </p:nvSpPr>
        <p:spPr>
          <a:xfrm>
            <a:off x="2833253" y="3631209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8" name="Shape 1148"/>
          <p:cNvSpPr/>
          <p:nvPr/>
        </p:nvSpPr>
        <p:spPr>
          <a:xfrm>
            <a:off x="3823636" y="3631209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49" name="Shape 1149"/>
          <p:cNvSpPr/>
          <p:nvPr/>
        </p:nvSpPr>
        <p:spPr>
          <a:xfrm>
            <a:off x="7289978" y="3631209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0" name="Shape 1150"/>
          <p:cNvSpPr/>
          <p:nvPr/>
        </p:nvSpPr>
        <p:spPr>
          <a:xfrm>
            <a:off x="5804403" y="3631209"/>
            <a:ext cx="451242" cy="451242"/>
          </a:xfrm>
          <a:prstGeom prst="rect">
            <a:avLst/>
          </a:prstGeom>
          <a:solidFill>
            <a:srgbClr val="0B5D12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1" name="Shape 1151"/>
          <p:cNvSpPr/>
          <p:nvPr/>
        </p:nvSpPr>
        <p:spPr>
          <a:xfrm>
            <a:off x="2338061" y="3631209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2" name="Shape 1152"/>
          <p:cNvSpPr/>
          <p:nvPr/>
        </p:nvSpPr>
        <p:spPr>
          <a:xfrm>
            <a:off x="3328444" y="3631209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3" name="Shape 1153"/>
          <p:cNvSpPr/>
          <p:nvPr/>
        </p:nvSpPr>
        <p:spPr>
          <a:xfrm>
            <a:off x="4318828" y="3631209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4" name="Shape 1154"/>
          <p:cNvSpPr/>
          <p:nvPr/>
        </p:nvSpPr>
        <p:spPr>
          <a:xfrm>
            <a:off x="5309211" y="3631209"/>
            <a:ext cx="451242" cy="451242"/>
          </a:xfrm>
          <a:prstGeom prst="rect">
            <a:avLst/>
          </a:prstGeom>
          <a:solidFill>
            <a:srgbClr val="1497FC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5" name="Shape 1155"/>
          <p:cNvSpPr/>
          <p:nvPr/>
        </p:nvSpPr>
        <p:spPr>
          <a:xfrm>
            <a:off x="4814019" y="3631209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6" name="Shape 1156"/>
          <p:cNvSpPr/>
          <p:nvPr/>
        </p:nvSpPr>
        <p:spPr>
          <a:xfrm>
            <a:off x="6299594" y="3631209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7" name="Shape 1157"/>
          <p:cNvSpPr/>
          <p:nvPr/>
        </p:nvSpPr>
        <p:spPr>
          <a:xfrm>
            <a:off x="6794786" y="3631209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8" name="Shape 1158"/>
          <p:cNvSpPr/>
          <p:nvPr/>
        </p:nvSpPr>
        <p:spPr>
          <a:xfrm>
            <a:off x="7785170" y="3631209"/>
            <a:ext cx="451242" cy="451242"/>
          </a:xfrm>
          <a:prstGeom prst="rect">
            <a:avLst/>
          </a:prstGeom>
          <a:solidFill>
            <a:srgbClr val="971817"/>
          </a:solidFill>
          <a:ln w="508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59" name="Shape 1159"/>
          <p:cNvSpPr/>
          <p:nvPr/>
        </p:nvSpPr>
        <p:spPr>
          <a:xfrm>
            <a:off x="2203407" y="2677385"/>
            <a:ext cx="1795806" cy="939160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0" name="Shape 1160"/>
          <p:cNvSpPr/>
          <p:nvPr/>
        </p:nvSpPr>
        <p:spPr>
          <a:xfrm>
            <a:off x="2649891" y="2677385"/>
            <a:ext cx="449899" cy="936211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1" name="Shape 1161"/>
          <p:cNvSpPr/>
          <p:nvPr/>
        </p:nvSpPr>
        <p:spPr>
          <a:xfrm>
            <a:off x="3096376" y="2677384"/>
            <a:ext cx="2901416" cy="919798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2" name="Shape 1162"/>
          <p:cNvSpPr/>
          <p:nvPr/>
        </p:nvSpPr>
        <p:spPr>
          <a:xfrm>
            <a:off x="3542860" y="2677385"/>
            <a:ext cx="3987821" cy="906899"/>
          </a:xfrm>
          <a:prstGeom prst="line">
            <a:avLst/>
          </a:prstGeom>
          <a:ln w="50800">
            <a:solidFill>
              <a:srgbClr val="0B5D12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3" name="Shape 1163"/>
          <p:cNvSpPr/>
          <p:nvPr/>
        </p:nvSpPr>
        <p:spPr>
          <a:xfrm flipH="1">
            <a:off x="2648515" y="2677385"/>
            <a:ext cx="2055205" cy="941780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4" name="Shape 1164"/>
          <p:cNvSpPr/>
          <p:nvPr/>
        </p:nvSpPr>
        <p:spPr>
          <a:xfrm flipH="1">
            <a:off x="4636965" y="2677385"/>
            <a:ext cx="513239" cy="940101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5" name="Shape 1165"/>
          <p:cNvSpPr/>
          <p:nvPr/>
        </p:nvSpPr>
        <p:spPr>
          <a:xfrm flipH="1">
            <a:off x="3541285" y="2677385"/>
            <a:ext cx="2055404" cy="943753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6" name="Shape 1166"/>
          <p:cNvSpPr/>
          <p:nvPr/>
        </p:nvSpPr>
        <p:spPr>
          <a:xfrm flipH="1">
            <a:off x="5587698" y="2677385"/>
            <a:ext cx="455475" cy="939574"/>
          </a:xfrm>
          <a:prstGeom prst="line">
            <a:avLst/>
          </a:prstGeom>
          <a:ln w="50800">
            <a:solidFill>
              <a:srgbClr val="1497F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7" name="Shape 1167"/>
          <p:cNvSpPr/>
          <p:nvPr/>
        </p:nvSpPr>
        <p:spPr>
          <a:xfrm flipH="1">
            <a:off x="6546174" y="2677385"/>
            <a:ext cx="657859" cy="939991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8" name="Shape 1168"/>
          <p:cNvSpPr/>
          <p:nvPr/>
        </p:nvSpPr>
        <p:spPr>
          <a:xfrm flipH="1">
            <a:off x="5150517" y="2677385"/>
            <a:ext cx="2500000" cy="925390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69" name="Shape 1169"/>
          <p:cNvSpPr/>
          <p:nvPr/>
        </p:nvSpPr>
        <p:spPr>
          <a:xfrm flipH="1">
            <a:off x="7146104" y="2679001"/>
            <a:ext cx="939537" cy="939537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70" name="Shape 1170"/>
          <p:cNvSpPr/>
          <p:nvPr/>
        </p:nvSpPr>
        <p:spPr>
          <a:xfrm flipH="1">
            <a:off x="8060996" y="2679000"/>
            <a:ext cx="471129" cy="935175"/>
          </a:xfrm>
          <a:prstGeom prst="line">
            <a:avLst/>
          </a:prstGeom>
          <a:ln w="50800">
            <a:solidFill>
              <a:srgbClr val="971817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/>
          </a:p>
        </p:txBody>
      </p:sp>
      <p:sp>
        <p:nvSpPr>
          <p:cNvPr id="1171" name="Shape 1171"/>
          <p:cNvSpPr/>
          <p:nvPr/>
        </p:nvSpPr>
        <p:spPr>
          <a:xfrm>
            <a:off x="5235843" y="1793434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P2</a:t>
            </a:r>
          </a:p>
        </p:txBody>
      </p:sp>
      <p:sp>
        <p:nvSpPr>
          <p:cNvPr id="1172" name="Shape 1172"/>
          <p:cNvSpPr/>
          <p:nvPr/>
        </p:nvSpPr>
        <p:spPr>
          <a:xfrm>
            <a:off x="7652834" y="1750072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P3</a:t>
            </a:r>
          </a:p>
        </p:txBody>
      </p:sp>
      <p:sp>
        <p:nvSpPr>
          <p:cNvPr id="1173" name="Shape 1173"/>
          <p:cNvSpPr/>
          <p:nvPr/>
        </p:nvSpPr>
        <p:spPr>
          <a:xfrm>
            <a:off x="2431165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1174" name="Shape 1174"/>
          <p:cNvSpPr/>
          <p:nvPr/>
        </p:nvSpPr>
        <p:spPr>
          <a:xfrm>
            <a:off x="2927980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175" name="Shape 1175"/>
          <p:cNvSpPr/>
          <p:nvPr/>
        </p:nvSpPr>
        <p:spPr>
          <a:xfrm>
            <a:off x="3424796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176" name="Shape 1176"/>
          <p:cNvSpPr/>
          <p:nvPr/>
        </p:nvSpPr>
        <p:spPr>
          <a:xfrm>
            <a:off x="3921611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177" name="Shape 1177"/>
          <p:cNvSpPr/>
          <p:nvPr/>
        </p:nvSpPr>
        <p:spPr>
          <a:xfrm>
            <a:off x="4418426" y="4108645"/>
            <a:ext cx="213196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78" name="Shape 1178"/>
          <p:cNvSpPr/>
          <p:nvPr/>
        </p:nvSpPr>
        <p:spPr>
          <a:xfrm>
            <a:off x="4915242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179" name="Shape 1179"/>
          <p:cNvSpPr/>
          <p:nvPr/>
        </p:nvSpPr>
        <p:spPr>
          <a:xfrm>
            <a:off x="5412057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180" name="Shape 1180"/>
          <p:cNvSpPr/>
          <p:nvPr/>
        </p:nvSpPr>
        <p:spPr>
          <a:xfrm>
            <a:off x="5908873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81" name="Shape 1181"/>
          <p:cNvSpPr/>
          <p:nvPr/>
        </p:nvSpPr>
        <p:spPr>
          <a:xfrm>
            <a:off x="6405687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1182" name="Shape 1182"/>
          <p:cNvSpPr/>
          <p:nvPr/>
        </p:nvSpPr>
        <p:spPr>
          <a:xfrm>
            <a:off x="6902504" y="4108645"/>
            <a:ext cx="209414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1183" name="Shape 1183"/>
          <p:cNvSpPr/>
          <p:nvPr/>
        </p:nvSpPr>
        <p:spPr>
          <a:xfrm>
            <a:off x="7324846" y="4108645"/>
            <a:ext cx="346696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84" name="Shape 1184"/>
          <p:cNvSpPr/>
          <p:nvPr/>
        </p:nvSpPr>
        <p:spPr>
          <a:xfrm>
            <a:off x="7821660" y="4108645"/>
            <a:ext cx="346696" cy="395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1185" name="Shape 1185"/>
          <p:cNvSpPr/>
          <p:nvPr/>
        </p:nvSpPr>
        <p:spPr>
          <a:xfrm>
            <a:off x="2616849" y="1750072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P1</a:t>
            </a:r>
          </a:p>
        </p:txBody>
      </p:sp>
      <p:sp>
        <p:nvSpPr>
          <p:cNvPr id="1186" name="Shape 1186"/>
          <p:cNvSpPr/>
          <p:nvPr/>
        </p:nvSpPr>
        <p:spPr>
          <a:xfrm>
            <a:off x="1398848" y="5531155"/>
            <a:ext cx="199573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Page Tables:</a:t>
            </a:r>
          </a:p>
        </p:txBody>
      </p:sp>
      <p:sp>
        <p:nvSpPr>
          <p:cNvPr id="1187" name="Shape 1187"/>
          <p:cNvSpPr/>
          <p:nvPr/>
        </p:nvSpPr>
        <p:spPr>
          <a:xfrm>
            <a:off x="3787143" y="4615562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P1</a:t>
            </a:r>
          </a:p>
        </p:txBody>
      </p:sp>
      <p:sp>
        <p:nvSpPr>
          <p:cNvPr id="1188" name="Shape 1188"/>
          <p:cNvSpPr/>
          <p:nvPr/>
        </p:nvSpPr>
        <p:spPr>
          <a:xfrm>
            <a:off x="3789283" y="5042992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3</a:t>
            </a:r>
          </a:p>
        </p:txBody>
      </p:sp>
      <p:sp>
        <p:nvSpPr>
          <p:cNvPr id="1189" name="Shape 1189"/>
          <p:cNvSpPr/>
          <p:nvPr/>
        </p:nvSpPr>
        <p:spPr>
          <a:xfrm>
            <a:off x="3789283" y="5400180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1</a:t>
            </a:r>
          </a:p>
        </p:txBody>
      </p:sp>
      <p:sp>
        <p:nvSpPr>
          <p:cNvPr id="1190" name="Shape 1190"/>
          <p:cNvSpPr/>
          <p:nvPr/>
        </p:nvSpPr>
        <p:spPr>
          <a:xfrm>
            <a:off x="3789283" y="5757367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7</a:t>
            </a:r>
          </a:p>
        </p:txBody>
      </p:sp>
      <p:sp>
        <p:nvSpPr>
          <p:cNvPr id="1191" name="Shape 1191"/>
          <p:cNvSpPr/>
          <p:nvPr/>
        </p:nvSpPr>
        <p:spPr>
          <a:xfrm>
            <a:off x="3789283" y="6114555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10</a:t>
            </a:r>
          </a:p>
        </p:txBody>
      </p:sp>
      <p:sp>
        <p:nvSpPr>
          <p:cNvPr id="1192" name="Shape 1192"/>
          <p:cNvSpPr/>
          <p:nvPr/>
        </p:nvSpPr>
        <p:spPr>
          <a:xfrm>
            <a:off x="5019440" y="4648092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P2</a:t>
            </a:r>
          </a:p>
        </p:txBody>
      </p:sp>
      <p:sp>
        <p:nvSpPr>
          <p:cNvPr id="1193" name="Shape 1193"/>
          <p:cNvSpPr/>
          <p:nvPr/>
        </p:nvSpPr>
        <p:spPr>
          <a:xfrm>
            <a:off x="5021580" y="5075522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0</a:t>
            </a:r>
          </a:p>
        </p:txBody>
      </p:sp>
      <p:sp>
        <p:nvSpPr>
          <p:cNvPr id="1194" name="Shape 1194"/>
          <p:cNvSpPr/>
          <p:nvPr/>
        </p:nvSpPr>
        <p:spPr>
          <a:xfrm>
            <a:off x="5021580" y="5432710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4</a:t>
            </a:r>
          </a:p>
        </p:txBody>
      </p:sp>
      <p:sp>
        <p:nvSpPr>
          <p:cNvPr id="1195" name="Shape 1195"/>
          <p:cNvSpPr/>
          <p:nvPr/>
        </p:nvSpPr>
        <p:spPr>
          <a:xfrm>
            <a:off x="5021580" y="5789897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2</a:t>
            </a:r>
          </a:p>
        </p:txBody>
      </p:sp>
      <p:sp>
        <p:nvSpPr>
          <p:cNvPr id="1196" name="Shape 1196"/>
          <p:cNvSpPr/>
          <p:nvPr/>
        </p:nvSpPr>
        <p:spPr>
          <a:xfrm>
            <a:off x="5021580" y="6147085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1800" dirty="0"/>
              <a:t>6</a:t>
            </a:r>
          </a:p>
        </p:txBody>
      </p:sp>
      <p:sp>
        <p:nvSpPr>
          <p:cNvPr id="1197" name="Shape 1197"/>
          <p:cNvSpPr/>
          <p:nvPr/>
        </p:nvSpPr>
        <p:spPr>
          <a:xfrm>
            <a:off x="6252841" y="4648092"/>
            <a:ext cx="392732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chemeClr val="tx2"/>
                </a:solidFill>
              </a:rPr>
              <a:t>P3</a:t>
            </a:r>
          </a:p>
        </p:txBody>
      </p:sp>
      <p:sp>
        <p:nvSpPr>
          <p:cNvPr id="1198" name="Shape 1198"/>
          <p:cNvSpPr/>
          <p:nvPr/>
        </p:nvSpPr>
        <p:spPr>
          <a:xfrm>
            <a:off x="6254981" y="5075522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endParaRPr sz="1800" dirty="0"/>
          </a:p>
        </p:txBody>
      </p:sp>
      <p:sp>
        <p:nvSpPr>
          <p:cNvPr id="1199" name="Shape 1199"/>
          <p:cNvSpPr/>
          <p:nvPr/>
        </p:nvSpPr>
        <p:spPr>
          <a:xfrm>
            <a:off x="6254981" y="5432710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endParaRPr sz="1800" dirty="0"/>
          </a:p>
        </p:txBody>
      </p:sp>
      <p:sp>
        <p:nvSpPr>
          <p:cNvPr id="1200" name="Shape 1200"/>
          <p:cNvSpPr/>
          <p:nvPr/>
        </p:nvSpPr>
        <p:spPr>
          <a:xfrm>
            <a:off x="6254981" y="5789897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endParaRPr sz="1800" dirty="0"/>
          </a:p>
        </p:txBody>
      </p:sp>
      <p:sp>
        <p:nvSpPr>
          <p:cNvPr id="1201" name="Shape 1201"/>
          <p:cNvSpPr/>
          <p:nvPr/>
        </p:nvSpPr>
        <p:spPr>
          <a:xfrm>
            <a:off x="6254981" y="6147085"/>
            <a:ext cx="451242" cy="348259"/>
          </a:xfrm>
          <a:prstGeom prst="rect">
            <a:avLst/>
          </a:prstGeom>
          <a:solidFill>
            <a:srgbClr val="53585F"/>
          </a:solidFill>
          <a:ln w="12700">
            <a:solidFill>
              <a:srgbClr val="A6AAA8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6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endParaRPr sz="1800" dirty="0"/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27160" y="30184"/>
            <a:ext cx="7583488" cy="715269"/>
          </a:xfrm>
        </p:spPr>
        <p:txBody>
          <a:bodyPr/>
          <a:lstStyle/>
          <a:p>
            <a:r>
              <a:rPr lang="en-US" dirty="0"/>
              <a:t>Fill in Page Table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83312" y="5054449"/>
            <a:ext cx="302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83312" y="5444854"/>
            <a:ext cx="302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83312" y="5777753"/>
            <a:ext cx="302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5641" y="6126012"/>
            <a:ext cx="420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535174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74" grpId="0"/>
      <p:bldP spid="7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Advantages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SzPct val="65000"/>
              <a:buFont typeface="Wingdings" pitchFamily="2" charset="2"/>
              <a:buChar char=""/>
            </a:pPr>
            <a:r>
              <a:rPr lang="en-US" altLang="ko-KR" sz="2000" b="1" dirty="0"/>
              <a:t>Flexibility: </a:t>
            </a:r>
            <a:r>
              <a:rPr lang="en-US" altLang="ko-KR" sz="2000" dirty="0"/>
              <a:t>Supporting the abstraction of address space effectively</a:t>
            </a:r>
            <a:endParaRPr lang="ko-KR" altLang="en-US" sz="2000" dirty="0"/>
          </a:p>
          <a:p>
            <a:pPr lvl="1"/>
            <a:r>
              <a:rPr lang="en-US" altLang="ko-KR" dirty="0"/>
              <a:t>Don’t need assumption how heap and stack grow and are used.</a:t>
            </a:r>
          </a:p>
          <a:p>
            <a:endParaRPr lang="en-US" altLang="ko-KR" dirty="0"/>
          </a:p>
          <a:p>
            <a:r>
              <a:rPr lang="en-US" altLang="ko-KR" b="1" dirty="0"/>
              <a:t>Simplicity</a:t>
            </a:r>
            <a:r>
              <a:rPr lang="en-US" altLang="ko-KR" dirty="0"/>
              <a:t>: ease of free-space management</a:t>
            </a:r>
          </a:p>
          <a:p>
            <a:pPr lvl="1"/>
            <a:r>
              <a:rPr lang="en-US" altLang="ko-KR" dirty="0"/>
              <a:t>The page in address space and the page frame are the same size.</a:t>
            </a:r>
          </a:p>
          <a:p>
            <a:pPr lvl="1"/>
            <a:r>
              <a:rPr lang="en-US" altLang="ko-KR" dirty="0"/>
              <a:t>Easy to allocate and keep a free list</a:t>
            </a:r>
          </a:p>
        </p:txBody>
      </p:sp>
    </p:spTree>
    <p:extLst>
      <p:ext uri="{BB962C8B-B14F-4D97-AF65-F5344CB8AC3E}">
        <p14:creationId xmlns:p14="http://schemas.microsoft.com/office/powerpoint/2010/main" val="3506770089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 Simple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128-byte physical memory with 16 bytes page frames</a:t>
            </a:r>
            <a:endParaRPr lang="ko-KR" altLang="en-US" dirty="0"/>
          </a:p>
          <a:p>
            <a:r>
              <a:rPr lang="en-US" altLang="ko-KR" dirty="0"/>
              <a:t>64-byte address space with 16 bytes pages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755576" y="2924944"/>
            <a:ext cx="4021772" cy="2332746"/>
            <a:chOff x="2017433" y="3207007"/>
            <a:chExt cx="4068610" cy="2332746"/>
          </a:xfrm>
        </p:grpSpPr>
        <p:sp>
          <p:nvSpPr>
            <p:cNvPr id="6" name="직사각형 5"/>
            <p:cNvSpPr/>
            <p:nvPr/>
          </p:nvSpPr>
          <p:spPr>
            <a:xfrm>
              <a:off x="2726259" y="3367162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726259" y="3799210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26259" y="4227458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726259" y="4659506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66219" y="3207007"/>
              <a:ext cx="36004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94211" y="3600480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94211" y="4067303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94211" y="4499351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48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94211" y="4931399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71043" y="3357219"/>
              <a:ext cx="1715000" cy="4977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0 of                            the address space)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04373" y="3855079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1)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93697" y="4283326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2)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04373" y="4715374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3)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17433" y="5219444"/>
              <a:ext cx="300182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 Simple 64-byte Address Space</a:t>
              </a:r>
              <a:endPara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432559" y="1844824"/>
            <a:ext cx="4531929" cy="4536504"/>
            <a:chOff x="2024895" y="1733326"/>
            <a:chExt cx="4896544" cy="4536504"/>
          </a:xfrm>
        </p:grpSpPr>
        <p:sp>
          <p:nvSpPr>
            <p:cNvPr id="49" name="TextBox 48"/>
            <p:cNvSpPr txBox="1"/>
            <p:nvPr/>
          </p:nvSpPr>
          <p:spPr>
            <a:xfrm>
              <a:off x="2746987" y="1733326"/>
              <a:ext cx="6024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13522" y="221763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411957" y="1887700"/>
              <a:ext cx="1456785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reserved for OS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11957" y="289063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411957" y="238657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411957" y="3389510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11957" y="388838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411957" y="439244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024895" y="5962053"/>
              <a:ext cx="48965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64-Byte Address Space Placed In 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411956" y="4891320"/>
              <a:ext cx="1455993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411957" y="5395376"/>
              <a:ext cx="1456784" cy="504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13522" y="272011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13523" y="325101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713521" y="374988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713525" y="425394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13525" y="475282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96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13522" y="5260138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112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13521" y="5724544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03546" y="1838483"/>
              <a:ext cx="1685014" cy="51765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0 of                           physical memory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60116" y="2478450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1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60116" y="2979915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60116" y="3478792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3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960116" y="398025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960116" y="4481726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5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60116" y="4983193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60116" y="548724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7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103820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602" y="836712"/>
            <a:ext cx="8786812" cy="5501258"/>
          </a:xfrm>
        </p:spPr>
        <p:txBody>
          <a:bodyPr/>
          <a:lstStyle/>
          <a:p>
            <a:r>
              <a:rPr lang="en-US" altLang="ko-KR" dirty="0"/>
              <a:t>Two components in the virtual address</a:t>
            </a:r>
          </a:p>
          <a:p>
            <a:pPr lvl="1"/>
            <a:r>
              <a:rPr lang="en-US" altLang="ko-KR" dirty="0"/>
              <a:t>VPN: virtual page number</a:t>
            </a:r>
          </a:p>
          <a:p>
            <a:pPr lvl="1"/>
            <a:r>
              <a:rPr lang="en-US" altLang="ko-KR" dirty="0"/>
              <a:t>Offset: offset within the page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Example: virtual address 21 in 64-byte address space</a:t>
            </a:r>
          </a:p>
          <a:p>
            <a:pPr lvl="1"/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2843808" y="2437398"/>
            <a:ext cx="3024336" cy="1063610"/>
            <a:chOff x="2915816" y="3429000"/>
            <a:chExt cx="3024336" cy="1063610"/>
          </a:xfrm>
        </p:grpSpPr>
        <p:sp>
          <p:nvSpPr>
            <p:cNvPr id="13" name="직사각형 12"/>
            <p:cNvSpPr/>
            <p:nvPr/>
          </p:nvSpPr>
          <p:spPr>
            <a:xfrm>
              <a:off x="291581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Va5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419872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Va4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923928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Va3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427984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Va2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932040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43609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915816" y="3754529"/>
              <a:ext cx="936104" cy="162022"/>
              <a:chOff x="1763688" y="3699031"/>
              <a:chExt cx="1008112" cy="162022"/>
            </a:xfrm>
          </p:grpSpPr>
          <p:sp>
            <p:nvSpPr>
              <p:cNvPr id="19" name="왼쪽 대괄호 18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연결선 21"/>
              <p:cNvCxnSpPr>
                <a:stCxn id="19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그룹 27"/>
            <p:cNvGrpSpPr/>
            <p:nvPr/>
          </p:nvGrpSpPr>
          <p:grpSpPr>
            <a:xfrm>
              <a:off x="3995936" y="3754529"/>
              <a:ext cx="1944216" cy="162023"/>
              <a:chOff x="2771800" y="3700791"/>
              <a:chExt cx="2016224" cy="160263"/>
            </a:xfrm>
          </p:grpSpPr>
          <p:sp>
            <p:nvSpPr>
              <p:cNvPr id="20" name="왼쪽 대괄호 19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연결선 24"/>
              <p:cNvCxnSpPr>
                <a:stCxn id="20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3059832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44988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291581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419872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923928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427984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932040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43609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2915816" y="4744640"/>
            <a:ext cx="936104" cy="162022"/>
            <a:chOff x="1763688" y="3699031"/>
            <a:chExt cx="1008112" cy="162022"/>
          </a:xfrm>
        </p:grpSpPr>
        <p:sp>
          <p:nvSpPr>
            <p:cNvPr id="95" name="왼쪽 대괄호 94"/>
            <p:cNvSpPr/>
            <p:nvPr/>
          </p:nvSpPr>
          <p:spPr>
            <a:xfrm rot="5400000">
              <a:off x="2213736" y="3302990"/>
              <a:ext cx="108015" cy="1008112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/>
            <p:cNvCxnSpPr>
              <a:stCxn id="95" idx="1"/>
            </p:cNvCxnSpPr>
            <p:nvPr/>
          </p:nvCxnSpPr>
          <p:spPr>
            <a:xfrm flipH="1" flipV="1">
              <a:off x="2267743" y="3699031"/>
              <a:ext cx="1" cy="54008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그룹 96"/>
          <p:cNvGrpSpPr/>
          <p:nvPr/>
        </p:nvGrpSpPr>
        <p:grpSpPr>
          <a:xfrm>
            <a:off x="3995936" y="4744640"/>
            <a:ext cx="1944216" cy="162023"/>
            <a:chOff x="2771800" y="3700791"/>
            <a:chExt cx="2016224" cy="160263"/>
          </a:xfrm>
        </p:grpSpPr>
        <p:sp>
          <p:nvSpPr>
            <p:cNvPr id="98" name="왼쪽 대괄호 97"/>
            <p:cNvSpPr/>
            <p:nvPr/>
          </p:nvSpPr>
          <p:spPr>
            <a:xfrm rot="5400000">
              <a:off x="3725905" y="2798935"/>
              <a:ext cx="108014" cy="2016224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/>
            <p:cNvCxnSpPr>
              <a:stCxn id="98" idx="1"/>
            </p:cNvCxnSpPr>
            <p:nvPr/>
          </p:nvCxnSpPr>
          <p:spPr>
            <a:xfrm flipV="1">
              <a:off x="3779912" y="3700791"/>
              <a:ext cx="0" cy="52249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3059832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VPN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644988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offset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478895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virtual address 21 in 64-byte address space</a:t>
            </a:r>
          </a:p>
          <a:p>
            <a:pPr lvl="1"/>
            <a:endParaRPr lang="ko-KR" altLang="en-US" dirty="0"/>
          </a:p>
        </p:txBody>
      </p:sp>
      <p:grpSp>
        <p:nvGrpSpPr>
          <p:cNvPr id="45" name="그룹 44"/>
          <p:cNvGrpSpPr/>
          <p:nvPr/>
        </p:nvGrpSpPr>
        <p:grpSpPr>
          <a:xfrm>
            <a:off x="1835696" y="1700808"/>
            <a:ext cx="4680520" cy="3979936"/>
            <a:chOff x="1403648" y="1465288"/>
            <a:chExt cx="4680520" cy="3979936"/>
          </a:xfrm>
        </p:grpSpPr>
        <p:sp>
          <p:nvSpPr>
            <p:cNvPr id="46" name="직사각형 45"/>
            <p:cNvSpPr/>
            <p:nvPr/>
          </p:nvSpPr>
          <p:spPr>
            <a:xfrm>
              <a:off x="305983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563888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67944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572000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076056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58011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3059832" y="1844824"/>
              <a:ext cx="936104" cy="162022"/>
              <a:chOff x="1763688" y="3699031"/>
              <a:chExt cx="1008112" cy="162022"/>
            </a:xfrm>
          </p:grpSpPr>
          <p:sp>
            <p:nvSpPr>
              <p:cNvPr id="85" name="왼쪽 대괄호 84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6" name="직선 연결선 85"/>
              <p:cNvCxnSpPr>
                <a:stCxn id="85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/>
            <p:cNvGrpSpPr/>
            <p:nvPr/>
          </p:nvGrpSpPr>
          <p:grpSpPr>
            <a:xfrm>
              <a:off x="4139952" y="1844824"/>
              <a:ext cx="1944216" cy="162023"/>
              <a:chOff x="2771800" y="3700791"/>
              <a:chExt cx="2016224" cy="160263"/>
            </a:xfrm>
          </p:grpSpPr>
          <p:sp>
            <p:nvSpPr>
              <p:cNvPr id="83" name="왼쪽 대괄호 82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4" name="직선 연결선 83"/>
              <p:cNvCxnSpPr>
                <a:stCxn id="83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3203848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789004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05983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3563888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067944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572000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76056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558011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 rot="10800000">
              <a:off x="2555776" y="4902990"/>
              <a:ext cx="1440160" cy="180518"/>
              <a:chOff x="1763688" y="3699031"/>
              <a:chExt cx="1008112" cy="162022"/>
            </a:xfrm>
          </p:grpSpPr>
          <p:sp>
            <p:nvSpPr>
              <p:cNvPr id="81" name="왼쪽 대괄호 80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2" name="직선 연결선 81"/>
              <p:cNvCxnSpPr>
                <a:stCxn id="81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그룹 62"/>
            <p:cNvGrpSpPr/>
            <p:nvPr/>
          </p:nvGrpSpPr>
          <p:grpSpPr>
            <a:xfrm rot="10800000">
              <a:off x="4139952" y="4902991"/>
              <a:ext cx="1944216" cy="162023"/>
              <a:chOff x="2771800" y="3700791"/>
              <a:chExt cx="2016224" cy="160263"/>
            </a:xfrm>
          </p:grpSpPr>
          <p:sp>
            <p:nvSpPr>
              <p:cNvPr id="79" name="왼쪽 대괄호 78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0" name="직선 연결선 79"/>
              <p:cNvCxnSpPr>
                <a:stCxn id="79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2951821" y="512491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PFN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89004" y="511996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555776" y="4346443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79713" y="2061778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403648" y="4327864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Physical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2555777" y="2996952"/>
              <a:ext cx="1440160" cy="936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Address Translation</a:t>
              </a:r>
              <a:endPara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cxnSp>
          <p:nvCxnSpPr>
            <p:cNvPr id="70" name="직선 화살표 연결선 69"/>
            <p:cNvCxnSpPr>
              <a:stCxn id="51" idx="2"/>
              <a:endCxn id="61" idx="0"/>
            </p:cNvCxnSpPr>
            <p:nvPr/>
          </p:nvCxnSpPr>
          <p:spPr>
            <a:xfrm>
              <a:off x="5832140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>
              <a:stCxn id="50" idx="2"/>
              <a:endCxn id="60" idx="0"/>
            </p:cNvCxnSpPr>
            <p:nvPr/>
          </p:nvCxnSpPr>
          <p:spPr>
            <a:xfrm>
              <a:off x="5328084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49" idx="2"/>
              <a:endCxn id="59" idx="0"/>
            </p:cNvCxnSpPr>
            <p:nvPr/>
          </p:nvCxnSpPr>
          <p:spPr>
            <a:xfrm>
              <a:off x="4824028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48" idx="2"/>
              <a:endCxn id="58" idx="0"/>
            </p:cNvCxnSpPr>
            <p:nvPr/>
          </p:nvCxnSpPr>
          <p:spPr>
            <a:xfrm>
              <a:off x="4319972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/>
            <p:nvPr/>
          </p:nvCxnSpPr>
          <p:spPr>
            <a:xfrm>
              <a:off x="3815916" y="2635529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/>
            <p:nvPr/>
          </p:nvCxnSpPr>
          <p:spPr>
            <a:xfrm>
              <a:off x="3311860" y="2635529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/>
            <p:cNvCxnSpPr/>
            <p:nvPr/>
          </p:nvCxnSpPr>
          <p:spPr>
            <a:xfrm>
              <a:off x="2807804" y="3976634"/>
              <a:ext cx="0" cy="3013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/>
            <p:nvPr/>
          </p:nvCxnSpPr>
          <p:spPr>
            <a:xfrm>
              <a:off x="3311860" y="3976181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/>
            <p:cNvCxnSpPr/>
            <p:nvPr/>
          </p:nvCxnSpPr>
          <p:spPr>
            <a:xfrm>
              <a:off x="3815916" y="3975516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0585846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Where Are Page Tables Stored?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Page tables can get awfully large</a:t>
                </a:r>
              </a:p>
              <a:p>
                <a:pPr lvl="1"/>
                <a:r>
                  <a:rPr lang="en-US" altLang="ko-KR" dirty="0"/>
                  <a:t>32-bit address space with 4-KB pages, 20 bits for VPN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𝑀𝐵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= 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20</m:t>
                        </m:r>
                      </m:sup>
                    </m:sSup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𝑒𝑛𝑡𝑟𝑖𝑒𝑠</m:t>
                    </m:r>
                    <m:r>
                      <a:rPr lang="en-US" altLang="ko-KR" b="0" i="1" smtClean="0">
                        <a:latin typeface="Cambria Math"/>
                      </a:rPr>
                      <m:t> ∗4 </m:t>
                    </m:r>
                    <m:r>
                      <a:rPr lang="en-US" altLang="ko-KR" b="0" i="1" smtClean="0">
                        <a:latin typeface="Cambria Math"/>
                      </a:rPr>
                      <m:t>𝐵𝑦𝑡𝑒𝑠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𝑝𝑒𝑟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𝑝𝑎𝑔𝑒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𝑡𝑎𝑏𝑙𝑒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𝑒𝑛𝑡𝑟𝑦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r>
                  <a:rPr lang="en-US" altLang="ko-KR" dirty="0"/>
                  <a:t>Page tables for peach process are stored in memory.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937271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Page Table in Kernel Physical Memory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7234" y="1412776"/>
            <a:ext cx="602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9" y="189708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82204" y="1567150"/>
            <a:ext cx="1456785" cy="498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3 7 5 2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82204" y="257008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182204" y="206602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82204" y="3068960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82204" y="356783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182204" y="407189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5680993"/>
            <a:ext cx="17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182203" y="4570770"/>
            <a:ext cx="1455993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182204" y="5074826"/>
            <a:ext cx="145678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83769" y="239956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83770" y="293046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3768" y="342933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3772" y="393339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83772" y="443227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3769" y="4939588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83768" y="540399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0032" y="165643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0 of physical memory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32040" y="2157900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1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32040" y="2659365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2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2040" y="3158242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3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32040" y="365970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4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2040" y="4161176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5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2040" y="466264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6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32040" y="516669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7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5665614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in the page table?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page table is just a </a:t>
            </a:r>
            <a:r>
              <a:rPr lang="en-US" altLang="ko-KR" b="1" dirty="0"/>
              <a:t>data structure</a:t>
            </a:r>
            <a:r>
              <a:rPr lang="en-US" altLang="ko-KR" dirty="0"/>
              <a:t> that is used to map the virtual address to physical address.</a:t>
            </a:r>
          </a:p>
          <a:p>
            <a:pPr lvl="1"/>
            <a:r>
              <a:rPr lang="en-US" altLang="ko-KR" dirty="0"/>
              <a:t>Simplest form: a linear page table, an array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OS </a:t>
            </a:r>
            <a:r>
              <a:rPr lang="en-US" altLang="ko-KR" b="1" dirty="0"/>
              <a:t>indexes</a:t>
            </a:r>
            <a:r>
              <a:rPr lang="en-US" altLang="ko-KR" dirty="0"/>
              <a:t> the array by VPN, and looks up the page-table entry.</a:t>
            </a:r>
          </a:p>
        </p:txBody>
      </p:sp>
    </p:spTree>
    <p:extLst>
      <p:ext uri="{BB962C8B-B14F-4D97-AF65-F5344CB8AC3E}">
        <p14:creationId xmlns:p14="http://schemas.microsoft.com/office/powerpoint/2010/main" val="3176718604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Flags Of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Valid Bit</a:t>
            </a:r>
            <a:r>
              <a:rPr lang="en-US" altLang="ko-KR" dirty="0"/>
              <a:t>: Indicating whether the particular translation is valid.</a:t>
            </a:r>
          </a:p>
          <a:p>
            <a:r>
              <a:rPr lang="en-US" altLang="ko-KR" b="1" dirty="0"/>
              <a:t>Protection Bit</a:t>
            </a:r>
            <a:r>
              <a:rPr lang="en-US" altLang="ko-KR" dirty="0"/>
              <a:t>: Indicating whether the page could be read from, written to, or executed from</a:t>
            </a:r>
          </a:p>
          <a:p>
            <a:r>
              <a:rPr lang="en-US" altLang="ko-KR" b="1" dirty="0"/>
              <a:t>Present Bit</a:t>
            </a:r>
            <a:r>
              <a:rPr lang="en-US" altLang="ko-KR" dirty="0"/>
              <a:t>: Indicating whether this page is in physical memory or on disk(swapped out)</a:t>
            </a:r>
          </a:p>
          <a:p>
            <a:r>
              <a:rPr lang="en-US" altLang="ko-KR" b="1" dirty="0"/>
              <a:t>Dirty Bit</a:t>
            </a:r>
            <a:r>
              <a:rPr lang="en-US" altLang="ko-KR" dirty="0"/>
              <a:t>: Indicating whether the page has been modified since it was brought into memory</a:t>
            </a:r>
          </a:p>
          <a:p>
            <a:r>
              <a:rPr lang="en-US" altLang="ko-KR" b="1" dirty="0"/>
              <a:t>Reference Bit(Accessed Bit): </a:t>
            </a:r>
            <a:r>
              <a:rPr lang="en-US" altLang="ko-KR" dirty="0"/>
              <a:t>Indicating that a page has been accessed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2033057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x86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P: present</a:t>
            </a:r>
          </a:p>
          <a:p>
            <a:r>
              <a:rPr lang="en-US" altLang="ko-KR" dirty="0"/>
              <a:t>R/W: read/write bit</a:t>
            </a:r>
          </a:p>
          <a:p>
            <a:r>
              <a:rPr lang="en-US" altLang="ko-KR" dirty="0"/>
              <a:t>U/S: supervisor</a:t>
            </a:r>
          </a:p>
          <a:p>
            <a:r>
              <a:rPr lang="en-US" altLang="ko-KR" dirty="0"/>
              <a:t>A: accessed bit</a:t>
            </a:r>
          </a:p>
          <a:p>
            <a:r>
              <a:rPr lang="en-US" altLang="ko-KR" dirty="0"/>
              <a:t>D: dirty bit</a:t>
            </a:r>
          </a:p>
          <a:p>
            <a:r>
              <a:rPr lang="en-US" altLang="ko-KR" dirty="0"/>
              <a:t>PFN: the page frame number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1043608" y="1340768"/>
            <a:ext cx="7029456" cy="763136"/>
            <a:chOff x="899592" y="1657752"/>
            <a:chExt cx="7029456" cy="763136"/>
          </a:xfrm>
        </p:grpSpPr>
        <p:graphicFrame>
          <p:nvGraphicFramePr>
            <p:cNvPr id="18" name="내용 개체 틀 11"/>
            <p:cNvGraphicFramePr>
              <a:graphicFrameLocks/>
            </p:cNvGraphicFramePr>
            <p:nvPr/>
          </p:nvGraphicFramePr>
          <p:xfrm>
            <a:off x="899592" y="1657752"/>
            <a:ext cx="7029456" cy="2743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1967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4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5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6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7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8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9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3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31"/>
                      </a:ext>
                    </a:extLst>
                  </a:gridCol>
                </a:tblGrid>
                <a:tr h="216024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9" name="직사각형 18"/>
            <p:cNvSpPr/>
            <p:nvPr/>
          </p:nvSpPr>
          <p:spPr>
            <a:xfrm>
              <a:off x="899592" y="1916832"/>
              <a:ext cx="4392488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PFN</a:t>
              </a:r>
              <a:endPara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92079" y="1916832"/>
              <a:ext cx="658800" cy="50405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950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G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170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PAT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90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609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8292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PCD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7048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PWT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268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U/S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488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R/W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7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926780" y="2320543"/>
            <a:ext cx="3281639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An x86 Page Table Entry(PTE)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2916875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Too Slow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find a location of the desired PTE, the </a:t>
            </a:r>
            <a:r>
              <a:rPr lang="en-US" altLang="ko-KR" b="1" dirty="0"/>
              <a:t>starting location</a:t>
            </a:r>
            <a:r>
              <a:rPr lang="en-US" altLang="ko-KR" dirty="0"/>
              <a:t> of the page table is </a:t>
            </a:r>
            <a:r>
              <a:rPr lang="en-US" altLang="ko-KR" b="1"/>
              <a:t>needed</a:t>
            </a:r>
            <a:r>
              <a:rPr lang="en-US" altLang="ko-KR"/>
              <a:t>.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For every memory reference, paging requires the OS to perform one </a:t>
            </a:r>
            <a:r>
              <a:rPr lang="en-US" altLang="ko-KR" b="1" dirty="0"/>
              <a:t>extra memory reference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348983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Memory With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27584" y="1531919"/>
            <a:ext cx="7387982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Extract the VPN from the virtual address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VPN =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VPN_MASK) &gt;&gt; SHIFT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 the address of the page-table entry (PTE)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PTBR + (VPN * 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(PTE))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Fetch the PTE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PTE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Check if process can access the page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PTE.Valid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False)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(SEGMENTATION_FAULT)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CanAccess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PTE.ProtectBits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== False)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Access is OK: form physical address and fetch it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offset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(PTE.PFN &lt;&lt; PFN_SHIFT) | offset </a:t>
            </a:r>
          </a:p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Register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572270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III</a:t>
            </a:r>
            <a:r>
              <a:rPr lang="en-HK"/>
              <a:t>: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99527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Base and Bounds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" y="717698"/>
            <a:ext cx="9124395" cy="614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21408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Segmentation 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764704"/>
            <a:ext cx="6912768" cy="61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68037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Segmentation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740909"/>
            <a:ext cx="7221312" cy="60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3145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Segmentation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764704"/>
            <a:ext cx="7661689" cy="60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48955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9" y="692696"/>
            <a:ext cx="7658275" cy="614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20549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9" y="692696"/>
            <a:ext cx="7658275" cy="61443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85542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85542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85542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85542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86991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86991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86991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86991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32240" y="10527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32240" y="17728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32240" y="24928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32240" y="321297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732240" y="393305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32240" y="46531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32240" y="53732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32240" y="60932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198708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9" y="692696"/>
            <a:ext cx="7658275" cy="61443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85542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85542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85542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85542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86991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86991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86991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86991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32240" y="10527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32240" y="17728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32240" y="24928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32240" y="321297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732240" y="393305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32240" y="46531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32240" y="53732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32240" y="60932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817590" y="1340768"/>
            <a:ext cx="5058666" cy="792088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860636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9" y="692696"/>
            <a:ext cx="7658275" cy="61443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85542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85542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85542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85542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86991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86991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86991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86991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32240" y="10527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32240" y="17728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32240" y="24928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32240" y="321297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732240" y="393305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32240" y="46531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32240" y="53732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32240" y="60932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817590" y="1340768"/>
            <a:ext cx="5058666" cy="792088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1800323" y="2851711"/>
            <a:ext cx="4931917" cy="3601625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771762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9" y="692696"/>
            <a:ext cx="7658275" cy="61443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85542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85542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85542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85542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86991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86991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86991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86991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32240" y="10527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32240" y="17728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32240" y="24928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32240" y="321297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732240" y="393305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32240" y="46531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32240" y="53732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32240" y="60932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817590" y="1340768"/>
            <a:ext cx="5058666" cy="792088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1800323" y="2851711"/>
            <a:ext cx="4931917" cy="3601625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0" idx="1"/>
          </p:cNvCxnSpPr>
          <p:nvPr/>
        </p:nvCxnSpPr>
        <p:spPr>
          <a:xfrm>
            <a:off x="1815671" y="3535157"/>
            <a:ext cx="4916569" cy="1478019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606562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49" y="692696"/>
            <a:ext cx="7658275" cy="61443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85542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85542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85542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85542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86991" y="177281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86991" y="249289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86991" y="321297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86991" y="3933056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2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32240" y="10527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32240" y="17728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32240" y="24928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732240" y="321297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732240" y="393305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32240" y="465313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32240" y="537321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32240" y="6093296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817590" y="1340768"/>
            <a:ext cx="5058666" cy="792088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1800323" y="2851711"/>
            <a:ext cx="4931917" cy="3601625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0" idx="1"/>
          </p:cNvCxnSpPr>
          <p:nvPr/>
        </p:nvCxnSpPr>
        <p:spPr>
          <a:xfrm>
            <a:off x="1815671" y="3535157"/>
            <a:ext cx="4916569" cy="1478019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815671" y="4231419"/>
            <a:ext cx="4916569" cy="1500612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1" idx="3"/>
          </p:cNvCxnSpPr>
          <p:nvPr/>
        </p:nvCxnSpPr>
        <p:spPr>
          <a:xfrm>
            <a:off x="3519039" y="2132856"/>
            <a:ext cx="3357217" cy="0"/>
          </a:xfrm>
          <a:prstGeom prst="straightConnector1">
            <a:avLst/>
          </a:prstGeom>
          <a:ln w="22225">
            <a:solidFill>
              <a:srgbClr val="3333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519039" y="2924944"/>
            <a:ext cx="3357217" cy="0"/>
          </a:xfrm>
          <a:prstGeom prst="straightConnector1">
            <a:avLst/>
          </a:prstGeom>
          <a:ln w="22225">
            <a:solidFill>
              <a:srgbClr val="3333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491880" y="3573016"/>
            <a:ext cx="3357217" cy="0"/>
          </a:xfrm>
          <a:prstGeom prst="straightConnector1">
            <a:avLst/>
          </a:prstGeom>
          <a:ln w="22225">
            <a:solidFill>
              <a:srgbClr val="3333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491880" y="4293096"/>
            <a:ext cx="3357217" cy="0"/>
          </a:xfrm>
          <a:prstGeom prst="straightConnector1">
            <a:avLst/>
          </a:prstGeom>
          <a:ln w="22225">
            <a:solidFill>
              <a:srgbClr val="3333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15706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 (page table needs to be stored in memory)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703"/>
            <a:ext cx="7848872" cy="60919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59632" y="174565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59632" y="246573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59632" y="318581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59632" y="390589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80420" y="102599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80420" y="174607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80420" y="246615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80420" y="318623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80420" y="390631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80420" y="462639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80420" y="534647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80420" y="606655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835696" y="1844824"/>
            <a:ext cx="4464496" cy="3384376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700699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 (page table needs to be stored in memory)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703"/>
            <a:ext cx="7848872" cy="60919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59632" y="174565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59632" y="246573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59632" y="318581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59632" y="390589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691680" y="1313609"/>
            <a:ext cx="5058666" cy="792088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80420" y="102599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80420" y="174607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80420" y="246615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80420" y="318623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80420" y="390631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80420" y="462639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80420" y="534647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80420" y="606655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835696" y="1844824"/>
            <a:ext cx="4464496" cy="3384376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414315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Paging (page table needs to be stored in memory)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703"/>
            <a:ext cx="7848872" cy="60919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59632" y="174565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59632" y="246573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59632" y="318581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59632" y="3905897"/>
            <a:ext cx="432048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691680" y="1313609"/>
            <a:ext cx="5058666" cy="792088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674413" y="2824552"/>
            <a:ext cx="4931917" cy="3601625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689761" y="3507998"/>
            <a:ext cx="4916569" cy="1478019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689761" y="4204260"/>
            <a:ext cx="4916569" cy="1500612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80420" y="102599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80420" y="174607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80420" y="246615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80420" y="318623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80420" y="390631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80420" y="462639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80420" y="534647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80420" y="6066553"/>
            <a:ext cx="1080120" cy="72008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  <a:prstDash val="dash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835696" y="1844824"/>
            <a:ext cx="4464496" cy="3384376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743602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HK" dirty="0"/>
              <a:t>Segmentation</a:t>
            </a:r>
          </a:p>
          <a:p>
            <a:pPr lvl="1"/>
            <a:r>
              <a:rPr lang="en-US" altLang="ko-KR" dirty="0"/>
              <a:t>A </a:t>
            </a:r>
            <a:r>
              <a:rPr lang="en-US" altLang="ko-KR"/>
              <a:t>program contains </a:t>
            </a:r>
            <a:r>
              <a:rPr lang="en-US" altLang="ko-KR" dirty="0"/>
              <a:t>logically-different </a:t>
            </a:r>
            <a:r>
              <a:rPr lang="en-US" altLang="ko-KR" b="1" dirty="0"/>
              <a:t>segments</a:t>
            </a:r>
            <a:r>
              <a:rPr lang="en-US" altLang="ko-KR" dirty="0"/>
              <a:t>: code, stack, heap</a:t>
            </a:r>
          </a:p>
          <a:p>
            <a:pPr lvl="1"/>
            <a:r>
              <a:rPr lang="en-US" altLang="ko-KR" dirty="0"/>
              <a:t>Each segment can be </a:t>
            </a:r>
            <a:r>
              <a:rPr lang="en-US" altLang="ko-KR" b="1" dirty="0"/>
              <a:t>placed</a:t>
            </a:r>
            <a:r>
              <a:rPr lang="en-US" altLang="ko-KR" dirty="0"/>
              <a:t> in </a:t>
            </a:r>
            <a:r>
              <a:rPr lang="en-US" altLang="ko-KR" b="1" dirty="0"/>
              <a:t>different part of physical memory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b="1" dirty="0"/>
              <a:t>Base</a:t>
            </a:r>
            <a:r>
              <a:rPr lang="en-US" altLang="ko-KR" dirty="0"/>
              <a:t> and </a:t>
            </a:r>
            <a:r>
              <a:rPr lang="en-US" altLang="ko-KR" b="1" dirty="0"/>
              <a:t>bounds</a:t>
            </a:r>
            <a:r>
              <a:rPr lang="en-US" altLang="ko-KR" dirty="0"/>
              <a:t> exist </a:t>
            </a:r>
            <a:r>
              <a:rPr lang="en-US" altLang="ko-KR" b="1" dirty="0"/>
              <a:t>per each segment</a:t>
            </a:r>
            <a:r>
              <a:rPr lang="en-US" altLang="ko-KR" dirty="0"/>
              <a:t>.</a:t>
            </a:r>
          </a:p>
          <a:p>
            <a:r>
              <a:rPr lang="en-HK" dirty="0"/>
              <a:t>Paging</a:t>
            </a:r>
          </a:p>
          <a:p>
            <a:pPr lvl="1"/>
            <a:r>
              <a:rPr lang="en-US" altLang="ko-KR" b="1" dirty="0"/>
              <a:t>physical memory</a:t>
            </a:r>
            <a:r>
              <a:rPr lang="en-US" altLang="ko-KR" dirty="0"/>
              <a:t> is </a:t>
            </a:r>
            <a:r>
              <a:rPr lang="en-US" altLang="ko-KR" b="1" dirty="0"/>
              <a:t>split</a:t>
            </a:r>
            <a:r>
              <a:rPr lang="en-US" altLang="ko-KR" dirty="0"/>
              <a:t> into some number of pages called a </a:t>
            </a:r>
            <a:r>
              <a:rPr lang="en-US" altLang="ko-KR" b="1" dirty="0"/>
              <a:t>page frame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Page table</a:t>
            </a:r>
            <a:r>
              <a:rPr lang="en-US" altLang="ko-KR" dirty="0"/>
              <a:t> per process is used </a:t>
            </a:r>
            <a:r>
              <a:rPr lang="en-US" altLang="ko-KR" b="1" dirty="0"/>
              <a:t>to translate</a:t>
            </a:r>
            <a:r>
              <a:rPr lang="en-US" altLang="ko-KR" dirty="0"/>
              <a:t> the virtual address to physical address.</a:t>
            </a:r>
            <a:endParaRPr lang="en-US" dirty="0"/>
          </a:p>
          <a:p>
            <a:r>
              <a:rPr lang="en-US" dirty="0"/>
              <a:t>Next: Free Space Management, Translation Lookaside Buffers, Advanced Page Tables, and Swapping (</a:t>
            </a:r>
            <a:r>
              <a:rPr lang="en-US" dirty="0">
                <a:hlinkClick r:id="rId2"/>
              </a:rPr>
              <a:t>Chapters </a:t>
            </a:r>
            <a:r>
              <a:rPr lang="en-US" dirty="0">
                <a:hlinkClick r:id="rId3"/>
              </a:rPr>
              <a:t>17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19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20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21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22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23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106177</TotalTime>
  <Words>2139</Words>
  <Application>Microsoft Office PowerPoint</Application>
  <PresentationFormat>On-screen Show (4:3)</PresentationFormat>
  <Paragraphs>570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HY견고딕</vt:lpstr>
      <vt:lpstr>맑은 고딕</vt:lpstr>
      <vt:lpstr>Cambria Math</vt:lpstr>
      <vt:lpstr>Courier New</vt:lpstr>
      <vt:lpstr>Harlow Solid Italic</vt:lpstr>
      <vt:lpstr>Tahoma</vt:lpstr>
      <vt:lpstr>Times New Roman</vt:lpstr>
      <vt:lpstr>Wingdings</vt:lpstr>
      <vt:lpstr>양식_공청회_발표자료-총괄-양식</vt:lpstr>
      <vt:lpstr>Lecture 10: Virtualizing Memory – Segmentation and Paging </vt:lpstr>
      <vt:lpstr>PowerPoint Presentation</vt:lpstr>
      <vt:lpstr>OS – Resource management via virtualization</vt:lpstr>
      <vt:lpstr>PowerPoint Presentation</vt:lpstr>
      <vt:lpstr>Inefficiency of the Base and Bound Approach</vt:lpstr>
      <vt:lpstr>Segmentation</vt:lpstr>
      <vt:lpstr>Placing Segment In Physical Memory</vt:lpstr>
      <vt:lpstr>Address Translation on Segmentation</vt:lpstr>
      <vt:lpstr>Address Translation on Segmentation(Cont.)</vt:lpstr>
      <vt:lpstr>Segmentation Fault or Violation</vt:lpstr>
      <vt:lpstr>Referring to Segment</vt:lpstr>
      <vt:lpstr>Referring to Segment(Cont.)</vt:lpstr>
      <vt:lpstr>Referring to Stack Segment</vt:lpstr>
      <vt:lpstr>Support for Sharing</vt:lpstr>
      <vt:lpstr>Fine-Grained and Coarse-Grained</vt:lpstr>
      <vt:lpstr>OS support: Fragmentation</vt:lpstr>
      <vt:lpstr>Memory Compaction</vt:lpstr>
      <vt:lpstr>PowerPoint Presentation</vt:lpstr>
      <vt:lpstr>Concept of Paging</vt:lpstr>
      <vt:lpstr>Paging </vt:lpstr>
      <vt:lpstr>Fill in Page Table</vt:lpstr>
      <vt:lpstr>Advantages Of Paging</vt:lpstr>
      <vt:lpstr>Example: A Simple Paging</vt:lpstr>
      <vt:lpstr>Address Translation</vt:lpstr>
      <vt:lpstr>Example: Address Translation</vt:lpstr>
      <vt:lpstr>Where Are Page Tables Stored?</vt:lpstr>
      <vt:lpstr>Example: Page Table in Kernel Physical Memory</vt:lpstr>
      <vt:lpstr>What is in the page table?</vt:lpstr>
      <vt:lpstr>Common Flags Of Page Table Entry</vt:lpstr>
      <vt:lpstr>Example: x86 Page Table Entry</vt:lpstr>
      <vt:lpstr>Paging: Too Slow</vt:lpstr>
      <vt:lpstr>Accessing Memory With Paging</vt:lpstr>
      <vt:lpstr>PowerPoint Presentation</vt:lpstr>
      <vt:lpstr>Base and Bounds</vt:lpstr>
      <vt:lpstr>Segmentation  </vt:lpstr>
      <vt:lpstr>Segmentation</vt:lpstr>
      <vt:lpstr>Segmentation</vt:lpstr>
      <vt:lpstr>Paging</vt:lpstr>
      <vt:lpstr>Paging</vt:lpstr>
      <vt:lpstr>Paging</vt:lpstr>
      <vt:lpstr>Paging</vt:lpstr>
      <vt:lpstr>Paging</vt:lpstr>
      <vt:lpstr>Paging</vt:lpstr>
      <vt:lpstr>Paging (page table needs to be stored in memory)</vt:lpstr>
      <vt:lpstr>Paging (page table needs to be stored in memory)</vt:lpstr>
      <vt:lpstr>Paging (page table needs to be stored in memory)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cp:lastModifiedBy>Zili Shao (CSD)</cp:lastModifiedBy>
  <cp:revision>91</cp:revision>
  <cp:lastPrinted>2015-03-03T01:48:46Z</cp:lastPrinted>
  <dcterms:created xsi:type="dcterms:W3CDTF">2011-05-01T06:09:10Z</dcterms:created>
  <dcterms:modified xsi:type="dcterms:W3CDTF">2025-10-21T02:42:41Z</dcterms:modified>
</cp:coreProperties>
</file>