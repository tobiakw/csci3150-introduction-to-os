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47"/>
  </p:notesMasterIdLst>
  <p:sldIdLst>
    <p:sldId id="284" r:id="rId2"/>
    <p:sldId id="340" r:id="rId3"/>
    <p:sldId id="261" r:id="rId4"/>
    <p:sldId id="302" r:id="rId5"/>
    <p:sldId id="293" r:id="rId6"/>
    <p:sldId id="294" r:id="rId7"/>
    <p:sldId id="295" r:id="rId8"/>
    <p:sldId id="296" r:id="rId9"/>
    <p:sldId id="297" r:id="rId10"/>
    <p:sldId id="298" r:id="rId11"/>
    <p:sldId id="343" r:id="rId12"/>
    <p:sldId id="299" r:id="rId13"/>
    <p:sldId id="300" r:id="rId14"/>
    <p:sldId id="342" r:id="rId15"/>
    <p:sldId id="303" r:id="rId16"/>
    <p:sldId id="304" r:id="rId17"/>
    <p:sldId id="305" r:id="rId18"/>
    <p:sldId id="312" r:id="rId19"/>
    <p:sldId id="313" r:id="rId20"/>
    <p:sldId id="314" r:id="rId21"/>
    <p:sldId id="315" r:id="rId22"/>
    <p:sldId id="317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39" r:id="rId41"/>
    <p:sldId id="318" r:id="rId42"/>
    <p:sldId id="319" r:id="rId43"/>
    <p:sldId id="320" r:id="rId44"/>
    <p:sldId id="321" r:id="rId45"/>
    <p:sldId id="292" r:id="rId4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6357" autoAdjust="0"/>
  </p:normalViewPr>
  <p:slideViewPr>
    <p:cSldViewPr>
      <p:cViewPr varScale="1">
        <p:scale>
          <a:sx n="92" d="100"/>
          <a:sy n="92" d="100"/>
        </p:scale>
        <p:origin x="1651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HK" altLang="ko-KR" dirty="0"/>
              <a:t>CSCI3150: Introduction to Operating Systems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dobe 고딕 Std B" pitchFamily="34" charset="-127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 latinLnBrk="0"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latinLnBrk="0"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latinLnBrk="0"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466913968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39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038600"/>
            <a:ext cx="7620000" cy="990600"/>
          </a:xfrm>
        </p:spPr>
        <p:txBody>
          <a:bodyPr vert="horz" lIns="130046" tIns="65023" rIns="130046" bIns="65023" rtlCol="0" anchor="b" anchorCtr="0">
            <a:normAutofit/>
          </a:bodyPr>
          <a:lstStyle>
            <a:lvl1pPr algn="ctr">
              <a:defRPr sz="2690" kern="120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685765" rtl="0" eaLnBrk="1" latinLnBrk="0" hangingPunct="1">
              <a:spcBef>
                <a:spcPts val="1500"/>
              </a:spcBef>
              <a:buFont typeface="Calisto MT" pitchFamily="18" charset="0"/>
              <a:buNone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5042649"/>
            <a:ext cx="7620000" cy="1129553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ct val="600"/>
              </a:spcBef>
              <a:buNone/>
              <a:defRPr sz="1371"/>
            </a:lvl1pPr>
            <a:lvl2pPr marL="342883" indent="0">
              <a:buNone/>
              <a:defRPr sz="896"/>
            </a:lvl2pPr>
            <a:lvl3pPr marL="685765" indent="0">
              <a:buNone/>
              <a:defRPr sz="738"/>
            </a:lvl3pPr>
            <a:lvl4pPr marL="1028648" indent="0">
              <a:buNone/>
              <a:defRPr sz="686"/>
            </a:lvl4pPr>
            <a:lvl5pPr marL="1371530" indent="0">
              <a:buNone/>
              <a:defRPr sz="686"/>
            </a:lvl5pPr>
            <a:lvl6pPr marL="1714412" indent="0">
              <a:buNone/>
              <a:defRPr sz="686"/>
            </a:lvl6pPr>
            <a:lvl7pPr marL="2057295" indent="0">
              <a:buNone/>
              <a:defRPr sz="686"/>
            </a:lvl7pPr>
            <a:lvl8pPr marL="2400177" indent="0">
              <a:buNone/>
              <a:defRPr sz="686"/>
            </a:lvl8pPr>
            <a:lvl9pPr marL="2743060" indent="0">
              <a:buNone/>
              <a:defRPr sz="6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 baseline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0936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14313" y="55563"/>
            <a:ext cx="8786812" cy="58578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HK" dirty="0"/>
              <a:t>Base Register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3409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2670"/>
            <a:ext cx="9144000" cy="7066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baseline="0" dirty="0">
              <a:solidFill>
                <a:schemeClr val="tx1"/>
              </a:solidFill>
              <a:effectLst/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HK" altLang="ko-KR" dirty="0"/>
              <a:t>1</a:t>
            </a:r>
            <a:endParaRPr lang="ko-KR" altLang="en-US" dirty="0"/>
          </a:p>
          <a:p>
            <a:pPr lvl="1"/>
            <a:r>
              <a:rPr lang="en-HK" altLang="ko-KR" dirty="0"/>
              <a:t>1</a:t>
            </a:r>
            <a:endParaRPr lang="ko-KR" altLang="en-US" dirty="0"/>
          </a:p>
          <a:p>
            <a:pPr lvl="2"/>
            <a:r>
              <a:rPr lang="en-HK" altLang="ko-KR" dirty="0"/>
              <a:t>1</a:t>
            </a:r>
            <a:endParaRPr lang="ko-KR" altLang="en-US" dirty="0"/>
          </a:p>
          <a:p>
            <a:pPr lvl="3"/>
            <a:r>
              <a:rPr lang="en-HK" altLang="ko-KR" dirty="0"/>
              <a:t>1</a:t>
            </a:r>
            <a:endParaRPr lang="ko-KR" altLang="en-US" dirty="0"/>
          </a:p>
          <a:p>
            <a:pPr lvl="4"/>
            <a:r>
              <a:rPr lang="en-HK" altLang="ko-KR" dirty="0"/>
              <a:t>1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pages.cs.wisc.edu/~remzi/OSTEP/vm-beyondphys-policy.pdf" TargetMode="External"/><Relationship Id="rId3" Type="http://schemas.openxmlformats.org/officeDocument/2006/relationships/hyperlink" Target="http://pages.cs.wisc.edu/~remzi/OSTEP/vm-freespace.pdf" TargetMode="External"/><Relationship Id="rId7" Type="http://schemas.openxmlformats.org/officeDocument/2006/relationships/hyperlink" Target="http://pages.cs.wisc.edu/~remzi/OSTEP/vm-beyondphys.pdf" TargetMode="External"/><Relationship Id="rId2" Type="http://schemas.openxmlformats.org/officeDocument/2006/relationships/hyperlink" Target="http://pages.cs.wisc.edu/~remzi/OSTEP/vm-segmentation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ages.cs.wisc.edu/~remzi/OSTEP/vm-smalltables.pdf" TargetMode="External"/><Relationship Id="rId5" Type="http://schemas.openxmlformats.org/officeDocument/2006/relationships/hyperlink" Target="http://pages.cs.wisc.edu/~remzi/OSTEP/vm-tlbs.pdf" TargetMode="External"/><Relationship Id="rId4" Type="http://schemas.openxmlformats.org/officeDocument/2006/relationships/hyperlink" Target="http://pages.cs.wisc.edu/~remzi/OSTEP/vm-paging.pdf" TargetMode="External"/><Relationship Id="rId9" Type="http://schemas.openxmlformats.org/officeDocument/2006/relationships/hyperlink" Target="http://pages.cs.wisc.edu/~remzi/OSTEP/vm-complet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7504" y="2060848"/>
            <a:ext cx="8856984" cy="1542033"/>
          </a:xfrm>
        </p:spPr>
        <p:txBody>
          <a:bodyPr/>
          <a:lstStyle/>
          <a:p>
            <a:pPr latinLnBrk="0"/>
            <a:r>
              <a:rPr lang="en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9: Virtualizing Memory –  Address Space and Address </a:t>
            </a:r>
            <a:r>
              <a:rPr lang="en-HK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</a:t>
            </a:r>
            <a:endParaRPr lang="en-HK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1A829B9-3819-4868-AC40-F541661A14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823093573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9552" y="2780928"/>
            <a:ext cx="7920880" cy="532730"/>
          </a:xfrm>
          <a:prstGeom prst="roundRect">
            <a:avLst/>
          </a:prstGeom>
          <a:solidFill>
            <a:schemeClr val="bg1"/>
          </a:solidFill>
          <a:ln w="4445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5362" name="TextBox 41"/>
          <p:cNvSpPr txBox="1">
            <a:spLocks noChangeArrowheads="1"/>
          </p:cNvSpPr>
          <p:nvPr/>
        </p:nvSpPr>
        <p:spPr bwMode="auto">
          <a:xfrm>
            <a:off x="611560" y="44624"/>
            <a:ext cx="70214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600" b="1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Myriad Web" pitchFamily="34" charset="0"/>
                <a:ea typeface="Arial Unicode MS" pitchFamily="34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Course </a:t>
            </a:r>
            <a:r>
              <a:rPr lang="en-US" altLang="zh-CN" sz="3200" dirty="0">
                <a:latin typeface="Times New Roman" panose="02020603050405020304" pitchFamily="18" charset="0"/>
                <a:ea typeface="GungsuhChe" pitchFamily="49" charset="-128"/>
                <a:cs typeface="Times New Roman" panose="02020603050405020304" pitchFamily="18" charset="0"/>
              </a:rPr>
              <a:t>Organization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(Bottom-up)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3" name="Straight Arrow Connector 10"/>
          <p:cNvCxnSpPr>
            <a:cxnSpLocks noChangeShapeType="1"/>
          </p:cNvCxnSpPr>
          <p:nvPr/>
        </p:nvCxnSpPr>
        <p:spPr bwMode="auto">
          <a:xfrm flipV="1">
            <a:off x="381000" y="2387600"/>
            <a:ext cx="0" cy="2441575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4" name="Group 33"/>
          <p:cNvGrpSpPr/>
          <p:nvPr/>
        </p:nvGrpSpPr>
        <p:grpSpPr>
          <a:xfrm>
            <a:off x="749300" y="1125538"/>
            <a:ext cx="7578725" cy="5572125"/>
            <a:chOff x="749300" y="1125538"/>
            <a:chExt cx="7578725" cy="5572125"/>
          </a:xfrm>
        </p:grpSpPr>
        <p:grpSp>
          <p:nvGrpSpPr>
            <p:cNvPr id="35" name="Group 1"/>
            <p:cNvGrpSpPr>
              <a:grpSpLocks/>
            </p:cNvGrpSpPr>
            <p:nvPr/>
          </p:nvGrpSpPr>
          <p:grpSpPr bwMode="auto">
            <a:xfrm>
              <a:off x="749300" y="1125538"/>
              <a:ext cx="7578725" cy="5572125"/>
              <a:chOff x="825846" y="1132710"/>
              <a:chExt cx="7578379" cy="5572890"/>
            </a:xfrm>
          </p:grpSpPr>
          <p:grpSp>
            <p:nvGrpSpPr>
              <p:cNvPr id="39" name="Group 42"/>
              <p:cNvGrpSpPr>
                <a:grpSpLocks/>
              </p:cNvGrpSpPr>
              <p:nvPr/>
            </p:nvGrpSpPr>
            <p:grpSpPr bwMode="auto">
              <a:xfrm>
                <a:off x="838200" y="3424164"/>
                <a:ext cx="7543800" cy="2600189"/>
                <a:chOff x="838200" y="3420347"/>
                <a:chExt cx="7543800" cy="2855188"/>
              </a:xfrm>
            </p:grpSpPr>
            <p:sp>
              <p:nvSpPr>
                <p:cNvPr id="65" name="Rectangle 11"/>
                <p:cNvSpPr>
                  <a:spLocks noChangeArrowheads="1"/>
                </p:cNvSpPr>
                <p:nvPr/>
              </p:nvSpPr>
              <p:spPr bwMode="auto">
                <a:xfrm>
                  <a:off x="838200" y="4190915"/>
                  <a:ext cx="7543800" cy="1389306"/>
                </a:xfrm>
                <a:prstGeom prst="rect">
                  <a:avLst/>
                </a:prstGeom>
                <a:solidFill>
                  <a:schemeClr val="accent1">
                    <a:alpha val="20000"/>
                  </a:schemeClr>
                </a:solidFill>
                <a:ln w="22225" algn="ctr">
                  <a:solidFill>
                    <a:srgbClr val="FFFF00"/>
                  </a:solidFill>
                  <a:miter lim="800000"/>
                  <a:headEnd/>
                  <a:tailEnd/>
                </a:ln>
              </p:spPr>
              <p:txBody>
                <a:bodyPr wrap="none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6" name="TextBox 1"/>
                <p:cNvSpPr txBox="1">
                  <a:spLocks noChangeArrowheads="1"/>
                </p:cNvSpPr>
                <p:nvPr/>
              </p:nvSpPr>
              <p:spPr bwMode="auto">
                <a:xfrm>
                  <a:off x="838200" y="5768498"/>
                  <a:ext cx="7543800" cy="507037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 b="0">
                      <a:latin typeface="Tahoma" panose="020B0604030504040204" pitchFamily="34" charset="0"/>
                    </a:rPr>
                    <a:t>System Calls (User-level Programming)</a:t>
                  </a:r>
                  <a:endParaRPr lang="zh-CN" altLang="en-US" sz="24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67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3420347"/>
                  <a:ext cx="4114800" cy="40010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Process and CPU Scheduling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40" name="Group 1"/>
              <p:cNvGrpSpPr>
                <a:grpSpLocks/>
              </p:cNvGrpSpPr>
              <p:nvPr/>
            </p:nvGrpSpPr>
            <p:grpSpPr bwMode="auto">
              <a:xfrm>
                <a:off x="825846" y="1132710"/>
                <a:ext cx="7556154" cy="4258441"/>
                <a:chOff x="825846" y="1131697"/>
                <a:chExt cx="7556154" cy="4676966"/>
              </a:xfrm>
            </p:grpSpPr>
            <p:sp>
              <p:nvSpPr>
                <p:cNvPr id="43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15887" y="3049751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Memory Management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44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3287829"/>
                  <a:ext cx="2039937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Virtualization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45" name="Straight Connector 7"/>
                <p:cNvCxnSpPr>
                  <a:cxnSpLocks noChangeShapeType="1"/>
                </p:cNvCxnSpPr>
                <p:nvPr/>
              </p:nvCxnSpPr>
              <p:spPr bwMode="auto">
                <a:xfrm>
                  <a:off x="2976563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46" name="Group 42"/>
                <p:cNvGrpSpPr>
                  <a:grpSpLocks/>
                </p:cNvGrpSpPr>
                <p:nvPr/>
              </p:nvGrpSpPr>
              <p:grpSpPr bwMode="auto">
                <a:xfrm>
                  <a:off x="825846" y="2027509"/>
                  <a:ext cx="7543800" cy="2109625"/>
                  <a:chOff x="825846" y="3475098"/>
                  <a:chExt cx="7543800" cy="2109994"/>
                </a:xfrm>
              </p:grpSpPr>
              <p:sp>
                <p:nvSpPr>
                  <p:cNvPr id="6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25846" y="4195788"/>
                    <a:ext cx="7543800" cy="1389304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4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0072" y="3475098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Thread   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cxnSp>
              <p:nvCxnSpPr>
                <p:cNvPr id="47" name="Straight Connector 37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48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104416" y="1367435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Race Conditions, Lock/Semaphore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0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914401" y="1740227"/>
                  <a:ext cx="1905000" cy="4394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Concurrency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grpSp>
              <p:nvGrpSpPr>
                <p:cNvPr id="51" name="Group 42"/>
                <p:cNvGrpSpPr>
                  <a:grpSpLocks/>
                </p:cNvGrpSpPr>
                <p:nvPr/>
              </p:nvGrpSpPr>
              <p:grpSpPr bwMode="auto">
                <a:xfrm>
                  <a:off x="838200" y="1139710"/>
                  <a:ext cx="7543800" cy="3865050"/>
                  <a:chOff x="838200" y="4187628"/>
                  <a:chExt cx="7543800" cy="3865728"/>
                </a:xfrm>
              </p:grpSpPr>
              <p:sp>
                <p:nvSpPr>
                  <p:cNvPr id="6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838200" y="4187628"/>
                    <a:ext cx="7543800" cy="1389306"/>
                  </a:xfrm>
                  <a:prstGeom prst="rect">
                    <a:avLst/>
                  </a:prstGeom>
                  <a:solidFill>
                    <a:schemeClr val="accent1">
                      <a:alpha val="20000"/>
                    </a:schemeClr>
                  </a:solidFill>
                  <a:ln w="22225" algn="ctr">
                    <a:solidFill>
                      <a:srgbClr val="FFFF00"/>
                    </a:solidFill>
                    <a:miter lim="800000"/>
                    <a:headEnd/>
                    <a:tailEnd/>
                  </a:ln>
                </p:spPr>
                <p:txBody>
                  <a:bodyPr wrap="none"/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 b="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62" name="TextBox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2926" y="7653256"/>
                    <a:ext cx="4114800" cy="400100"/>
                  </a:xfrm>
                  <a:prstGeom prst="rect">
                    <a:avLst/>
                  </a:prstGeom>
                  <a:noFill/>
                  <a:ln w="25400">
                    <a:solidFill>
                      <a:schemeClr val="tx2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2"/>
                      </a:buBlip>
                      <a:defRPr sz="3600" b="1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hlink"/>
                      </a:buClr>
                      <a:buSzPct val="90000"/>
                      <a:buFont typeface="Wingdings" panose="05000000000000000000" pitchFamily="2" charset="2"/>
                      <a:buBlip>
                        <a:blip r:embed="rId3"/>
                      </a:buBlip>
                      <a:defRPr sz="28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folHlink"/>
                      </a:buClr>
                      <a:buSzPct val="90000"/>
                      <a:buFont typeface="Wingdings" panose="05000000000000000000" pitchFamily="2" charset="2"/>
                      <a:buBlip>
                        <a:blip r:embed="rId4"/>
                      </a:buBlip>
                      <a:defRPr sz="24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55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SzPct val="50000"/>
                      <a:buFont typeface="Wingdings" panose="05000000000000000000" pitchFamily="2" charset="2"/>
                      <a:buChar char="n"/>
                      <a:defRPr sz="2000">
                        <a:solidFill>
                          <a:schemeClr val="tx1"/>
                        </a:solidFill>
                        <a:latin typeface="Myriad Web" pitchFamily="34" charset="0"/>
                        <a:ea typeface="Arial Unicode MS" pitchFamily="34" charset="-12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000" b="0">
                        <a:latin typeface="Tahoma" panose="020B0604030504040204" pitchFamily="34" charset="0"/>
                      </a:rPr>
                      <a:t>IO Devices and Storage                                     </a:t>
                    </a:r>
                    <a:endParaRPr lang="zh-CN" altLang="en-US" sz="2000" b="0">
                      <a:latin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52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849312" y="4904144"/>
                  <a:ext cx="2290763" cy="4000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>
                      <a:latin typeface="Tahoma" panose="020B0604030504040204" pitchFamily="34" charset="0"/>
                    </a:rPr>
                    <a:t>Persistence</a:t>
                  </a:r>
                  <a:endParaRPr lang="zh-CN" altLang="en-US" sz="2000">
                    <a:latin typeface="Tahoma" panose="020B0604030504040204" pitchFamily="34" charset="0"/>
                  </a:endParaRPr>
                </a:p>
              </p:txBody>
            </p:sp>
            <p:cxnSp>
              <p:nvCxnSpPr>
                <p:cNvPr id="54" name="Straight Connector 46"/>
                <p:cNvCxnSpPr>
                  <a:cxnSpLocks noChangeShapeType="1"/>
                </p:cNvCxnSpPr>
                <p:nvPr/>
              </p:nvCxnSpPr>
              <p:spPr bwMode="auto">
                <a:xfrm>
                  <a:off x="2971800" y="1131697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55" name="TextBox 2"/>
                <p:cNvSpPr txBox="1">
                  <a:spLocks noChangeArrowheads="1"/>
                </p:cNvSpPr>
                <p:nvPr/>
              </p:nvSpPr>
              <p:spPr bwMode="auto">
                <a:xfrm>
                  <a:off x="3098801" y="5252478"/>
                  <a:ext cx="4114800" cy="400050"/>
                </a:xfrm>
                <a:prstGeom prst="rect">
                  <a:avLst/>
                </a:prstGeom>
                <a:noFill/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2"/>
                    </a:buBlip>
                    <a:defRPr sz="3600" b="1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90000"/>
                    <a:buFont typeface="Wingdings" panose="05000000000000000000" pitchFamily="2" charset="2"/>
                    <a:buBlip>
                      <a:blip r:embed="rId3"/>
                    </a:buBlip>
                    <a:defRPr sz="28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90000"/>
                    <a:buFont typeface="Wingdings" panose="05000000000000000000" pitchFamily="2" charset="2"/>
                    <a:buBlip>
                      <a:blip r:embed="rId4"/>
                    </a:buBlip>
                    <a:defRPr sz="24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Myriad Web" pitchFamily="34" charset="0"/>
                      <a:ea typeface="Arial Unicode MS" pitchFamily="34" charset="-12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000" b="0">
                      <a:latin typeface="Tahoma" panose="020B0604030504040204" pitchFamily="34" charset="0"/>
                    </a:rPr>
                    <a:t>File System                                     </a:t>
                  </a:r>
                  <a:endParaRPr lang="zh-CN" altLang="en-US" sz="2000" b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56" name="TextBox 2">
                  <a:extLst>
                    <a:ext uri="{FF2B5EF4-FFF2-40B4-BE49-F238E27FC236}">
                      <a16:creationId xmlns:a16="http://schemas.microsoft.com/office/drawing/2014/main" id="{A822F933-86CC-4D3B-8F4D-ADF1179849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91446" y="3028909"/>
                  <a:ext cx="919121" cy="439428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HW#4</a:t>
                  </a:r>
                </a:p>
              </p:txBody>
            </p:sp>
            <p:cxnSp>
              <p:nvCxnSpPr>
                <p:cNvPr id="57" name="Straight Connector 49"/>
                <p:cNvCxnSpPr>
                  <a:cxnSpLocks noChangeShapeType="1"/>
                </p:cNvCxnSpPr>
                <p:nvPr/>
              </p:nvCxnSpPr>
              <p:spPr bwMode="auto">
                <a:xfrm>
                  <a:off x="7335838" y="44196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8" name="Straight Connector 50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2743200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9" name="Straight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7332663" y="1131698"/>
                  <a:ext cx="0" cy="1389063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60" name="TextBox 2">
                  <a:extLst>
                    <a:ext uri="{FF2B5EF4-FFF2-40B4-BE49-F238E27FC236}">
                      <a16:creationId xmlns:a16="http://schemas.microsoft.com/office/drawing/2014/main" id="{4A985E7A-07D9-428B-AAEC-3991306AE1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380335" y="4570394"/>
                  <a:ext cx="968331" cy="1116007"/>
                </a:xfrm>
                <a:prstGeom prst="rect">
                  <a:avLst/>
                </a:prstGeom>
                <a:gradFill>
                  <a:gsLst>
                    <a:gs pos="29230">
                      <a:srgbClr val="CDF4B4"/>
                    </a:gs>
                    <a:gs pos="0">
                      <a:schemeClr val="accent2">
                        <a:lumMod val="40000"/>
                        <a:lumOff val="60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Arial Unicode MS" pitchFamily="34" charset="-122"/>
                    </a:defRPr>
                  </a:lvl9pPr>
                </a:lstStyle>
                <a:p>
                  <a:pPr eaLnBrk="1" hangingPunct="1">
                    <a:defRPr/>
                  </a:pPr>
                  <a:r>
                    <a:rPr lang="en-HK" altLang="zh-CN" sz="2000" dirty="0"/>
                    <a:t>HW#2</a:t>
                  </a:r>
                  <a:r>
                    <a:rPr lang="en-US" altLang="zh-CN" sz="2000" dirty="0"/>
                    <a:t> </a:t>
                  </a:r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    &amp;</a:t>
                  </a:r>
                  <a:endParaRPr lang="en-US" altLang="zh-CN" sz="2000" dirty="0"/>
                </a:p>
                <a:p>
                  <a:pPr eaLnBrk="1" hangingPunct="1">
                    <a:defRPr/>
                  </a:pPr>
                  <a:r>
                    <a:rPr lang="en-HK" altLang="zh-CN" sz="2000" dirty="0"/>
                    <a:t>Project</a:t>
                  </a:r>
                </a:p>
              </p:txBody>
            </p:sp>
          </p:grpSp>
          <p:pic>
            <p:nvPicPr>
              <p:cNvPr id="41" name="Picture 3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8200" y="6059488"/>
                <a:ext cx="7566025" cy="646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DC261D44-1D84-49AF-ACE7-3AF17D5BB2EA}"/>
                  </a:ext>
                </a:extLst>
              </p:cNvPr>
              <p:cNvCxnSpPr/>
              <p:nvPr/>
            </p:nvCxnSpPr>
            <p:spPr bwMode="auto">
              <a:xfrm>
                <a:off x="838545" y="5494171"/>
                <a:ext cx="7543456" cy="0"/>
              </a:xfrm>
              <a:prstGeom prst="line">
                <a:avLst/>
              </a:prstGeom>
              <a:solidFill>
                <a:schemeClr val="accent1"/>
              </a:solidFill>
              <a:ln w="31750" cap="flat" cmpd="sng" algn="ctr">
                <a:solidFill>
                  <a:schemeClr val="tx2">
                    <a:lumMod val="7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36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975" y="3379788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HW#3</a:t>
              </a:r>
            </a:p>
          </p:txBody>
        </p:sp>
        <p:sp>
          <p:nvSpPr>
            <p:cNvPr id="38" name="TextBox 2">
              <a:extLst>
                <a:ext uri="{FF2B5EF4-FFF2-40B4-BE49-F238E27FC236}">
                  <a16:creationId xmlns:a16="http://schemas.microsoft.com/office/drawing/2014/main" id="{01E911D7-4D14-4F0F-8E95-249201E04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2188" y="5581650"/>
              <a:ext cx="917575" cy="400050"/>
            </a:xfrm>
            <a:prstGeom prst="rect">
              <a:avLst/>
            </a:prstGeom>
            <a:gradFill>
              <a:gsLst>
                <a:gs pos="29230">
                  <a:srgbClr val="CDF4B4"/>
                </a:gs>
                <a:gs pos="0">
                  <a:schemeClr val="accent2">
                    <a:lumMod val="40000"/>
                    <a:lumOff val="6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Arial Unicode MS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HK" altLang="zh-CN" sz="2000" dirty="0"/>
                <a:t>HW#1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681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– Resource management via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8329" y="956433"/>
            <a:ext cx="2413471" cy="168047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OS provides services via </a:t>
            </a:r>
            <a:r>
              <a:rPr lang="en-US" altLang="ko-KR" sz="1400" b="1" dirty="0"/>
              <a:t>System Call</a:t>
            </a:r>
            <a:r>
              <a:rPr lang="en-US" altLang="ko-KR" sz="1400" dirty="0"/>
              <a:t> (typically a few hundred) to run </a:t>
            </a:r>
            <a:r>
              <a:rPr lang="en-US" altLang="ko-KR" sz="1400" b="1" dirty="0"/>
              <a:t>process</a:t>
            </a:r>
            <a:r>
              <a:rPr lang="en-US" altLang="ko-KR" sz="1400" dirty="0"/>
              <a:t>, access memory/devices/files, etc. </a:t>
            </a:r>
          </a:p>
          <a:p>
            <a:pPr marL="457200" lvl="1" indent="0">
              <a:buNone/>
            </a:pPr>
            <a:endParaRPr lang="en-US" altLang="ko-KR" sz="1400" dirty="0"/>
          </a:p>
          <a:p>
            <a:pPr marL="457200" lvl="1" indent="0">
              <a:buNone/>
            </a:pPr>
            <a:endParaRPr lang="ko-KR" altLang="en-US"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962639"/>
            <a:ext cx="2341463" cy="1746297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2843808" y="830462"/>
            <a:ext cx="6120680" cy="5919617"/>
            <a:chOff x="2843808" y="830462"/>
            <a:chExt cx="6120680" cy="591961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3808" y="830462"/>
              <a:ext cx="6120680" cy="53701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006445" y="6165304"/>
              <a:ext cx="588603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Design Of The Unix Operating System (Maurice Bach, 1986)</a:t>
              </a:r>
              <a:endPara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HK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107504" y="2934582"/>
            <a:ext cx="2808312" cy="3734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"/>
              <a:defRPr kumimoji="1" sz="2000" b="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1pPr>
            <a:lvl2pPr marL="742950" indent="-28575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100000"/>
              <a:buFont typeface="Wingdings" pitchFamily="2" charset="2"/>
              <a:buChar char=""/>
              <a:defRPr kumimoji="1" sz="18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2pPr>
            <a:lvl3pPr marL="11430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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3pPr>
            <a:lvl4pPr marL="16002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Pct val="65000"/>
              <a:buFont typeface="Wingdings" pitchFamily="2" charset="2"/>
              <a:buChar char="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4pPr>
            <a:lvl5pPr marL="2057400" indent="-228600" algn="l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"/>
              <a:defRPr kumimoji="1" sz="1400">
                <a:solidFill>
                  <a:schemeClr val="tx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ko-KR" sz="1400" kern="0" dirty="0"/>
              <a:t>The OS </a:t>
            </a:r>
            <a:r>
              <a:rPr lang="en-US" altLang="ko-KR" sz="1400" b="1" kern="0" dirty="0"/>
              <a:t>manages resources </a:t>
            </a:r>
            <a:r>
              <a:rPr lang="en-US" altLang="ko-KR" sz="1400" kern="0" dirty="0"/>
              <a:t>such as </a:t>
            </a:r>
            <a:r>
              <a:rPr lang="en-US" altLang="ko-KR" sz="1400" i="1" kern="0" dirty="0"/>
              <a:t>CPU</a:t>
            </a:r>
            <a:r>
              <a:rPr lang="en-US" altLang="ko-KR" sz="1400" kern="0" dirty="0"/>
              <a:t>, </a:t>
            </a:r>
            <a:r>
              <a:rPr lang="en-US" altLang="ko-KR" sz="1400" i="1" kern="0" dirty="0"/>
              <a:t>memory</a:t>
            </a:r>
            <a:r>
              <a:rPr lang="en-US" altLang="ko-KR" sz="1400" kern="0" dirty="0"/>
              <a:t> and </a:t>
            </a:r>
            <a:r>
              <a:rPr lang="en-US" altLang="ko-KR" sz="1400" i="1" kern="0" dirty="0"/>
              <a:t>disk</a:t>
            </a:r>
            <a:r>
              <a:rPr lang="en-US" altLang="ko-KR" sz="1400" kern="0" dirty="0"/>
              <a:t> via </a:t>
            </a:r>
            <a:r>
              <a:rPr lang="en-US" altLang="ko-KR" sz="1400" b="1" kern="0" dirty="0"/>
              <a:t>virtualization</a:t>
            </a:r>
            <a:r>
              <a:rPr lang="en-US" altLang="ko-KR" sz="1400" kern="0" dirty="0"/>
              <a:t>.</a:t>
            </a:r>
          </a:p>
          <a:p>
            <a:pPr indent="-285750"/>
            <a:r>
              <a:rPr lang="en-US" altLang="ko-KR" sz="1400" kern="0" dirty="0"/>
              <a:t>many programs to run (processes) </a:t>
            </a:r>
            <a:r>
              <a:rPr lang="en-US" altLang="ko-KR" sz="1400" kern="0" dirty="0">
                <a:sym typeface="Wingdings" pitchFamily="2" charset="2"/>
              </a:rPr>
              <a:t> Sharing the CPU</a:t>
            </a:r>
          </a:p>
          <a:p>
            <a:pPr indent="-285750"/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many processes to </a:t>
            </a:r>
            <a:r>
              <a:rPr lang="en-US" altLang="ko-KR" sz="1400" i="1" kern="0" dirty="0">
                <a:solidFill>
                  <a:srgbClr val="C00000"/>
                </a:solidFill>
                <a:sym typeface="Wingdings" pitchFamily="2" charset="2"/>
              </a:rPr>
              <a:t>concurrently</a:t>
            </a:r>
            <a:r>
              <a:rPr lang="en-US" altLang="ko-KR" sz="1400" kern="0" dirty="0">
                <a:solidFill>
                  <a:srgbClr val="C00000"/>
                </a:solidFill>
                <a:sym typeface="Wingdings" pitchFamily="2" charset="2"/>
              </a:rPr>
              <a:t> access their own instructions and data  Sharing </a:t>
            </a:r>
            <a:r>
              <a:rPr lang="en-US" altLang="ko-KR" sz="1400" u="sng" kern="0" dirty="0">
                <a:solidFill>
                  <a:srgbClr val="C00000"/>
                </a:solidFill>
                <a:sym typeface="Wingdings" pitchFamily="2" charset="2"/>
              </a:rPr>
              <a:t>memory</a:t>
            </a:r>
          </a:p>
          <a:p>
            <a:pPr indent="-285750"/>
            <a:r>
              <a:rPr lang="en-US" altLang="ko-KR" sz="1400" kern="0" dirty="0">
                <a:sym typeface="Wingdings" pitchFamily="2" charset="2"/>
              </a:rPr>
              <a:t>many processes to access devices  Sharing </a:t>
            </a:r>
            <a:r>
              <a:rPr lang="en-US" altLang="ko-KR" sz="1400" u="sng" kern="0" dirty="0">
                <a:sym typeface="Wingdings" pitchFamily="2" charset="2"/>
              </a:rPr>
              <a:t>disks</a:t>
            </a:r>
          </a:p>
          <a:p>
            <a:pPr marL="457200" lvl="1" indent="0">
              <a:buNone/>
            </a:pPr>
            <a:endParaRPr lang="en-US" altLang="ko-KR" kern="0" dirty="0">
              <a:sym typeface="Wingdings" pitchFamily="2" charset="2"/>
            </a:endParaRPr>
          </a:p>
          <a:p>
            <a:endParaRPr lang="en-US" altLang="ko-KR" u="sng" kern="0" dirty="0"/>
          </a:p>
          <a:p>
            <a:pPr lvl="1"/>
            <a:endParaRPr lang="ko-KR" altLang="en-US" kern="0" dirty="0"/>
          </a:p>
        </p:txBody>
      </p:sp>
      <p:sp>
        <p:nvSpPr>
          <p:cNvPr id="12" name="Rounded Rectangle 11"/>
          <p:cNvSpPr/>
          <p:nvPr/>
        </p:nvSpPr>
        <p:spPr>
          <a:xfrm>
            <a:off x="107504" y="2837478"/>
            <a:ext cx="2828157" cy="3543850"/>
          </a:xfrm>
          <a:prstGeom prst="roundRect">
            <a:avLst/>
          </a:prstGeom>
          <a:solidFill>
            <a:schemeClr val="accent5">
              <a:lumMod val="40000"/>
              <a:lumOff val="60000"/>
              <a:alpha val="26000"/>
            </a:schemeClr>
          </a:solidFill>
          <a:ln w="9525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en-HK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0230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I: Address Space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69373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4205114"/>
          </a:xfrm>
        </p:spPr>
        <p:txBody>
          <a:bodyPr/>
          <a:lstStyle/>
          <a:p>
            <a:r>
              <a:rPr lang="en-US" altLang="ko-KR" dirty="0"/>
              <a:t>What is </a:t>
            </a:r>
            <a:r>
              <a:rPr lang="en-US" altLang="ko-KR" b="1" dirty="0"/>
              <a:t>memory virtualization</a:t>
            </a:r>
            <a:r>
              <a:rPr lang="en-US" altLang="ko-KR" b="0" dirty="0"/>
              <a:t>?</a:t>
            </a:r>
          </a:p>
          <a:p>
            <a:pPr lvl="1"/>
            <a:r>
              <a:rPr lang="en-US" altLang="ko-KR" dirty="0"/>
              <a:t>OS virtualizes its physical memory.</a:t>
            </a:r>
            <a:endParaRPr lang="en-US" altLang="ko-KR" b="0" dirty="0"/>
          </a:p>
          <a:p>
            <a:pPr lvl="1"/>
            <a:r>
              <a:rPr lang="en-US" altLang="ko-KR" dirty="0"/>
              <a:t>OS provides an </a:t>
            </a:r>
            <a:r>
              <a:rPr lang="en-US" altLang="ko-KR" dirty="0">
                <a:solidFill>
                  <a:schemeClr val="accent1"/>
                </a:solidFill>
              </a:rPr>
              <a:t>illusion memory space </a:t>
            </a:r>
            <a:r>
              <a:rPr lang="en-US" altLang="ko-KR" dirty="0"/>
              <a:t>per each process.</a:t>
            </a:r>
          </a:p>
          <a:p>
            <a:pPr lvl="1"/>
            <a:r>
              <a:rPr lang="en-US" altLang="ko-KR" dirty="0"/>
              <a:t>It seems to be seen like </a:t>
            </a:r>
            <a:r>
              <a:rPr lang="en-US" altLang="ko-KR" dirty="0">
                <a:solidFill>
                  <a:schemeClr val="accent1"/>
                </a:solidFill>
              </a:rPr>
              <a:t>each process uses the whole memory</a:t>
            </a:r>
            <a:r>
              <a:rPr lang="en-US" altLang="ko-KR" dirty="0"/>
              <a:t> .</a:t>
            </a:r>
            <a:endParaRPr lang="en-US" altLang="ko-KR" sz="1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265103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Benefit of Memory Virtualization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Ease of use in programming</a:t>
            </a:r>
          </a:p>
          <a:p>
            <a:r>
              <a:rPr lang="en-US" altLang="ko-KR" dirty="0"/>
              <a:t>Memory efficiency in terms of </a:t>
            </a:r>
            <a:r>
              <a:rPr lang="en-US" altLang="ko-KR" dirty="0">
                <a:solidFill>
                  <a:schemeClr val="accent1"/>
                </a:solidFill>
              </a:rPr>
              <a:t>time</a:t>
            </a:r>
            <a:r>
              <a:rPr lang="en-US" altLang="ko-KR" dirty="0"/>
              <a:t> and </a:t>
            </a:r>
            <a:r>
              <a:rPr lang="en-US" altLang="ko-KR" dirty="0">
                <a:solidFill>
                  <a:schemeClr val="accent1"/>
                </a:solidFill>
              </a:rPr>
              <a:t>space</a:t>
            </a:r>
          </a:p>
          <a:p>
            <a:r>
              <a:rPr lang="en-US" altLang="ko-KR" dirty="0"/>
              <a:t>The guarantee of isolation for processes as well as OS</a:t>
            </a:r>
          </a:p>
          <a:p>
            <a:pPr lvl="1"/>
            <a:r>
              <a:rPr lang="en-US" altLang="ko-KR" dirty="0"/>
              <a:t>Protection from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errant accesses</a:t>
            </a:r>
            <a:r>
              <a:rPr lang="en-US" altLang="ko-KR" dirty="0"/>
              <a:t> of other processes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557001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in The Early 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908720"/>
            <a:ext cx="8786812" cy="5501258"/>
          </a:xfrm>
        </p:spPr>
        <p:txBody>
          <a:bodyPr/>
          <a:lstStyle/>
          <a:p>
            <a:r>
              <a:rPr lang="en-US" altLang="ko-KR" dirty="0"/>
              <a:t>Load only one process in memory.</a:t>
            </a:r>
          </a:p>
          <a:p>
            <a:pPr lvl="1"/>
            <a:r>
              <a:rPr lang="en-US" altLang="ko-KR" dirty="0"/>
              <a:t>Poor utilization and efficiency</a:t>
            </a:r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</p:txBody>
      </p:sp>
      <p:grpSp>
        <p:nvGrpSpPr>
          <p:cNvPr id="51" name="그룹 50"/>
          <p:cNvGrpSpPr/>
          <p:nvPr/>
        </p:nvGrpSpPr>
        <p:grpSpPr>
          <a:xfrm>
            <a:off x="2987824" y="1988840"/>
            <a:ext cx="2376264" cy="4176464"/>
            <a:chOff x="581763" y="1412776"/>
            <a:chExt cx="1974013" cy="4176464"/>
          </a:xfrm>
        </p:grpSpPr>
        <p:sp>
          <p:nvSpPr>
            <p:cNvPr id="52" name="TextBox 51"/>
            <p:cNvSpPr txBox="1"/>
            <p:nvPr/>
          </p:nvSpPr>
          <p:spPr>
            <a:xfrm>
              <a:off x="647563" y="1412776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81763" y="2266999"/>
              <a:ext cx="6120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81763" y="5281463"/>
              <a:ext cx="5712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max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223628" y="1558946"/>
              <a:ext cx="1332148" cy="86194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Operating System</a:t>
              </a: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(code, data, etc.)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223628" y="2420888"/>
              <a:ext cx="1332148" cy="30662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Current</a:t>
              </a:r>
            </a:p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</a:t>
              </a:r>
            </a:p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(code, data, etc.)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673585" y="6073551"/>
            <a:ext cx="18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525943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Multiprogramming and Time Sharing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1"/>
                </a:solidFill>
              </a:rPr>
              <a:t>Load multiple processes </a:t>
            </a:r>
            <a:r>
              <a:rPr lang="en-US" altLang="ko-KR" dirty="0"/>
              <a:t>in memory.</a:t>
            </a:r>
          </a:p>
          <a:p>
            <a:pPr lvl="1"/>
            <a:r>
              <a:rPr lang="en-US" altLang="ko-KR" dirty="0"/>
              <a:t>Execute one for a short while.</a:t>
            </a:r>
          </a:p>
          <a:p>
            <a:pPr lvl="1"/>
            <a:r>
              <a:rPr lang="en-US" altLang="ko-KR" dirty="0"/>
              <a:t>Switch processes between them in memory.</a:t>
            </a:r>
          </a:p>
          <a:p>
            <a:pPr lvl="1"/>
            <a:r>
              <a:rPr lang="en-US" altLang="ko-KR" dirty="0"/>
              <a:t>Increase utilization and efficiency.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Cause an important </a:t>
            </a:r>
            <a:r>
              <a:rPr lang="en-US" altLang="ko-KR" b="1" dirty="0"/>
              <a:t>protection issue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Errant memory accesses from other processes</a:t>
            </a:r>
          </a:p>
          <a:p>
            <a:pPr lvl="2"/>
            <a:endParaRPr lang="en-US" altLang="ko-KR" sz="14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lvl="1"/>
            <a:endParaRPr lang="en-US" altLang="ko-KR" sz="1600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6189642" y="1198332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6177" y="168264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854612" y="1352706"/>
            <a:ext cx="1533812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854612" y="2355639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C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6854612" y="1851583"/>
            <a:ext cx="1533812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854612" y="2854516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854612" y="3353393"/>
            <a:ext cx="1533812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854612" y="3857449"/>
            <a:ext cx="1533812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(code, data, etc.)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32240" y="5466549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854611" y="4356326"/>
            <a:ext cx="1532978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6854611" y="4860382"/>
            <a:ext cx="1533811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Free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56177" y="2185119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56178" y="2716016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192KB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56176" y="32148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256KB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56180" y="3718949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56180" y="4217826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384KB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56177" y="472514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56176" y="518955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512KB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4273501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Space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9512" y="808062"/>
            <a:ext cx="8786812" cy="5501258"/>
          </a:xfrm>
        </p:spPr>
        <p:txBody>
          <a:bodyPr/>
          <a:lstStyle/>
          <a:p>
            <a:r>
              <a:rPr lang="en-US" altLang="ko-KR" dirty="0"/>
              <a:t>OS creates an </a:t>
            </a:r>
            <a:r>
              <a:rPr lang="en-US" altLang="ko-KR" b="1" dirty="0"/>
              <a:t>abstraction</a:t>
            </a:r>
            <a:r>
              <a:rPr lang="en-US" altLang="ko-KR" dirty="0"/>
              <a:t> of physical memory.</a:t>
            </a:r>
          </a:p>
          <a:p>
            <a:pPr lvl="1"/>
            <a:r>
              <a:rPr lang="en-US" altLang="ko-KR" dirty="0"/>
              <a:t>The address space contains all about a running process.</a:t>
            </a:r>
          </a:p>
          <a:p>
            <a:pPr lvl="1"/>
            <a:r>
              <a:rPr lang="en-US" altLang="ko-KR" dirty="0"/>
              <a:t>That is consist of program code, data, heap, and stack</a:t>
            </a:r>
            <a:endParaRPr lang="en-US" altLang="ko-KR" sz="1600" dirty="0"/>
          </a:p>
          <a:p>
            <a:endParaRPr lang="ko-KR" altLang="en-US" sz="1800" dirty="0"/>
          </a:p>
        </p:txBody>
      </p:sp>
      <p:grpSp>
        <p:nvGrpSpPr>
          <p:cNvPr id="8" name="그룹 7"/>
          <p:cNvGrpSpPr/>
          <p:nvPr/>
        </p:nvGrpSpPr>
        <p:grpSpPr>
          <a:xfrm>
            <a:off x="3059832" y="2452359"/>
            <a:ext cx="3757617" cy="3726409"/>
            <a:chOff x="3059832" y="2525414"/>
            <a:chExt cx="3757617" cy="3726409"/>
          </a:xfrm>
        </p:grpSpPr>
        <p:cxnSp>
          <p:nvCxnSpPr>
            <p:cNvPr id="7" name="직선 화살표 연결선 6"/>
            <p:cNvCxnSpPr/>
            <p:nvPr/>
          </p:nvCxnSpPr>
          <p:spPr>
            <a:xfrm>
              <a:off x="6817449" y="5656015"/>
              <a:ext cx="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114969" y="2525414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61031" y="2627524"/>
              <a:ext cx="1332148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 /Data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661031" y="3625277"/>
              <a:ext cx="1332148" cy="201099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</a:p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flipV="1">
              <a:off x="4327105" y="4993431"/>
              <a:ext cx="0" cy="6428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stCxn id="37" idx="0"/>
            </p:cNvCxnSpPr>
            <p:nvPr/>
          </p:nvCxnSpPr>
          <p:spPr>
            <a:xfrm>
              <a:off x="4327105" y="3625277"/>
              <a:ext cx="0" cy="498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114969" y="2982379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092501" y="3471388"/>
              <a:ext cx="5508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2KB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059832" y="5506053"/>
              <a:ext cx="616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15KB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059832" y="5944046"/>
              <a:ext cx="616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16KB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661031" y="312640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661031" y="563627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3610591" y="6073551"/>
            <a:ext cx="1433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93455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Space(Cont.)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/>
          <a:p>
            <a:r>
              <a:rPr lang="en-US" altLang="ko-KR" dirty="0"/>
              <a:t>Code</a:t>
            </a:r>
          </a:p>
          <a:p>
            <a:pPr lvl="1"/>
            <a:r>
              <a:rPr lang="en-US" altLang="ko-KR" dirty="0"/>
              <a:t>Where instructions live</a:t>
            </a:r>
          </a:p>
          <a:p>
            <a:r>
              <a:rPr lang="en-HK" altLang="ko-KR" dirty="0"/>
              <a:t>Data</a:t>
            </a:r>
          </a:p>
          <a:p>
            <a:pPr lvl="1"/>
            <a:r>
              <a:rPr lang="en-HK" altLang="ko-KR" dirty="0"/>
              <a:t>Global or static local variables</a:t>
            </a:r>
            <a:endParaRPr lang="en-US" altLang="ko-KR" dirty="0"/>
          </a:p>
          <a:p>
            <a:r>
              <a:rPr lang="en-US" altLang="ko-KR" dirty="0"/>
              <a:t>Heap</a:t>
            </a:r>
          </a:p>
          <a:p>
            <a:pPr lvl="1"/>
            <a:r>
              <a:rPr lang="en-US" altLang="ko-KR" dirty="0"/>
              <a:t>Dynamically allocate memory.</a:t>
            </a:r>
          </a:p>
          <a:p>
            <a:pPr lvl="2"/>
            <a:r>
              <a:rPr lang="en-US" altLang="ko-KR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en-US" altLang="ko-KR" dirty="0"/>
              <a:t> in C language</a:t>
            </a:r>
          </a:p>
          <a:p>
            <a:pPr lvl="2"/>
            <a:r>
              <a:rPr lang="en-US" altLang="ko-KR" dirty="0"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altLang="ko-KR" dirty="0"/>
              <a:t> in object-oriented language</a:t>
            </a:r>
          </a:p>
          <a:p>
            <a:r>
              <a:rPr lang="en-US" altLang="ko-KR" dirty="0"/>
              <a:t>Stack</a:t>
            </a:r>
          </a:p>
          <a:p>
            <a:pPr lvl="1"/>
            <a:r>
              <a:rPr lang="en-US" altLang="ko-KR" dirty="0"/>
              <a:t>Store return addresses or values.</a:t>
            </a:r>
          </a:p>
          <a:p>
            <a:pPr lvl="1"/>
            <a:r>
              <a:rPr lang="en-US" altLang="ko-KR" dirty="0"/>
              <a:t>Contain local variables arguments to routines.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6456142" y="1484784"/>
            <a:ext cx="3156418" cy="3507623"/>
            <a:chOff x="3661031" y="2627524"/>
            <a:chExt cx="3156418" cy="3507623"/>
          </a:xfrm>
        </p:grpSpPr>
        <p:cxnSp>
          <p:nvCxnSpPr>
            <p:cNvPr id="25" name="직선 화살표 연결선 24"/>
            <p:cNvCxnSpPr/>
            <p:nvPr/>
          </p:nvCxnSpPr>
          <p:spPr>
            <a:xfrm>
              <a:off x="6817449" y="5656015"/>
              <a:ext cx="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/>
            <p:cNvSpPr/>
            <p:nvPr/>
          </p:nvSpPr>
          <p:spPr>
            <a:xfrm>
              <a:off x="3661031" y="2627524"/>
              <a:ext cx="1332148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Program Code /Data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61031" y="3625277"/>
              <a:ext cx="1332148" cy="2010992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(free)</a:t>
              </a:r>
            </a:p>
            <a:p>
              <a:pPr algn="ctr"/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 flipV="1">
              <a:off x="4327105" y="4993431"/>
              <a:ext cx="0" cy="6428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31" idx="0"/>
            </p:cNvCxnSpPr>
            <p:nvPr/>
          </p:nvCxnSpPr>
          <p:spPr>
            <a:xfrm>
              <a:off x="4327105" y="3625277"/>
              <a:ext cx="0" cy="4988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직사각형 37"/>
            <p:cNvSpPr/>
            <p:nvPr/>
          </p:nvSpPr>
          <p:spPr>
            <a:xfrm>
              <a:off x="3661031" y="312640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Heap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661031" y="5636270"/>
              <a:ext cx="1332148" cy="4988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Stack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405702" y="5085184"/>
            <a:ext cx="1433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8807195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22B3-BD15-4A29-A41A-7799D7F3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Example from Linux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9764740-48A5-4789-AA03-2006BB503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800"/>
            <a:ext cx="5890209" cy="37444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48" y="1196752"/>
            <a:ext cx="1632345" cy="445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66622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Address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Every address</a:t>
            </a:r>
            <a:r>
              <a:rPr lang="en-US" altLang="ko-KR" dirty="0"/>
              <a:t> in a running program is virtual.</a:t>
            </a:r>
          </a:p>
          <a:p>
            <a:pPr lvl="1"/>
            <a:r>
              <a:rPr lang="en-US" altLang="ko-KR" dirty="0"/>
              <a:t>OS translates the virtual address to physical address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</p:txBody>
      </p:sp>
      <p:sp>
        <p:nvSpPr>
          <p:cNvPr id="6" name="직사각형 5"/>
          <p:cNvSpPr/>
          <p:nvPr/>
        </p:nvSpPr>
        <p:spPr>
          <a:xfrm>
            <a:off x="625674" y="2407528"/>
            <a:ext cx="7546726" cy="26776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stdio.h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#include &lt;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stdlib.h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&gt;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main(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char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[]){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code 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main);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heap 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malloc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));</a:t>
            </a:r>
          </a:p>
          <a:p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 = </a:t>
            </a:r>
            <a:r>
              <a:rPr lang="en-US" altLang="ko-KR" sz="1400" dirty="0">
                <a:solidFill>
                  <a:srgbClr val="FF00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3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("location of stack : %p\n", (</a:t>
            </a:r>
            <a:r>
              <a:rPr lang="en-US" altLang="ko-KR" sz="14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void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*) &amp;x);</a:t>
            </a:r>
          </a:p>
          <a:p>
            <a:endParaRPr lang="en-US" altLang="ko-KR" sz="14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  <a:p>
            <a:r>
              <a:rPr lang="en-US" altLang="ko-KR" sz="1400" dirty="0">
                <a:solidFill>
                  <a:srgbClr val="CCCC0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   </a:t>
            </a:r>
            <a:r>
              <a:rPr lang="en-US" altLang="ko-KR" sz="1400" dirty="0">
                <a:solidFill>
                  <a:srgbClr val="F79646">
                    <a:lumMod val="75000"/>
                  </a:srgbClr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x;</a:t>
            </a:r>
          </a:p>
          <a:p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3728" y="5158933"/>
            <a:ext cx="52565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 simple program that prints out addresses</a:t>
            </a:r>
          </a:p>
        </p:txBody>
      </p:sp>
    </p:spTree>
    <p:extLst>
      <p:ext uri="{BB962C8B-B14F-4D97-AF65-F5344CB8AC3E}">
        <p14:creationId xmlns:p14="http://schemas.microsoft.com/office/powerpoint/2010/main" val="4183992562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Address(Cont.)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output in 64-bit Linux machine</a:t>
            </a:r>
          </a:p>
          <a:p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6058410" y="2602937"/>
            <a:ext cx="1681939" cy="2815722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058413" y="1275803"/>
            <a:ext cx="1681939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(Text)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058409" y="5418659"/>
            <a:ext cx="168193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9" name="직선 화살표 연결선 28"/>
          <p:cNvCxnSpPr>
            <a:stCxn id="28" idx="0"/>
          </p:cNvCxnSpPr>
          <p:nvPr/>
        </p:nvCxnSpPr>
        <p:spPr>
          <a:xfrm flipH="1" flipV="1">
            <a:off x="6899377" y="4797152"/>
            <a:ext cx="2" cy="621507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stCxn id="25" idx="0"/>
          </p:cNvCxnSpPr>
          <p:nvPr/>
        </p:nvCxnSpPr>
        <p:spPr>
          <a:xfrm flipH="1">
            <a:off x="6899377" y="2602937"/>
            <a:ext cx="3" cy="53803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39592" y="4489375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98197" y="3140968"/>
            <a:ext cx="8636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84536" y="968026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058412" y="1796494"/>
            <a:ext cx="1681939" cy="5206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Data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058411" y="2317185"/>
            <a:ext cx="1681939" cy="28575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6058408" y="5704410"/>
            <a:ext cx="1681939" cy="39592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9AA3C8-07EC-4C71-137A-6AF8B3B1D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3" y="3428999"/>
            <a:ext cx="14" cy="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834726-FAEE-F1F3-86A2-8AE7C7348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559837"/>
            <a:ext cx="4057412" cy="75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73269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187983" y="52103"/>
            <a:ext cx="9675577" cy="8947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HK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pmap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 cat  /proc/&lt;</a:t>
            </a:r>
            <a:r>
              <a:rPr lang="en-HK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H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&gt;/maps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1104999"/>
            <a:ext cx="8208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  /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/&lt;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pid_number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&gt;/maps                                                    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pmap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-x &lt;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pid_number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BBCE11A-80C9-4307-A88D-54F2D40E3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98" y="3429000"/>
            <a:ext cx="4766242" cy="29525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4AF3E4-782F-C503-E765-9116C7BE1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56" y="1412776"/>
            <a:ext cx="4625559" cy="18722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5386AC-F3C3-D0BA-FB9B-909B4EF2A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393" y="1412776"/>
            <a:ext cx="3734151" cy="345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40192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HK" dirty="0"/>
              <a:t>Part II: Address Translation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34093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Memory Virtualizing with Efficiency and Control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Memory virtualizing takes a similar strategy known as </a:t>
            </a:r>
            <a:r>
              <a:rPr lang="en-US" altLang="ko-KR" b="1" dirty="0"/>
              <a:t>limited direct execution(LDE) </a:t>
            </a:r>
            <a:r>
              <a:rPr lang="en-US" altLang="ko-KR" dirty="0"/>
              <a:t>for efficiency and control</a:t>
            </a:r>
            <a:r>
              <a:rPr lang="en-US" altLang="ko-KR"/>
              <a:t>. </a:t>
            </a:r>
            <a:endParaRPr lang="en-US" altLang="ko-KR" dirty="0"/>
          </a:p>
          <a:p>
            <a:r>
              <a:rPr lang="en-US" altLang="ko-KR" dirty="0"/>
              <a:t>In memory virtualizing,</a:t>
            </a:r>
            <a:r>
              <a:rPr lang="en-US" altLang="ko-KR" b="1" dirty="0"/>
              <a:t> </a:t>
            </a:r>
            <a:r>
              <a:rPr lang="en-US" altLang="ko-KR" dirty="0"/>
              <a:t>efficiency and control are attained by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hardware support.</a:t>
            </a:r>
          </a:p>
          <a:p>
            <a:pPr lvl="1"/>
            <a:r>
              <a:rPr lang="en-US" altLang="ko-KR" dirty="0"/>
              <a:t>e.g., registers, TLB(Translation Look-aside Buffer)s, page-table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6966358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Hardware transforms a </a:t>
            </a:r>
            <a:r>
              <a:rPr lang="en-US" altLang="ko-KR" b="1" dirty="0"/>
              <a:t>virtual address </a:t>
            </a:r>
            <a:r>
              <a:rPr lang="en-US" altLang="ko-KR" dirty="0"/>
              <a:t>to a </a:t>
            </a:r>
            <a:r>
              <a:rPr lang="en-US" altLang="ko-KR" b="1" dirty="0"/>
              <a:t>physical address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The desired information is actually stored in a physical address.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must get involved at key points to set up the hardware.</a:t>
            </a:r>
          </a:p>
          <a:p>
            <a:pPr lvl="1"/>
            <a:r>
              <a:rPr lang="en-US" altLang="ko-KR" dirty="0"/>
              <a:t>The OS must manage memory to judiciously intervene.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922361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Relocation Address Space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address space start at address 0.</a:t>
            </a:r>
          </a:p>
          <a:p>
            <a:r>
              <a:rPr lang="en-US" altLang="ko-KR" dirty="0"/>
              <a:t>The OS wants to place the process </a:t>
            </a:r>
            <a:r>
              <a:rPr lang="en-US" altLang="ko-KR" b="1" dirty="0"/>
              <a:t>somewhere else </a:t>
            </a:r>
            <a:r>
              <a:rPr lang="en-US" altLang="ko-KR" dirty="0"/>
              <a:t>in physical memory, not at address 0.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723698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Single Relocated Process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528176" y="2737446"/>
            <a:ext cx="1681939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28175" y="4999203"/>
            <a:ext cx="1681939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 flipV="1">
            <a:off x="2369142" y="4581070"/>
            <a:ext cx="4" cy="41813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>
            <a:off x="2369142" y="2572083"/>
            <a:ext cx="5" cy="61694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56768" y="4221437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56768" y="3304472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528177" y="1991873"/>
            <a:ext cx="1681939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528499" y="1134617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722" y="560209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0672" y="980728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35961" y="4316211"/>
            <a:ext cx="168193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35639" y="2058160"/>
            <a:ext cx="1681939" cy="10442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635961" y="1124990"/>
            <a:ext cx="168193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5046" y="103864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5046" y="188224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05722" y="278092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2040" y="416232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2040" y="544820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635961" y="2915415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5635961" y="3315643"/>
            <a:ext cx="168193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    but not in use)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635638" y="3115529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5635961" y="4116097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35" name="직선 화살표 연결선 34"/>
          <p:cNvCxnSpPr>
            <a:stCxn id="32" idx="0"/>
          </p:cNvCxnSpPr>
          <p:nvPr/>
        </p:nvCxnSpPr>
        <p:spPr>
          <a:xfrm flipH="1">
            <a:off x="6476607" y="3315643"/>
            <a:ext cx="324" cy="1712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2" idx="2"/>
          </p:cNvCxnSpPr>
          <p:nvPr/>
        </p:nvCxnSpPr>
        <p:spPr>
          <a:xfrm flipH="1" flipV="1">
            <a:off x="6476607" y="3930184"/>
            <a:ext cx="324" cy="18591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/>
          <p:nvPr/>
        </p:nvCxnSpPr>
        <p:spPr>
          <a:xfrm>
            <a:off x="7418331" y="2982864"/>
            <a:ext cx="12700" cy="1255109"/>
          </a:xfrm>
          <a:prstGeom prst="bentConnector3">
            <a:avLst>
              <a:gd name="adj1" fmla="val 1050000"/>
            </a:avLst>
          </a:prstGeom>
          <a:ln w="127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flipV="1">
            <a:off x="7596336" y="2774463"/>
            <a:ext cx="400110" cy="167191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Relocated Process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71945" y="5833060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580112" y="5625300"/>
            <a:ext cx="1751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3210114" y="1134617"/>
            <a:ext cx="2425847" cy="1780798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 flipV="1">
            <a:off x="3210438" y="4316212"/>
            <a:ext cx="2425200" cy="1479414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27468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and Bounds Register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104240" y="2737446"/>
            <a:ext cx="1681939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04239" y="4999203"/>
            <a:ext cx="1681939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6" idx="2"/>
          </p:cNvCxnSpPr>
          <p:nvPr/>
        </p:nvCxnSpPr>
        <p:spPr>
          <a:xfrm flipH="1" flipV="1">
            <a:off x="2945206" y="4581070"/>
            <a:ext cx="4" cy="418134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>
            <a:off x="2945206" y="2572083"/>
            <a:ext cx="5" cy="616943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2832" y="4221437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stack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32832" y="3304472"/>
            <a:ext cx="624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heap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04241" y="1991873"/>
            <a:ext cx="1681939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04563" y="1134617"/>
            <a:ext cx="1681939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648" y="578551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7248" y="980728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47929" y="4316211"/>
            <a:ext cx="168193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47607" y="2058160"/>
            <a:ext cx="1681939" cy="10442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347929" y="1124990"/>
            <a:ext cx="168193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4079" y="102467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04079" y="1868269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74755" y="276695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74755" y="414834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4755" y="5434230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347929" y="2915415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347929" y="3315643"/>
            <a:ext cx="168193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47606" y="3115529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47929" y="4116097"/>
            <a:ext cx="168193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 flipH="1">
            <a:off x="6188575" y="3315643"/>
            <a:ext cx="324" cy="171277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H="1" flipV="1">
            <a:off x="6188575" y="3930184"/>
            <a:ext cx="324" cy="185913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48009" y="5833060"/>
            <a:ext cx="1595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51548" y="5625300"/>
            <a:ext cx="16687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786178" y="1134616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7029868" y="291541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689327" y="2756100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32KB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56576" y="2448323"/>
            <a:ext cx="1264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 register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 flipV="1">
            <a:off x="1532032" y="5795626"/>
            <a:ext cx="519688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88527" y="5636311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535" y="5317523"/>
            <a:ext cx="15071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 register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786178" y="4316211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381915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Dynamic(Hardware base) Relocation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a program starts running, the OS decides </a:t>
            </a:r>
            <a:r>
              <a:rPr lang="en-US" altLang="ko-KR" b="1" dirty="0"/>
              <a:t>where</a:t>
            </a:r>
            <a:r>
              <a:rPr lang="en-US" altLang="ko-KR" dirty="0"/>
              <a:t> in physical memory a process should be </a:t>
            </a:r>
            <a:r>
              <a:rPr lang="en-US" altLang="ko-KR" b="1" dirty="0"/>
              <a:t>loaded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Set the </a:t>
            </a:r>
            <a:r>
              <a:rPr lang="en-US" altLang="ko-KR" b="1" dirty="0"/>
              <a:t>base</a:t>
            </a:r>
            <a:r>
              <a:rPr lang="en-US" altLang="ko-KR" dirty="0"/>
              <a:t> register a value.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Every virtual address must </a:t>
            </a:r>
            <a:r>
              <a:rPr lang="en-US" altLang="ko-KR" b="1" dirty="0"/>
              <a:t>not be greater than bound</a:t>
            </a:r>
            <a:r>
              <a:rPr lang="en-US" altLang="ko-KR" dirty="0"/>
              <a:t> and </a:t>
            </a:r>
            <a:r>
              <a:rPr lang="en-US" altLang="ko-KR" b="1" dirty="0"/>
              <a:t>negative.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모서리가 둥근 직사각형 5"/>
              <p:cNvSpPr/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𝑝h𝑦𝑐𝑎𝑙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𝑏𝑎𝑠𝑒</m:t>
                      </m:r>
                    </m:oMath>
                  </m:oMathPara>
                </a14:m>
                <a:endParaRPr lang="en-US" altLang="ko-KR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" name="모서리가 둥근 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564904"/>
                <a:ext cx="5256584" cy="648072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모서리가 둥근 직사각형 6"/>
              <p:cNvSpPr/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0≤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𝑣𝑖𝑟𝑡𝑢𝑎𝑙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𝑎𝑑𝑑𝑟𝑒𝑠𝑠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&lt;</m:t>
                      </m:r>
                      <m:r>
                        <a:rPr lang="en-US" altLang="ko-KR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𝑏𝑜𝑢𝑛𝑑𝑠</m:t>
                      </m:r>
                    </m:oMath>
                  </m:oMathPara>
                </a14:m>
                <a:endParaRPr lang="ko-KR" altLang="en-US" sz="1600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7" name="모서리가 둥근 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4365104"/>
                <a:ext cx="5328592" cy="64807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276655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Two ways of Bounds Register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195735" y="2881462"/>
            <a:ext cx="1417456" cy="2261758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(free)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5734" y="5143219"/>
            <a:ext cx="1417456" cy="79642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8" name="직선 화살표 연결선 7"/>
          <p:cNvCxnSpPr>
            <a:stCxn id="7" idx="0"/>
          </p:cNvCxnSpPr>
          <p:nvPr/>
        </p:nvCxnSpPr>
        <p:spPr>
          <a:xfrm flipV="1">
            <a:off x="2904462" y="4604568"/>
            <a:ext cx="324" cy="538651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12" idx="2"/>
          </p:cNvCxnSpPr>
          <p:nvPr/>
        </p:nvCxnSpPr>
        <p:spPr>
          <a:xfrm>
            <a:off x="2904464" y="2881462"/>
            <a:ext cx="322" cy="45158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195736" y="2135889"/>
            <a:ext cx="1417456" cy="74557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196058" y="1278633"/>
            <a:ext cx="1417456" cy="8572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Program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722" y="592953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0672" y="1124744"/>
            <a:ext cx="506991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74941" y="4460227"/>
            <a:ext cx="1557299" cy="1285884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174619" y="2202176"/>
            <a:ext cx="1557299" cy="8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174941" y="1269006"/>
            <a:ext cx="1557299" cy="9331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4026" y="118266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74026" y="2026261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44702" y="2924944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444702" y="430633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44702" y="5592222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174941" y="3059431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5174941" y="3459659"/>
            <a:ext cx="1557299" cy="80045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3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                  but 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174941" y="3259545"/>
            <a:ext cx="1557000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174941" y="4260113"/>
            <a:ext cx="1557299" cy="20011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cxnSp>
        <p:nvCxnSpPr>
          <p:cNvPr id="28" name="직선 화살표 연결선 27"/>
          <p:cNvCxnSpPr>
            <a:stCxn id="25" idx="0"/>
          </p:cNvCxnSpPr>
          <p:nvPr/>
        </p:nvCxnSpPr>
        <p:spPr>
          <a:xfrm>
            <a:off x="5953591" y="3459659"/>
            <a:ext cx="0" cy="183956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5" idx="2"/>
          </p:cNvCxnSpPr>
          <p:nvPr/>
        </p:nvCxnSpPr>
        <p:spPr>
          <a:xfrm flipV="1">
            <a:off x="5953591" y="4012341"/>
            <a:ext cx="0" cy="247772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947566" y="5933952"/>
            <a:ext cx="1914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Address Space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83772" y="5785753"/>
            <a:ext cx="1939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613190" y="1278632"/>
            <a:ext cx="1561428" cy="17807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 flipH="1">
            <a:off x="6760294" y="4460225"/>
            <a:ext cx="632440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7392734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846585" y="4307025"/>
            <a:ext cx="987129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16KB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163" y="3985319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직선 화살표 연결선 48"/>
          <p:cNvCxnSpPr/>
          <p:nvPr/>
        </p:nvCxnSpPr>
        <p:spPr>
          <a:xfrm flipV="1">
            <a:off x="3613190" y="4460227"/>
            <a:ext cx="1561751" cy="146297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모서리가 둥근 직사각형 39"/>
              <p:cNvSpPr/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𝒔𝒊𝒛𝒆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𝒔𝒑𝒂𝒄𝒆𝒆</m:t>
                      </m:r>
                    </m:oMath>
                  </m:oMathPara>
                </a14:m>
                <a:endParaRPr lang="en-US" altLang="ko-KR" sz="1400" b="1" dirty="0">
                  <a:solidFill>
                    <a:srgbClr val="4F81BD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40" name="모서리가 둥근 직사각형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76" y="3354174"/>
                <a:ext cx="1598146" cy="578882"/>
              </a:xfrm>
              <a:prstGeom prst="roundRect">
                <a:avLst/>
              </a:prstGeom>
              <a:blipFill rotWithShape="1">
                <a:blip r:embed="rId2"/>
                <a:stretch>
                  <a:fillRect r="-1894" b="-5155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모서리가 둥근 직사각형 40"/>
              <p:cNvSpPr/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90000" rIns="9000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𝒑𝒉𝒚𝒔𝒊𝒄𝒂𝒍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𝒂𝒅𝒅𝒓𝒆𝒔𝒔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𝒕𝒉𝒆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𝒆𝒏𝒅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 </m:t>
                      </m:r>
                      <m:r>
                        <a:rPr lang="en-US" altLang="ko-KR" sz="1400" b="1" i="1" smtClean="0">
                          <a:solidFill>
                            <a:srgbClr val="4F81BD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𝒐𝒇</m:t>
                      </m:r>
                    </m:oMath>
                  </m:oMathPara>
                </a14:m>
                <a:endParaRPr lang="en-US" altLang="ko-KR" sz="1400" b="1" i="1" dirty="0">
                  <a:solidFill>
                    <a:srgbClr val="4F81BD"/>
                  </a:solidFill>
                  <a:latin typeface="Cambria Math"/>
                  <a:ea typeface="맑은 고딕" pitchFamily="50" charset="-127"/>
                  <a:cs typeface="Courier New" pitchFamily="49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𝒂𝒅𝒅𝒓𝒆𝒔𝒔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 </m:t>
                    </m:r>
                    <m:r>
                      <a:rPr lang="en-US" altLang="ko-KR" sz="1400" b="1" i="1" smtClean="0">
                        <a:solidFill>
                          <a:srgbClr val="4F81BD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𝒔𝒑𝒂𝒄𝒆</m:t>
                    </m:r>
                  </m:oMath>
                </a14:m>
                <a:r>
                  <a:rPr lang="en-US" altLang="ko-KR" sz="1400" b="1" dirty="0">
                    <a:solidFill>
                      <a:srgbClr val="4F81BD"/>
                    </a:solidFill>
                    <a:latin typeface="Courier New" pitchFamily="49" charset="0"/>
                    <a:ea typeface="맑은 고딕" pitchFamily="50" charset="-127"/>
                    <a:cs typeface="Courier New" pitchFamily="49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모서리가 둥근 직사각형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193" y="3192419"/>
                <a:ext cx="1970209" cy="817245"/>
              </a:xfrm>
              <a:prstGeom prst="roundRect">
                <a:avLst/>
              </a:prstGeom>
              <a:blipFill rotWithShape="1">
                <a:blip r:embed="rId3"/>
                <a:stretch>
                  <a:fillRect r="-4923" b="-2206"/>
                </a:stretch>
              </a:blipFill>
              <a:ln w="12700">
                <a:solidFill>
                  <a:schemeClr val="tx1"/>
                </a:solidFill>
              </a:ln>
              <a:effectLst>
                <a:outerShdw sx="1000" sy="1000" rotWithShape="0">
                  <a:srgbClr val="000000"/>
                </a:outerShdw>
              </a:effec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꺾인 연결선 30"/>
          <p:cNvCxnSpPr/>
          <p:nvPr/>
        </p:nvCxnSpPr>
        <p:spPr>
          <a:xfrm rot="16200000" flipH="1">
            <a:off x="1150711" y="4888927"/>
            <a:ext cx="1246964" cy="843086"/>
          </a:xfrm>
          <a:prstGeom prst="bentConnector2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75890" y="4011946"/>
            <a:ext cx="795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8725293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/>
          <p:nvPr/>
        </p:nvSpPr>
        <p:spPr>
          <a:xfrm>
            <a:off x="2974707" y="2893989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60" name="Shape 660"/>
          <p:cNvSpPr/>
          <p:nvPr/>
        </p:nvSpPr>
        <p:spPr>
          <a:xfrm>
            <a:off x="2974707" y="3295826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61" name="Shape 661"/>
          <p:cNvSpPr/>
          <p:nvPr/>
        </p:nvSpPr>
        <p:spPr>
          <a:xfrm>
            <a:off x="2974707" y="369766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62" name="Shape 662"/>
          <p:cNvSpPr/>
          <p:nvPr/>
        </p:nvSpPr>
        <p:spPr>
          <a:xfrm>
            <a:off x="2974707" y="4099498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63" name="Shape 663"/>
          <p:cNvSpPr/>
          <p:nvPr/>
        </p:nvSpPr>
        <p:spPr>
          <a:xfrm>
            <a:off x="2974707" y="2492153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64" name="Shape 664"/>
          <p:cNvSpPr/>
          <p:nvPr/>
        </p:nvSpPr>
        <p:spPr>
          <a:xfrm>
            <a:off x="2974707" y="450133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65" name="Shape 665"/>
          <p:cNvSpPr/>
          <p:nvPr/>
        </p:nvSpPr>
        <p:spPr>
          <a:xfrm>
            <a:off x="2555776" y="398082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666" name="Shape 666"/>
          <p:cNvSpPr/>
          <p:nvPr/>
        </p:nvSpPr>
        <p:spPr>
          <a:xfrm>
            <a:off x="2555776" y="436257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667" name="Shape 667"/>
          <p:cNvSpPr/>
          <p:nvPr/>
        </p:nvSpPr>
        <p:spPr>
          <a:xfrm>
            <a:off x="2555776" y="476440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668" name="Shape 668"/>
          <p:cNvSpPr/>
          <p:nvPr/>
        </p:nvSpPr>
        <p:spPr>
          <a:xfrm>
            <a:off x="2555776" y="317715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669" name="Shape 669"/>
          <p:cNvSpPr/>
          <p:nvPr/>
        </p:nvSpPr>
        <p:spPr>
          <a:xfrm>
            <a:off x="2555776" y="357899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670" name="Shape 670"/>
          <p:cNvSpPr/>
          <p:nvPr/>
        </p:nvSpPr>
        <p:spPr>
          <a:xfrm>
            <a:off x="2555776" y="277531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671" name="Shape 671"/>
          <p:cNvSpPr/>
          <p:nvPr/>
        </p:nvSpPr>
        <p:spPr>
          <a:xfrm>
            <a:off x="2555776" y="237348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672" name="Shape 672"/>
          <p:cNvSpPr/>
          <p:nvPr/>
        </p:nvSpPr>
        <p:spPr>
          <a:xfrm>
            <a:off x="5963018" y="3530290"/>
            <a:ext cx="1150555" cy="3461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accent1"/>
                </a:solidFill>
              </a:rPr>
              <a:t>same code</a:t>
            </a:r>
          </a:p>
        </p:txBody>
      </p:sp>
      <p:sp>
        <p:nvSpPr>
          <p:cNvPr id="673" name="Shape 673"/>
          <p:cNvSpPr/>
          <p:nvPr/>
        </p:nvSpPr>
        <p:spPr>
          <a:xfrm flipH="1" flipV="1">
            <a:off x="4319383" y="3132641"/>
            <a:ext cx="1615580" cy="498305"/>
          </a:xfrm>
          <a:prstGeom prst="line">
            <a:avLst/>
          </a:prstGeom>
          <a:ln w="50800">
            <a:solidFill>
              <a:schemeClr val="accent1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74" name="Shape 674"/>
          <p:cNvSpPr/>
          <p:nvPr/>
        </p:nvSpPr>
        <p:spPr>
          <a:xfrm flipH="1">
            <a:off x="4319383" y="3802368"/>
            <a:ext cx="1615580" cy="498305"/>
          </a:xfrm>
          <a:prstGeom prst="line">
            <a:avLst/>
          </a:prstGeom>
          <a:ln w="50800">
            <a:solidFill>
              <a:schemeClr val="accent1"/>
            </a:solidFill>
            <a:miter lim="400000"/>
            <a:tailEnd type="triangle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461914"/>
            <a:ext cx="6192688" cy="742950"/>
          </a:xfrm>
        </p:spPr>
        <p:txBody>
          <a:bodyPr>
            <a:normAutofit/>
          </a:bodyPr>
          <a:lstStyle/>
          <a:p>
            <a:r>
              <a:rPr lang="en-US" sz="1600" dirty="0"/>
              <a:t>Physical </a:t>
            </a:r>
            <a:br>
              <a:rPr lang="en-US" sz="1600" dirty="0"/>
            </a:br>
            <a:r>
              <a:rPr lang="en-US" sz="1600" dirty="0"/>
              <a:t>Memory</a:t>
            </a:r>
          </a:p>
        </p:txBody>
      </p:sp>
      <p:sp>
        <p:nvSpPr>
          <p:cNvPr id="20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2773639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676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77" name="Shape 677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78" name="Shape 678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79" name="Shape 679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80" name="Shape 680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81" name="Shape 681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82" name="Shape 682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683" name="Shape 683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684" name="Shape 684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685" name="Shape 685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686" name="Shape 686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687" name="Shape 687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688" name="Shape 688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689" name="Shape 689"/>
          <p:cNvSpPr/>
          <p:nvPr/>
        </p:nvSpPr>
        <p:spPr>
          <a:xfrm flipH="1">
            <a:off x="3643306" y="1868870"/>
            <a:ext cx="342494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tx2"/>
              </a:solidFill>
            </a:endParaRPr>
          </a:p>
        </p:txBody>
      </p:sp>
      <p:sp>
        <p:nvSpPr>
          <p:cNvPr id="690" name="Shape 690"/>
          <p:cNvSpPr/>
          <p:nvPr/>
        </p:nvSpPr>
        <p:spPr>
          <a:xfrm>
            <a:off x="3987814" y="1692287"/>
            <a:ext cx="1637868" cy="346169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base register</a:t>
            </a:r>
          </a:p>
        </p:txBody>
      </p:sp>
      <p:sp>
        <p:nvSpPr>
          <p:cNvPr id="691" name="Shape 691"/>
          <p:cNvSpPr/>
          <p:nvPr/>
        </p:nvSpPr>
        <p:spPr>
          <a:xfrm>
            <a:off x="5920164" y="2352107"/>
            <a:ext cx="1637868" cy="346169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P1 is running</a:t>
            </a:r>
          </a:p>
        </p:txBody>
      </p:sp>
      <p:sp>
        <p:nvSpPr>
          <p:cNvPr id="20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1862030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694" name="Shape 694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95" name="Shape 695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96" name="Shape 696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697" name="Shape 697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98" name="Shape 698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699" name="Shape 699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700" name="Shape 700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701" name="Shape 701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702" name="Shape 702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703" name="Shape 703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704" name="Shape 704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705" name="Shape 705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706" name="Shape 706"/>
          <p:cNvSpPr/>
          <p:nvPr/>
        </p:nvSpPr>
        <p:spPr>
          <a:xfrm flipH="1">
            <a:off x="3643306" y="3074378"/>
            <a:ext cx="342494" cy="1"/>
          </a:xfrm>
          <a:prstGeom prst="line">
            <a:avLst/>
          </a:prstGeom>
          <a:ln w="25400">
            <a:solidFill>
              <a:schemeClr val="tx2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07" name="Shape 707"/>
          <p:cNvSpPr/>
          <p:nvPr/>
        </p:nvSpPr>
        <p:spPr>
          <a:xfrm>
            <a:off x="3987814" y="2897795"/>
            <a:ext cx="1637868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base register</a:t>
            </a:r>
          </a:p>
        </p:txBody>
      </p:sp>
      <p:sp>
        <p:nvSpPr>
          <p:cNvPr id="708" name="Shape 708"/>
          <p:cNvSpPr/>
          <p:nvPr/>
        </p:nvSpPr>
        <p:spPr>
          <a:xfrm>
            <a:off x="5920164" y="2352107"/>
            <a:ext cx="1637868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P2 is running</a:t>
            </a:r>
          </a:p>
        </p:txBody>
      </p:sp>
      <p:sp>
        <p:nvSpPr>
          <p:cNvPr id="20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2094897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Shape 710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11" name="Shape 711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12" name="Shape 712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13" name="Shape 713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14" name="Shape 714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15" name="Shape 715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16" name="Shape 716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717" name="Shape 717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718" name="Shape 718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719" name="Shape 719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720" name="Shape 720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721" name="Shape 721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722" name="Shape 722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723" name="Shape 723"/>
          <p:cNvSpPr/>
          <p:nvPr/>
        </p:nvSpPr>
        <p:spPr>
          <a:xfrm>
            <a:off x="4491975" y="1598897"/>
            <a:ext cx="153551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724" name="Shape 724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tx2"/>
              </a:solidFill>
            </a:endParaRPr>
          </a:p>
        </p:txBody>
      </p:sp>
      <p:sp>
        <p:nvSpPr>
          <p:cNvPr id="725" name="Shape 725"/>
          <p:cNvSpPr/>
          <p:nvPr/>
        </p:nvSpPr>
        <p:spPr>
          <a:xfrm flipH="1" flipV="1">
            <a:off x="4597773" y="1547739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tx2"/>
              </a:solidFill>
            </a:endParaRPr>
          </a:p>
        </p:txBody>
      </p:sp>
      <p:sp>
        <p:nvSpPr>
          <p:cNvPr id="726" name="Shape 726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727" name="Shape 727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91974" y="998033"/>
            <a:ext cx="158889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(Decimal notation)</a:t>
            </a:r>
          </a:p>
        </p:txBody>
      </p:sp>
      <p:sp>
        <p:nvSpPr>
          <p:cNvPr id="23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1451538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Shape 729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30" name="Shape 730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31" name="Shape 731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32" name="Shape 732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33" name="Shape 733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34" name="Shape 734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35" name="Shape 735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736" name="Shape 736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737" name="Shape 737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738" name="Shape 738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739" name="Shape 739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740" name="Shape 740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741" name="Shape 741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742" name="Shape 742"/>
          <p:cNvSpPr/>
          <p:nvPr/>
        </p:nvSpPr>
        <p:spPr>
          <a:xfrm>
            <a:off x="4460633" y="1598897"/>
            <a:ext cx="156685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743" name="Shape 743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44" name="Shape 744"/>
          <p:cNvSpPr/>
          <p:nvPr/>
        </p:nvSpPr>
        <p:spPr>
          <a:xfrm flipH="1" flipV="1">
            <a:off x="4597773" y="1556792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45" name="Shape 745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746" name="Shape 746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747" name="Shape 747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748" name="Shape 748"/>
          <p:cNvSpPr/>
          <p:nvPr/>
        </p:nvSpPr>
        <p:spPr>
          <a:xfrm>
            <a:off x="3632061" y="1886318"/>
            <a:ext cx="110157" cy="110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97181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2" name="TextBox 1"/>
          <p:cNvSpPr txBox="1"/>
          <p:nvPr/>
        </p:nvSpPr>
        <p:spPr>
          <a:xfrm>
            <a:off x="7775762" y="1588949"/>
            <a:ext cx="11705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(1024 + 100)</a:t>
            </a:r>
          </a:p>
        </p:txBody>
      </p:sp>
      <p:sp>
        <p:nvSpPr>
          <p:cNvPr id="25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1125908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Shape 750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51" name="Shape 751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52" name="Shape 752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53" name="Shape 753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54" name="Shape 754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55" name="Shape 755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56" name="Shape 756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757" name="Shape 757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758" name="Shape 758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759" name="Shape 759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760" name="Shape 760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761" name="Shape 761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762" name="Shape 762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763" name="Shape 763"/>
          <p:cNvSpPr/>
          <p:nvPr/>
        </p:nvSpPr>
        <p:spPr>
          <a:xfrm>
            <a:off x="4427985" y="1598897"/>
            <a:ext cx="159950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764" name="Shape 764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65" name="Shape 765"/>
          <p:cNvSpPr/>
          <p:nvPr/>
        </p:nvSpPr>
        <p:spPr>
          <a:xfrm flipH="1" flipV="1">
            <a:off x="4597773" y="1556792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66" name="Shape 766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767" name="Shape 767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768" name="Shape 768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769" name="Shape 769"/>
          <p:cNvSpPr/>
          <p:nvPr/>
        </p:nvSpPr>
        <p:spPr>
          <a:xfrm>
            <a:off x="4427985" y="1866788"/>
            <a:ext cx="159950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24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3078634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Shape 771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72" name="Shape 772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73" name="Shape 773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74" name="Shape 774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75" name="Shape 775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76" name="Shape 776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77" name="Shape 777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778" name="Shape 778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779" name="Shape 779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780" name="Shape 780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781" name="Shape 781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782" name="Shape 782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783" name="Shape 783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784" name="Shape 784"/>
          <p:cNvSpPr/>
          <p:nvPr/>
        </p:nvSpPr>
        <p:spPr>
          <a:xfrm>
            <a:off x="4509303" y="1598897"/>
            <a:ext cx="151818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785" name="Shape 785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86" name="Shape 786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87" name="Shape 787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788" name="Shape 788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789" name="Shape 789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790" name="Shape 790"/>
          <p:cNvSpPr/>
          <p:nvPr/>
        </p:nvSpPr>
        <p:spPr>
          <a:xfrm>
            <a:off x="4509303" y="1866788"/>
            <a:ext cx="1518187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791" name="Shape 791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792" name="Shape 792"/>
          <p:cNvSpPr/>
          <p:nvPr/>
        </p:nvSpPr>
        <p:spPr>
          <a:xfrm>
            <a:off x="3632061" y="3078432"/>
            <a:ext cx="110157" cy="110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97181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2" name="TextBox 1"/>
          <p:cNvSpPr txBox="1"/>
          <p:nvPr/>
        </p:nvSpPr>
        <p:spPr>
          <a:xfrm>
            <a:off x="7687198" y="1865798"/>
            <a:ext cx="117051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(4096 + 100)</a:t>
            </a:r>
          </a:p>
        </p:txBody>
      </p:sp>
      <p:sp>
        <p:nvSpPr>
          <p:cNvPr id="27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164287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Shape 794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95" name="Shape 795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96" name="Shape 796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97" name="Shape 797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798" name="Shape 798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799" name="Shape 799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00" name="Shape 800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801" name="Shape 801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802" name="Shape 802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803" name="Shape 803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804" name="Shape 804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805" name="Shape 805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806" name="Shape 806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807" name="Shape 807"/>
          <p:cNvSpPr/>
          <p:nvPr/>
        </p:nvSpPr>
        <p:spPr>
          <a:xfrm>
            <a:off x="4499993" y="1598897"/>
            <a:ext cx="152749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808" name="Shape 808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09" name="Shape 809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10" name="Shape 810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811" name="Shape 811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812" name="Shape 812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813" name="Shape 813"/>
          <p:cNvSpPr/>
          <p:nvPr/>
        </p:nvSpPr>
        <p:spPr>
          <a:xfrm>
            <a:off x="4499993" y="1866788"/>
            <a:ext cx="152749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814" name="Shape 814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815" name="Shape 815"/>
          <p:cNvSpPr/>
          <p:nvPr/>
        </p:nvSpPr>
        <p:spPr>
          <a:xfrm>
            <a:off x="4498062" y="2134679"/>
            <a:ext cx="155650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24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3341180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Shape 817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18" name="Shape 818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19" name="Shape 819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20" name="Shape 820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821" name="Shape 821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22" name="Shape 822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23" name="Shape 823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824" name="Shape 824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825" name="Shape 825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826" name="Shape 826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827" name="Shape 827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828" name="Shape 828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829" name="Shape 829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830" name="Shape 830"/>
          <p:cNvSpPr/>
          <p:nvPr/>
        </p:nvSpPr>
        <p:spPr>
          <a:xfrm>
            <a:off x="4427985" y="1598897"/>
            <a:ext cx="159950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831" name="Shape 831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32" name="Shape 832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33" name="Shape 833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834" name="Shape 834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835" name="Shape 835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836" name="Shape 836"/>
          <p:cNvSpPr/>
          <p:nvPr/>
        </p:nvSpPr>
        <p:spPr>
          <a:xfrm>
            <a:off x="4427985" y="1866788"/>
            <a:ext cx="159950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837" name="Shape 837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838" name="Shape 838"/>
          <p:cNvSpPr/>
          <p:nvPr/>
        </p:nvSpPr>
        <p:spPr>
          <a:xfrm>
            <a:off x="4424687" y="2134679"/>
            <a:ext cx="162988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839" name="Shape 839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840" name="Shape 840"/>
          <p:cNvSpPr/>
          <p:nvPr/>
        </p:nvSpPr>
        <p:spPr>
          <a:xfrm>
            <a:off x="3632061" y="3332928"/>
            <a:ext cx="110157" cy="110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97181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26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1906931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Shape 842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43" name="Shape 843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44" name="Shape 844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45" name="Shape 845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846" name="Shape 846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47" name="Shape 847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48" name="Shape 848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849" name="Shape 849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850" name="Shape 850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851" name="Shape 851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852" name="Shape 852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853" name="Shape 853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854" name="Shape 854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855" name="Shape 855"/>
          <p:cNvSpPr/>
          <p:nvPr/>
        </p:nvSpPr>
        <p:spPr>
          <a:xfrm>
            <a:off x="4431221" y="1598897"/>
            <a:ext cx="1596270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856" name="Shape 856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57" name="Shape 857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58" name="Shape 858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859" name="Shape 859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860" name="Shape 860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861" name="Shape 861"/>
          <p:cNvSpPr/>
          <p:nvPr/>
        </p:nvSpPr>
        <p:spPr>
          <a:xfrm>
            <a:off x="4431221" y="1866788"/>
            <a:ext cx="1596270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862" name="Shape 862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863" name="Shape 863"/>
          <p:cNvSpPr/>
          <p:nvPr/>
        </p:nvSpPr>
        <p:spPr>
          <a:xfrm>
            <a:off x="4427984" y="2134679"/>
            <a:ext cx="1626584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864" name="Shape 864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865" name="Shape 865"/>
          <p:cNvSpPr/>
          <p:nvPr/>
        </p:nvSpPr>
        <p:spPr>
          <a:xfrm>
            <a:off x="4427984" y="2402569"/>
            <a:ext cx="1626584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26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3455148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Shape 867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68" name="Shape 868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69" name="Shape 869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70" name="Shape 870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871" name="Shape 871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72" name="Shape 872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73" name="Shape 873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874" name="Shape 874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875" name="Shape 875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876" name="Shape 876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877" name="Shape 877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878" name="Shape 878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879" name="Shape 879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880" name="Shape 880"/>
          <p:cNvSpPr/>
          <p:nvPr/>
        </p:nvSpPr>
        <p:spPr>
          <a:xfrm>
            <a:off x="4501887" y="1598897"/>
            <a:ext cx="1525604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881" name="Shape 881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82" name="Shape 882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83" name="Shape 883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884" name="Shape 884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885" name="Shape 885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886" name="Shape 886"/>
          <p:cNvSpPr/>
          <p:nvPr/>
        </p:nvSpPr>
        <p:spPr>
          <a:xfrm>
            <a:off x="4501887" y="1866788"/>
            <a:ext cx="1525604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887" name="Shape 887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888" name="Shape 888"/>
          <p:cNvSpPr/>
          <p:nvPr/>
        </p:nvSpPr>
        <p:spPr>
          <a:xfrm>
            <a:off x="4499992" y="2134679"/>
            <a:ext cx="155457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889" name="Shape 889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890" name="Shape 890"/>
          <p:cNvSpPr/>
          <p:nvPr/>
        </p:nvSpPr>
        <p:spPr>
          <a:xfrm>
            <a:off x="4499992" y="2402569"/>
            <a:ext cx="1554576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891" name="Shape 891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892" name="Shape 892"/>
          <p:cNvSpPr/>
          <p:nvPr/>
        </p:nvSpPr>
        <p:spPr>
          <a:xfrm>
            <a:off x="3632061" y="2120722"/>
            <a:ext cx="110157" cy="110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97181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28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3383456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Shape 897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898" name="Shape 898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899" name="Shape 899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00" name="Shape 900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01" name="Shape 901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02" name="Shape 902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03" name="Shape 903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904" name="Shape 904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905" name="Shape 905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906" name="Shape 906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907" name="Shape 907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908" name="Shape 908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 dirty="0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909" name="Shape 909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910" name="Shape 910"/>
          <p:cNvSpPr/>
          <p:nvPr/>
        </p:nvSpPr>
        <p:spPr>
          <a:xfrm>
            <a:off x="4429972" y="1598897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911" name="Shape 911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12" name="Shape 912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13" name="Shape 913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914" name="Shape 914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915" name="Shape 915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916" name="Shape 916"/>
          <p:cNvSpPr/>
          <p:nvPr/>
        </p:nvSpPr>
        <p:spPr>
          <a:xfrm>
            <a:off x="4429972" y="1866788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917" name="Shape 917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918" name="Shape 918"/>
          <p:cNvSpPr/>
          <p:nvPr/>
        </p:nvSpPr>
        <p:spPr>
          <a:xfrm>
            <a:off x="4427984" y="213467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919" name="Shape 919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920" name="Shape 920"/>
          <p:cNvSpPr/>
          <p:nvPr/>
        </p:nvSpPr>
        <p:spPr>
          <a:xfrm>
            <a:off x="4427984" y="240256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921" name="Shape 921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922" name="Shape 922"/>
          <p:cNvSpPr/>
          <p:nvPr/>
        </p:nvSpPr>
        <p:spPr>
          <a:xfrm>
            <a:off x="3950833" y="3201579"/>
            <a:ext cx="1881525" cy="638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Can P2 hurt P1?</a:t>
            </a:r>
            <a:br>
              <a:rPr sz="1898" dirty="0">
                <a:solidFill>
                  <a:schemeClr val="tx2"/>
                </a:solidFill>
              </a:rPr>
            </a:br>
            <a:r>
              <a:rPr sz="1898" dirty="0">
                <a:solidFill>
                  <a:schemeClr val="tx2"/>
                </a:solidFill>
              </a:rPr>
              <a:t>Can P1 hurt P2?</a:t>
            </a:r>
          </a:p>
        </p:txBody>
      </p:sp>
      <p:sp>
        <p:nvSpPr>
          <p:cNvPr id="29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14127" y="4637848"/>
            <a:ext cx="58400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C00000"/>
                </a:solidFill>
              </a:rPr>
              <a:t>How to protect process with base register?</a:t>
            </a:r>
          </a:p>
        </p:txBody>
      </p:sp>
    </p:spTree>
    <p:extLst>
      <p:ext uri="{BB962C8B-B14F-4D97-AF65-F5344CB8AC3E}">
        <p14:creationId xmlns:p14="http://schemas.microsoft.com/office/powerpoint/2010/main" val="2843150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Shape 924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925" name="Shape 925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26" name="Shape 926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27" name="Shape 927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28" name="Shape 928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29" name="Shape 929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30" name="Shape 930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931" name="Shape 931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932" name="Shape 932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933" name="Shape 933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934" name="Shape 934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935" name="Shape 935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936" name="Shape 936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937" name="Shape 937"/>
          <p:cNvSpPr/>
          <p:nvPr/>
        </p:nvSpPr>
        <p:spPr>
          <a:xfrm>
            <a:off x="4429972" y="1598897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938" name="Shape 938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39" name="Shape 939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40" name="Shape 940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941" name="Shape 941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942" name="Shape 942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943" name="Shape 943"/>
          <p:cNvSpPr/>
          <p:nvPr/>
        </p:nvSpPr>
        <p:spPr>
          <a:xfrm>
            <a:off x="4429972" y="1866788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944" name="Shape 944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945" name="Shape 945"/>
          <p:cNvSpPr/>
          <p:nvPr/>
        </p:nvSpPr>
        <p:spPr>
          <a:xfrm>
            <a:off x="4427984" y="213467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946" name="Shape 946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947" name="Shape 947"/>
          <p:cNvSpPr/>
          <p:nvPr/>
        </p:nvSpPr>
        <p:spPr>
          <a:xfrm>
            <a:off x="4427984" y="240256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948" name="Shape 948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949" name="Shape 949"/>
          <p:cNvSpPr/>
          <p:nvPr/>
        </p:nvSpPr>
        <p:spPr>
          <a:xfrm>
            <a:off x="3950833" y="3201579"/>
            <a:ext cx="1881525" cy="638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Can P2 hurt P1?</a:t>
            </a:r>
            <a:br>
              <a:rPr sz="1898">
                <a:solidFill>
                  <a:schemeClr val="tx2"/>
                </a:solidFill>
              </a:rPr>
            </a:br>
            <a:r>
              <a:rPr sz="1898">
                <a:solidFill>
                  <a:schemeClr val="tx2"/>
                </a:solidFill>
              </a:rPr>
              <a:t>Can P1 hurt P2?</a:t>
            </a:r>
          </a:p>
        </p:txBody>
      </p:sp>
      <p:sp>
        <p:nvSpPr>
          <p:cNvPr id="950" name="Shape 950"/>
          <p:cNvSpPr/>
          <p:nvPr/>
        </p:nvSpPr>
        <p:spPr>
          <a:xfrm>
            <a:off x="4423318" y="2670460"/>
            <a:ext cx="162790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P1: store 3072, R1</a:t>
            </a:r>
          </a:p>
        </p:txBody>
      </p:sp>
      <p:sp>
        <p:nvSpPr>
          <p:cNvPr id="951" name="Shape 951"/>
          <p:cNvSpPr/>
          <p:nvPr/>
        </p:nvSpPr>
        <p:spPr>
          <a:xfrm>
            <a:off x="6141932" y="2670460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store 4096, R1</a:t>
            </a:r>
          </a:p>
        </p:txBody>
      </p:sp>
      <p:sp>
        <p:nvSpPr>
          <p:cNvPr id="952" name="Shape 952"/>
          <p:cNvSpPr/>
          <p:nvPr/>
        </p:nvSpPr>
        <p:spPr>
          <a:xfrm>
            <a:off x="3632061" y="3024854"/>
            <a:ext cx="110157" cy="1101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971817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>
              <a:solidFill>
                <a:schemeClr val="bg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463226" y="2673239"/>
            <a:ext cx="126669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/>
              <a:t>(3072 + 1024)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4127" y="4637848"/>
            <a:ext cx="584006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2"/>
                </a:solidFill>
              </a:rPr>
              <a:t>How to protect process with base register?</a:t>
            </a:r>
          </a:p>
        </p:txBody>
      </p:sp>
      <p:sp>
        <p:nvSpPr>
          <p:cNvPr id="33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Register </a:t>
            </a:r>
          </a:p>
        </p:txBody>
      </p:sp>
    </p:spTree>
    <p:extLst>
      <p:ext uri="{BB962C8B-B14F-4D97-AF65-F5344CB8AC3E}">
        <p14:creationId xmlns:p14="http://schemas.microsoft.com/office/powerpoint/2010/main" val="35734014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Shape 961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962" name="Shape 962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63" name="Shape 963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64" name="Shape 964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65" name="Shape 965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66" name="Shape 966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67" name="Shape 967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968" name="Shape 968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969" name="Shape 969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970" name="Shape 970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971" name="Shape 971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972" name="Shape 972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973" name="Shape 973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974" name="Shape 974"/>
          <p:cNvSpPr/>
          <p:nvPr/>
        </p:nvSpPr>
        <p:spPr>
          <a:xfrm flipH="1">
            <a:off x="3643306" y="1868870"/>
            <a:ext cx="342494" cy="1"/>
          </a:xfrm>
          <a:prstGeom prst="line">
            <a:avLst/>
          </a:prstGeom>
          <a:ln w="25400">
            <a:solidFill>
              <a:schemeClr val="tx2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75" name="Shape 975"/>
          <p:cNvSpPr/>
          <p:nvPr/>
        </p:nvSpPr>
        <p:spPr>
          <a:xfrm>
            <a:off x="3987814" y="1692287"/>
            <a:ext cx="1637868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base register</a:t>
            </a:r>
          </a:p>
        </p:txBody>
      </p:sp>
      <p:sp>
        <p:nvSpPr>
          <p:cNvPr id="976" name="Shape 976"/>
          <p:cNvSpPr/>
          <p:nvPr/>
        </p:nvSpPr>
        <p:spPr>
          <a:xfrm>
            <a:off x="5920164" y="2352107"/>
            <a:ext cx="1637868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P1 is running</a:t>
            </a:r>
          </a:p>
        </p:txBody>
      </p:sp>
      <p:sp>
        <p:nvSpPr>
          <p:cNvPr id="977" name="Shape 977"/>
          <p:cNvSpPr/>
          <p:nvPr/>
        </p:nvSpPr>
        <p:spPr>
          <a:xfrm>
            <a:off x="3721975" y="1868870"/>
            <a:ext cx="2014" cy="388442"/>
          </a:xfrm>
          <a:prstGeom prst="line">
            <a:avLst/>
          </a:prstGeom>
          <a:ln w="25400">
            <a:solidFill>
              <a:schemeClr val="tx2"/>
            </a:solidFill>
            <a:miter lim="400000"/>
            <a:headEnd type="triangle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bg2"/>
              </a:solidFill>
            </a:endParaRPr>
          </a:p>
        </p:txBody>
      </p:sp>
      <p:sp>
        <p:nvSpPr>
          <p:cNvPr id="978" name="Shape 978"/>
          <p:cNvSpPr/>
          <p:nvPr/>
        </p:nvSpPr>
        <p:spPr>
          <a:xfrm>
            <a:off x="3987814" y="2080728"/>
            <a:ext cx="1881525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bounds register</a:t>
            </a:r>
          </a:p>
        </p:txBody>
      </p:sp>
      <p:sp>
        <p:nvSpPr>
          <p:cNvPr id="20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+ Bounds </a:t>
            </a:r>
          </a:p>
        </p:txBody>
      </p:sp>
    </p:spTree>
    <p:extLst>
      <p:ext uri="{BB962C8B-B14F-4D97-AF65-F5344CB8AC3E}">
        <p14:creationId xmlns:p14="http://schemas.microsoft.com/office/powerpoint/2010/main" val="3852557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Shape 980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981" name="Shape 981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82" name="Shape 982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83" name="Shape 983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84" name="Shape 984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85" name="Shape 985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986" name="Shape 986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987" name="Shape 987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988" name="Shape 988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989" name="Shape 989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990" name="Shape 990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991" name="Shape 991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992" name="Shape 992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993" name="Shape 993"/>
          <p:cNvSpPr/>
          <p:nvPr/>
        </p:nvSpPr>
        <p:spPr>
          <a:xfrm>
            <a:off x="5920164" y="2352107"/>
            <a:ext cx="1637868" cy="3461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P2 is running</a:t>
            </a:r>
          </a:p>
        </p:txBody>
      </p:sp>
      <p:sp>
        <p:nvSpPr>
          <p:cNvPr id="994" name="Shape 994"/>
          <p:cNvSpPr/>
          <p:nvPr/>
        </p:nvSpPr>
        <p:spPr>
          <a:xfrm flipH="1">
            <a:off x="3643306" y="3074378"/>
            <a:ext cx="342494" cy="1"/>
          </a:xfrm>
          <a:prstGeom prst="line">
            <a:avLst/>
          </a:prstGeom>
          <a:ln w="25400">
            <a:solidFill>
              <a:schemeClr val="tx2"/>
            </a:solidFill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tx2"/>
              </a:solidFill>
            </a:endParaRPr>
          </a:p>
        </p:txBody>
      </p:sp>
      <p:sp>
        <p:nvSpPr>
          <p:cNvPr id="995" name="Shape 995"/>
          <p:cNvSpPr/>
          <p:nvPr/>
        </p:nvSpPr>
        <p:spPr>
          <a:xfrm>
            <a:off x="3987814" y="2897795"/>
            <a:ext cx="1637868" cy="3461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base register</a:t>
            </a:r>
          </a:p>
        </p:txBody>
      </p:sp>
      <p:sp>
        <p:nvSpPr>
          <p:cNvPr id="996" name="Shape 996"/>
          <p:cNvSpPr/>
          <p:nvPr/>
        </p:nvSpPr>
        <p:spPr>
          <a:xfrm flipH="1">
            <a:off x="3713903" y="3074378"/>
            <a:ext cx="0" cy="388442"/>
          </a:xfrm>
          <a:prstGeom prst="line">
            <a:avLst/>
          </a:prstGeom>
          <a:ln w="25400">
            <a:solidFill>
              <a:schemeClr val="tx2"/>
            </a:solidFill>
            <a:miter lim="400000"/>
            <a:headEnd type="triangle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>
              <a:solidFill>
                <a:schemeClr val="tx2"/>
              </a:solidFill>
            </a:endParaRPr>
          </a:p>
        </p:txBody>
      </p:sp>
      <p:sp>
        <p:nvSpPr>
          <p:cNvPr id="997" name="Shape 997"/>
          <p:cNvSpPr/>
          <p:nvPr/>
        </p:nvSpPr>
        <p:spPr>
          <a:xfrm>
            <a:off x="3987814" y="3286236"/>
            <a:ext cx="1881525" cy="34616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l"/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 dirty="0">
                <a:solidFill>
                  <a:schemeClr val="tx2"/>
                </a:solidFill>
              </a:rPr>
              <a:t>bounds register</a:t>
            </a:r>
          </a:p>
        </p:txBody>
      </p:sp>
      <p:sp>
        <p:nvSpPr>
          <p:cNvPr id="20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+ Bounds </a:t>
            </a:r>
          </a:p>
        </p:txBody>
      </p:sp>
    </p:spTree>
    <p:extLst>
      <p:ext uri="{BB962C8B-B14F-4D97-AF65-F5344CB8AC3E}">
        <p14:creationId xmlns:p14="http://schemas.microsoft.com/office/powerpoint/2010/main" val="2731722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Shape 999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00" name="Shape 1000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01" name="Shape 1001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02" name="Shape 1002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003" name="Shape 1003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04" name="Shape 1004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05" name="Shape 1005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1006" name="Shape 1006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1007" name="Shape 1007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1008" name="Shape 1008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1009" name="Shape 1009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1010" name="Shape 1010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1011" name="Shape 1011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1012" name="Shape 1012"/>
          <p:cNvSpPr/>
          <p:nvPr/>
        </p:nvSpPr>
        <p:spPr>
          <a:xfrm>
            <a:off x="4429972" y="1598897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1013" name="Shape 1013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14" name="Shape 1014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15" name="Shape 1015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1016" name="Shape 1016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1017" name="Shape 1017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1018" name="Shape 1018"/>
          <p:cNvSpPr/>
          <p:nvPr/>
        </p:nvSpPr>
        <p:spPr>
          <a:xfrm>
            <a:off x="4429972" y="1866788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1019" name="Shape 1019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1020" name="Shape 1020"/>
          <p:cNvSpPr/>
          <p:nvPr/>
        </p:nvSpPr>
        <p:spPr>
          <a:xfrm>
            <a:off x="4427984" y="213467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1021" name="Shape 1021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1022" name="Shape 1022"/>
          <p:cNvSpPr/>
          <p:nvPr/>
        </p:nvSpPr>
        <p:spPr>
          <a:xfrm>
            <a:off x="4427984" y="240256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1023" name="Shape 1023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1024" name="Shape 1024"/>
          <p:cNvSpPr/>
          <p:nvPr/>
        </p:nvSpPr>
        <p:spPr>
          <a:xfrm>
            <a:off x="3950833" y="3347613"/>
            <a:ext cx="1881525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Can P1 hurt P2?</a:t>
            </a:r>
          </a:p>
        </p:txBody>
      </p:sp>
      <p:sp>
        <p:nvSpPr>
          <p:cNvPr id="1025" name="Shape 1025"/>
          <p:cNvSpPr/>
          <p:nvPr/>
        </p:nvSpPr>
        <p:spPr>
          <a:xfrm>
            <a:off x="4423318" y="2670460"/>
            <a:ext cx="1627908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P1: store 3072, R1</a:t>
            </a:r>
          </a:p>
        </p:txBody>
      </p:sp>
      <p:sp>
        <p:nvSpPr>
          <p:cNvPr id="29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+ Bounds </a:t>
            </a:r>
          </a:p>
        </p:txBody>
      </p:sp>
    </p:spTree>
    <p:extLst>
      <p:ext uri="{BB962C8B-B14F-4D97-AF65-F5344CB8AC3E}">
        <p14:creationId xmlns:p14="http://schemas.microsoft.com/office/powerpoint/2010/main" val="3362365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Shape 1027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28" name="Shape 1028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29" name="Shape 1029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30" name="Shape 1030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031" name="Shape 1031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32" name="Shape 1032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33" name="Shape 1033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1034" name="Shape 1034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1035" name="Shape 1035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1036" name="Shape 1036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1037" name="Shape 1037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1038" name="Shape 1038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1039" name="Shape 1039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1040" name="Shape 1040"/>
          <p:cNvSpPr/>
          <p:nvPr/>
        </p:nvSpPr>
        <p:spPr>
          <a:xfrm>
            <a:off x="4288640" y="1598897"/>
            <a:ext cx="1671877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1041" name="Shape 1041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42" name="Shape 1042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43" name="Shape 1043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1044" name="Shape 1044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1045" name="Shape 1045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1046" name="Shape 1046"/>
          <p:cNvSpPr/>
          <p:nvPr/>
        </p:nvSpPr>
        <p:spPr>
          <a:xfrm>
            <a:off x="4288640" y="1866788"/>
            <a:ext cx="1671877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1047" name="Shape 1047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1048" name="Shape 1048"/>
          <p:cNvSpPr/>
          <p:nvPr/>
        </p:nvSpPr>
        <p:spPr>
          <a:xfrm>
            <a:off x="4283968" y="2134679"/>
            <a:ext cx="1703627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1049" name="Shape 1049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1050" name="Shape 1050"/>
          <p:cNvSpPr/>
          <p:nvPr/>
        </p:nvSpPr>
        <p:spPr>
          <a:xfrm>
            <a:off x="4283968" y="2402569"/>
            <a:ext cx="1703627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1051" name="Shape 1051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1052" name="Shape 1052"/>
          <p:cNvSpPr/>
          <p:nvPr/>
        </p:nvSpPr>
        <p:spPr>
          <a:xfrm>
            <a:off x="3950833" y="3347613"/>
            <a:ext cx="1881525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Can P1 hurt P2?</a:t>
            </a:r>
          </a:p>
        </p:txBody>
      </p:sp>
      <p:sp>
        <p:nvSpPr>
          <p:cNvPr id="1053" name="Shape 1053"/>
          <p:cNvSpPr/>
          <p:nvPr/>
        </p:nvSpPr>
        <p:spPr>
          <a:xfrm>
            <a:off x="4272994" y="2670460"/>
            <a:ext cx="177823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P1: store 3072, R1</a:t>
            </a:r>
          </a:p>
        </p:txBody>
      </p:sp>
      <p:sp>
        <p:nvSpPr>
          <p:cNvPr id="1054" name="Shape 1054"/>
          <p:cNvSpPr/>
          <p:nvPr/>
        </p:nvSpPr>
        <p:spPr>
          <a:xfrm>
            <a:off x="6188812" y="2657065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solidFill>
                  <a:srgbClr val="971817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HK" sz="1371" dirty="0"/>
              <a:t>Exception</a:t>
            </a:r>
            <a:endParaRPr sz="1371" dirty="0"/>
          </a:p>
        </p:txBody>
      </p:sp>
      <p:sp>
        <p:nvSpPr>
          <p:cNvPr id="2" name="TextBox 1"/>
          <p:cNvSpPr txBox="1"/>
          <p:nvPr/>
        </p:nvSpPr>
        <p:spPr>
          <a:xfrm>
            <a:off x="7534814" y="2664487"/>
            <a:ext cx="11512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3072 &gt; 1024</a:t>
            </a:r>
          </a:p>
        </p:txBody>
      </p:sp>
      <p:sp>
        <p:nvSpPr>
          <p:cNvPr id="31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+ Bounds </a:t>
            </a:r>
          </a:p>
        </p:txBody>
      </p:sp>
    </p:spTree>
    <p:extLst>
      <p:ext uri="{BB962C8B-B14F-4D97-AF65-F5344CB8AC3E}">
        <p14:creationId xmlns:p14="http://schemas.microsoft.com/office/powerpoint/2010/main" val="2571686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Overlay-Full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6097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Shape 1056"/>
          <p:cNvSpPr/>
          <p:nvPr/>
        </p:nvSpPr>
        <p:spPr>
          <a:xfrm>
            <a:off x="2298055" y="1859657"/>
            <a:ext cx="1318634" cy="401858"/>
          </a:xfrm>
          <a:prstGeom prst="rect">
            <a:avLst/>
          </a:prstGeom>
          <a:solidFill>
            <a:srgbClr val="11DBE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057" name="Shape 1057"/>
          <p:cNvSpPr/>
          <p:nvPr/>
        </p:nvSpPr>
        <p:spPr>
          <a:xfrm>
            <a:off x="2298055" y="2261494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58" name="Shape 1058"/>
          <p:cNvSpPr/>
          <p:nvPr/>
        </p:nvSpPr>
        <p:spPr>
          <a:xfrm>
            <a:off x="2298055" y="2663329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59" name="Shape 1059"/>
          <p:cNvSpPr/>
          <p:nvPr/>
        </p:nvSpPr>
        <p:spPr>
          <a:xfrm>
            <a:off x="2298055" y="3065166"/>
            <a:ext cx="1318634" cy="401858"/>
          </a:xfrm>
          <a:prstGeom prst="rect">
            <a:avLst/>
          </a:prstGeom>
          <a:solidFill>
            <a:srgbClr val="E8A433"/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060" name="Shape 1060"/>
          <p:cNvSpPr/>
          <p:nvPr/>
        </p:nvSpPr>
        <p:spPr>
          <a:xfrm>
            <a:off x="2298055" y="1457821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61" name="Shape 1061"/>
          <p:cNvSpPr/>
          <p:nvPr/>
        </p:nvSpPr>
        <p:spPr>
          <a:xfrm>
            <a:off x="2298055" y="3467002"/>
            <a:ext cx="1318634" cy="40185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62" name="Shape 1062"/>
          <p:cNvSpPr/>
          <p:nvPr/>
        </p:nvSpPr>
        <p:spPr>
          <a:xfrm>
            <a:off x="1879124" y="294649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4 KB</a:t>
            </a:r>
          </a:p>
        </p:txBody>
      </p:sp>
      <p:sp>
        <p:nvSpPr>
          <p:cNvPr id="1063" name="Shape 1063"/>
          <p:cNvSpPr/>
          <p:nvPr/>
        </p:nvSpPr>
        <p:spPr>
          <a:xfrm>
            <a:off x="1879124" y="332823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5 KB</a:t>
            </a:r>
          </a:p>
        </p:txBody>
      </p:sp>
      <p:sp>
        <p:nvSpPr>
          <p:cNvPr id="1064" name="Shape 1064"/>
          <p:cNvSpPr/>
          <p:nvPr/>
        </p:nvSpPr>
        <p:spPr>
          <a:xfrm>
            <a:off x="1879124" y="3730074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6 KB</a:t>
            </a:r>
          </a:p>
        </p:txBody>
      </p:sp>
      <p:sp>
        <p:nvSpPr>
          <p:cNvPr id="1065" name="Shape 1065"/>
          <p:cNvSpPr/>
          <p:nvPr/>
        </p:nvSpPr>
        <p:spPr>
          <a:xfrm>
            <a:off x="1879124" y="2142822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2 KB</a:t>
            </a:r>
          </a:p>
        </p:txBody>
      </p:sp>
      <p:sp>
        <p:nvSpPr>
          <p:cNvPr id="1066" name="Shape 1066"/>
          <p:cNvSpPr/>
          <p:nvPr/>
        </p:nvSpPr>
        <p:spPr>
          <a:xfrm>
            <a:off x="1879124" y="2544658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3 KB</a:t>
            </a:r>
          </a:p>
        </p:txBody>
      </p:sp>
      <p:sp>
        <p:nvSpPr>
          <p:cNvPr id="1067" name="Shape 1067"/>
          <p:cNvSpPr/>
          <p:nvPr/>
        </p:nvSpPr>
        <p:spPr>
          <a:xfrm>
            <a:off x="1879124" y="1740986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1 KB</a:t>
            </a:r>
          </a:p>
        </p:txBody>
      </p:sp>
      <p:sp>
        <p:nvSpPr>
          <p:cNvPr id="1068" name="Shape 1068"/>
          <p:cNvSpPr/>
          <p:nvPr/>
        </p:nvSpPr>
        <p:spPr>
          <a:xfrm>
            <a:off x="1879124" y="1339150"/>
            <a:ext cx="403557" cy="248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 algn="r">
              <a:defRPr sz="24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265">
                <a:solidFill>
                  <a:srgbClr val="FFFFFF"/>
                </a:solidFill>
              </a:rPr>
              <a:t>0 KB</a:t>
            </a:r>
          </a:p>
        </p:txBody>
      </p:sp>
      <p:sp>
        <p:nvSpPr>
          <p:cNvPr id="1069" name="Shape 1069"/>
          <p:cNvSpPr/>
          <p:nvPr/>
        </p:nvSpPr>
        <p:spPr>
          <a:xfrm>
            <a:off x="4429972" y="1598897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100, R1</a:t>
            </a:r>
          </a:p>
        </p:txBody>
      </p:sp>
      <p:sp>
        <p:nvSpPr>
          <p:cNvPr id="1070" name="Shape 1070"/>
          <p:cNvSpPr/>
          <p:nvPr/>
        </p:nvSpPr>
        <p:spPr>
          <a:xfrm flipV="1">
            <a:off x="6098250" y="1376899"/>
            <a:ext cx="1" cy="217104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71" name="Shape 1071"/>
          <p:cNvSpPr/>
          <p:nvPr/>
        </p:nvSpPr>
        <p:spPr>
          <a:xfrm flipH="1" flipV="1">
            <a:off x="4597773" y="1589681"/>
            <a:ext cx="286545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 lvl="0">
              <a:defRPr sz="2600"/>
            </a:pPr>
            <a:endParaRPr sz="1371"/>
          </a:p>
        </p:txBody>
      </p:sp>
      <p:sp>
        <p:nvSpPr>
          <p:cNvPr id="1072" name="Shape 1072"/>
          <p:cNvSpPr/>
          <p:nvPr/>
        </p:nvSpPr>
        <p:spPr>
          <a:xfrm>
            <a:off x="6141932" y="1598897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1124, R1</a:t>
            </a:r>
          </a:p>
        </p:txBody>
      </p:sp>
      <p:sp>
        <p:nvSpPr>
          <p:cNvPr id="1073" name="Shape 1073"/>
          <p:cNvSpPr/>
          <p:nvPr/>
        </p:nvSpPr>
        <p:spPr>
          <a:xfrm>
            <a:off x="4668533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Virtual</a:t>
            </a:r>
          </a:p>
        </p:txBody>
      </p:sp>
      <p:sp>
        <p:nvSpPr>
          <p:cNvPr id="1074" name="Shape 1074"/>
          <p:cNvSpPr/>
          <p:nvPr/>
        </p:nvSpPr>
        <p:spPr>
          <a:xfrm>
            <a:off x="6141932" y="1331006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Physical</a:t>
            </a:r>
          </a:p>
        </p:txBody>
      </p:sp>
      <p:sp>
        <p:nvSpPr>
          <p:cNvPr id="1075" name="Shape 1075"/>
          <p:cNvSpPr/>
          <p:nvPr/>
        </p:nvSpPr>
        <p:spPr>
          <a:xfrm>
            <a:off x="4429972" y="1866788"/>
            <a:ext cx="1530545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100, R1</a:t>
            </a:r>
          </a:p>
        </p:txBody>
      </p:sp>
      <p:sp>
        <p:nvSpPr>
          <p:cNvPr id="1076" name="Shape 1076"/>
          <p:cNvSpPr/>
          <p:nvPr/>
        </p:nvSpPr>
        <p:spPr>
          <a:xfrm>
            <a:off x="6141932" y="1866788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4196, R1</a:t>
            </a:r>
          </a:p>
        </p:txBody>
      </p:sp>
      <p:sp>
        <p:nvSpPr>
          <p:cNvPr id="1077" name="Shape 1077"/>
          <p:cNvSpPr/>
          <p:nvPr/>
        </p:nvSpPr>
        <p:spPr>
          <a:xfrm>
            <a:off x="4427984" y="213467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P2: load 1000, R1</a:t>
            </a:r>
          </a:p>
        </p:txBody>
      </p:sp>
      <p:sp>
        <p:nvSpPr>
          <p:cNvPr id="1078" name="Shape 1078"/>
          <p:cNvSpPr/>
          <p:nvPr/>
        </p:nvSpPr>
        <p:spPr>
          <a:xfrm>
            <a:off x="6141932" y="213467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 load 5</a:t>
            </a:r>
            <a:r>
              <a:rPr lang="en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96, R1</a:t>
            </a:r>
          </a:p>
        </p:txBody>
      </p:sp>
      <p:sp>
        <p:nvSpPr>
          <p:cNvPr id="1079" name="Shape 1079"/>
          <p:cNvSpPr/>
          <p:nvPr/>
        </p:nvSpPr>
        <p:spPr>
          <a:xfrm>
            <a:off x="4427984" y="2402569"/>
            <a:ext cx="1559611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 dirty="0">
                <a:solidFill>
                  <a:schemeClr val="tx2"/>
                </a:solidFill>
              </a:rPr>
              <a:t>P1: load 100</a:t>
            </a:r>
            <a:r>
              <a:rPr lang="en-US" altLang="zh-Hans-HK" sz="1371" dirty="0">
                <a:solidFill>
                  <a:schemeClr val="tx2"/>
                </a:solidFill>
              </a:rPr>
              <a:t>0</a:t>
            </a:r>
            <a:r>
              <a:rPr sz="1371" dirty="0">
                <a:solidFill>
                  <a:schemeClr val="tx2"/>
                </a:solidFill>
              </a:rPr>
              <a:t>, R1</a:t>
            </a:r>
          </a:p>
        </p:txBody>
      </p:sp>
      <p:sp>
        <p:nvSpPr>
          <p:cNvPr id="1080" name="Shape 1080"/>
          <p:cNvSpPr/>
          <p:nvPr/>
        </p:nvSpPr>
        <p:spPr>
          <a:xfrm>
            <a:off x="6141932" y="2402569"/>
            <a:ext cx="142592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 load 2024, R1</a:t>
            </a:r>
          </a:p>
        </p:txBody>
      </p:sp>
      <p:sp>
        <p:nvSpPr>
          <p:cNvPr id="1081" name="Shape 1081"/>
          <p:cNvSpPr/>
          <p:nvPr/>
        </p:nvSpPr>
        <p:spPr>
          <a:xfrm>
            <a:off x="3950833" y="3347613"/>
            <a:ext cx="1881525" cy="346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1898">
                <a:solidFill>
                  <a:schemeClr val="tx2"/>
                </a:solidFill>
              </a:rPr>
              <a:t>Can P1 hurt P2?</a:t>
            </a:r>
          </a:p>
        </p:txBody>
      </p:sp>
      <p:sp>
        <p:nvSpPr>
          <p:cNvPr id="1082" name="Shape 1082"/>
          <p:cNvSpPr/>
          <p:nvPr/>
        </p:nvSpPr>
        <p:spPr>
          <a:xfrm>
            <a:off x="4423316" y="2670460"/>
            <a:ext cx="1627909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/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371">
                <a:solidFill>
                  <a:schemeClr val="tx2"/>
                </a:solidFill>
              </a:rPr>
              <a:t>P1: store 3072, R1</a:t>
            </a:r>
          </a:p>
        </p:txBody>
      </p:sp>
      <p:sp>
        <p:nvSpPr>
          <p:cNvPr id="1083" name="Shape 1083"/>
          <p:cNvSpPr/>
          <p:nvPr/>
        </p:nvSpPr>
        <p:spPr>
          <a:xfrm>
            <a:off x="6188812" y="2657065"/>
            <a:ext cx="1911580" cy="265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 algn="l">
              <a:defRPr sz="2600" b="1">
                <a:solidFill>
                  <a:srgbClr val="971817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HK" sz="1371" dirty="0">
                <a:solidFill>
                  <a:schemeClr val="tx1"/>
                </a:solidFill>
              </a:rPr>
              <a:t>Exception         </a:t>
            </a:r>
            <a:endParaRPr sz="1371" dirty="0">
              <a:solidFill>
                <a:schemeClr val="tx1"/>
              </a:solidFill>
            </a:endParaRPr>
          </a:p>
        </p:txBody>
      </p:sp>
      <p:pic>
        <p:nvPicPr>
          <p:cNvPr id="1084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2706210" y="1859668"/>
            <a:ext cx="502322" cy="401858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hape 903"/>
          <p:cNvSpPr txBox="1">
            <a:spLocks/>
          </p:cNvSpPr>
          <p:nvPr/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130046" tIns="65023" rIns="130046" bIns="65023" numCol="1" rtlCol="0" anchor="b" anchorCtr="0" compatLnSpc="1">
            <a:prstTxWarp prst="textNoShape">
              <a:avLst/>
            </a:prstTxWarp>
            <a:normAutofit fontScale="77500" lnSpcReduction="20000"/>
          </a:bodyPr>
          <a:lstStyle>
            <a:lvl1pPr algn="ctr" defTabSz="47320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6480" kern="1200" baseline="0">
                <a:solidFill>
                  <a:schemeClr val="bg2"/>
                </a:solidFill>
                <a:effectLst>
                  <a:outerShdw blurRad="63500" dir="2700000" algn="tl" rotWithShape="0">
                    <a:schemeClr val="tx1">
                      <a:alpha val="40000"/>
                    </a:schemeClr>
                  </a:outerShdw>
                </a:effectLst>
                <a:latin typeface="+mj-lt"/>
                <a:ea typeface="+mn-ea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FF00"/>
                </a:solidFill>
                <a:latin typeface="HY견고딕" pitchFamily="18" charset="-127"/>
                <a:ea typeface="HY견고딕" pitchFamily="18" charset="-127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1" sz="30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l">
              <a:defRPr sz="1800">
                <a:solidFill>
                  <a:srgbClr val="000000"/>
                </a:solidFill>
              </a:defRPr>
            </a:pPr>
            <a:r>
              <a:rPr lang="en-HK" sz="4600" dirty="0">
                <a:solidFill>
                  <a:srgbClr val="FFFFFF"/>
                </a:solidFill>
              </a:rPr>
              <a:t>Base + Bounds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814" y="2664487"/>
            <a:ext cx="115127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3072 &gt; 1024</a:t>
            </a:r>
          </a:p>
        </p:txBody>
      </p:sp>
    </p:spTree>
    <p:extLst>
      <p:ext uri="{BB962C8B-B14F-4D97-AF65-F5344CB8AC3E}">
        <p14:creationId xmlns:p14="http://schemas.microsoft.com/office/powerpoint/2010/main" val="1494622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 for Memory Virtualizing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>
                <a:solidFill>
                  <a:schemeClr val="accent1"/>
                </a:solidFill>
              </a:rPr>
              <a:t>take action</a:t>
            </a:r>
            <a:r>
              <a:rPr lang="en-US" altLang="ko-KR" b="1" dirty="0"/>
              <a:t> </a:t>
            </a:r>
            <a:r>
              <a:rPr lang="en-US" altLang="ko-KR" dirty="0"/>
              <a:t>to implement </a:t>
            </a:r>
            <a:r>
              <a:rPr lang="en-US" altLang="ko-KR" b="1" dirty="0"/>
              <a:t>base-and-bounds</a:t>
            </a:r>
            <a:r>
              <a:rPr lang="en-US" altLang="ko-KR" dirty="0"/>
              <a:t> approach.</a:t>
            </a:r>
          </a:p>
          <a:p>
            <a:r>
              <a:rPr lang="en-US" altLang="ko-KR" dirty="0"/>
              <a:t>Three critical junctures:</a:t>
            </a:r>
          </a:p>
          <a:p>
            <a:pPr lvl="1"/>
            <a:r>
              <a:rPr lang="en-US" altLang="ko-KR" dirty="0"/>
              <a:t>When a process </a:t>
            </a:r>
            <a:r>
              <a:rPr lang="en-US" altLang="ko-KR" b="1" dirty="0"/>
              <a:t>starts running:</a:t>
            </a:r>
          </a:p>
          <a:p>
            <a:pPr lvl="2"/>
            <a:r>
              <a:rPr lang="en-US" altLang="ko-KR" dirty="0"/>
              <a:t>Finding space for address space in physical memory</a:t>
            </a:r>
          </a:p>
          <a:p>
            <a:pPr lvl="1"/>
            <a:r>
              <a:rPr lang="en-US" altLang="ko-KR" dirty="0"/>
              <a:t>When a process is </a:t>
            </a:r>
            <a:r>
              <a:rPr lang="en-US" altLang="ko-KR" b="1" dirty="0"/>
              <a:t>terminated: </a:t>
            </a:r>
          </a:p>
          <a:p>
            <a:pPr lvl="2"/>
            <a:r>
              <a:rPr lang="en-US" altLang="ko-KR" dirty="0"/>
              <a:t>Reclaiming the memory for use</a:t>
            </a:r>
          </a:p>
          <a:p>
            <a:pPr lvl="1"/>
            <a:r>
              <a:rPr lang="en-US" altLang="ko-KR" dirty="0"/>
              <a:t>When context </a:t>
            </a:r>
            <a:r>
              <a:rPr lang="en-US" altLang="ko-KR" b="1" dirty="0"/>
              <a:t>switch occurs:</a:t>
            </a:r>
          </a:p>
          <a:p>
            <a:pPr lvl="2"/>
            <a:r>
              <a:rPr lang="en-US" altLang="ko-KR" dirty="0"/>
              <a:t>Saving and storing the base-and-bounds pair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9172786"/>
      </p:ext>
    </p:extLst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Starts Running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find a room</a:t>
            </a:r>
            <a:r>
              <a:rPr lang="en-US" altLang="ko-KR" dirty="0"/>
              <a:t> for a new address space.</a:t>
            </a:r>
          </a:p>
          <a:p>
            <a:pPr lvl="1"/>
            <a:r>
              <a:rPr lang="en-US" altLang="ko-KR" dirty="0"/>
              <a:t>free list : A list of the range of the physical memory which are not in use.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4013147" y="2060848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013154" y="294815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971351" y="3954677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09467" y="4943265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09467" y="5812486"/>
            <a:ext cx="642942" cy="307777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656094" y="4097322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Code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4656090" y="4442625"/>
            <a:ext cx="1681939" cy="45025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(allocated but not in use)</a:t>
            </a:r>
          </a:p>
        </p:txBody>
      </p:sp>
      <p:cxnSp>
        <p:nvCxnSpPr>
          <p:cNvPr id="95" name="직선 화살표 연결선 94"/>
          <p:cNvCxnSpPr>
            <a:stCxn id="29" idx="2"/>
          </p:cNvCxnSpPr>
          <p:nvPr/>
        </p:nvCxnSpPr>
        <p:spPr>
          <a:xfrm flipH="1">
            <a:off x="5497061" y="4450722"/>
            <a:ext cx="2" cy="13034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627530" y="6029583"/>
            <a:ext cx="17446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1187624" y="2689175"/>
            <a:ext cx="27363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OS lookup the free list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656095" y="3122062"/>
            <a:ext cx="1681939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656093" y="4271524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Heap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656094" y="4892880"/>
            <a:ext cx="1681939" cy="17919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Stack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4656096" y="2141151"/>
            <a:ext cx="1681939" cy="9809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cxnSp>
        <p:nvCxnSpPr>
          <p:cNvPr id="35" name="직선 화살표 연결선 34"/>
          <p:cNvCxnSpPr>
            <a:stCxn id="91" idx="2"/>
          </p:cNvCxnSpPr>
          <p:nvPr/>
        </p:nvCxnSpPr>
        <p:spPr>
          <a:xfrm flipH="1" flipV="1">
            <a:off x="5497059" y="4732219"/>
            <a:ext cx="1" cy="160661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med" len="med"/>
          </a:ln>
          <a:effectLst>
            <a:outerShdw sx="1000" sy="1000" algn="ctr" rotWithShape="0">
              <a:srgbClr val="000000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656096" y="5072078"/>
            <a:ext cx="1677753" cy="980911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25816" y="3102045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216522" y="3792777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38" name="직선 화살표 연결선 37"/>
          <p:cNvCxnSpPr>
            <a:stCxn id="28" idx="2"/>
            <a:endCxn id="34" idx="0"/>
          </p:cNvCxnSpPr>
          <p:nvPr/>
        </p:nvCxnSpPr>
        <p:spPr>
          <a:xfrm flipH="1">
            <a:off x="2555775" y="3409822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2215826" y="4797152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43" name="직선 화살표 연결선 42"/>
          <p:cNvCxnSpPr>
            <a:stCxn id="34" idx="4"/>
            <a:endCxn id="39" idx="0"/>
          </p:cNvCxnSpPr>
          <p:nvPr/>
        </p:nvCxnSpPr>
        <p:spPr>
          <a:xfrm flipH="1">
            <a:off x="2555079" y="4450722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704607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OS Issues: When a Process Is Terminated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put the memory back</a:t>
            </a:r>
            <a:r>
              <a:rPr lang="en-US" altLang="ko-KR" dirty="0"/>
              <a:t> on the free list.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2097648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396" y="228832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40394" y="299304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6410" y="374341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0394" y="449669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6410" y="514848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51720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097324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97648" y="4571920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778493" y="230228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227" y="2216314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35225" y="292103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21241" y="367140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35225" y="4424685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21241" y="507647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732565" y="5353471"/>
            <a:ext cx="1710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6778169" y="305953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6778167" y="456318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6778169" y="3809903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2097648" y="3816790"/>
            <a:ext cx="1681939" cy="75513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6491" y="2297506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557197" y="2988238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4" name="직선 화살표 연결선 53"/>
          <p:cNvCxnSpPr>
            <a:stCxn id="51" idx="2"/>
            <a:endCxn id="53" idx="0"/>
          </p:cNvCxnSpPr>
          <p:nvPr/>
        </p:nvCxnSpPr>
        <p:spPr>
          <a:xfrm flipH="1">
            <a:off x="896450" y="2605283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556501" y="3992613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57" name="직선 화살표 연결선 56"/>
          <p:cNvCxnSpPr>
            <a:stCxn id="53" idx="4"/>
            <a:endCxn id="56" idx="0"/>
          </p:cNvCxnSpPr>
          <p:nvPr/>
        </p:nvCxnSpPr>
        <p:spPr>
          <a:xfrm flipH="1">
            <a:off x="895754" y="3646183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906285" y="2216314"/>
            <a:ext cx="1059919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Free list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5096991" y="2907046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16KB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2" name="직선 화살표 연결선 61"/>
          <p:cNvCxnSpPr>
            <a:stCxn id="59" idx="2"/>
            <a:endCxn id="61" idx="0"/>
          </p:cNvCxnSpPr>
          <p:nvPr/>
        </p:nvCxnSpPr>
        <p:spPr>
          <a:xfrm flipH="1">
            <a:off x="5436244" y="2524091"/>
            <a:ext cx="1" cy="3829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5096295" y="3911421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32KB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4" name="직선 화살표 연결선 63"/>
          <p:cNvCxnSpPr>
            <a:stCxn id="61" idx="4"/>
            <a:endCxn id="63" idx="0"/>
          </p:cNvCxnSpPr>
          <p:nvPr/>
        </p:nvCxnSpPr>
        <p:spPr>
          <a:xfrm flipH="1">
            <a:off x="5435548" y="3564991"/>
            <a:ext cx="696" cy="34643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타원 64"/>
          <p:cNvSpPr/>
          <p:nvPr/>
        </p:nvSpPr>
        <p:spPr>
          <a:xfrm>
            <a:off x="5096992" y="4936819"/>
            <a:ext cx="678506" cy="657945"/>
          </a:xfrm>
          <a:prstGeom prst="ellipse">
            <a:avLst/>
          </a:prstGeom>
          <a:solidFill>
            <a:srgbClr val="FFC000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48KB</a:t>
            </a:r>
            <a:endParaRPr lang="ko-KR" altLang="en-US" sz="14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  <p:cxnSp>
        <p:nvCxnSpPr>
          <p:cNvPr id="66" name="직선 화살표 연결선 65"/>
          <p:cNvCxnSpPr>
            <a:stCxn id="63" idx="4"/>
            <a:endCxn id="65" idx="0"/>
          </p:cNvCxnSpPr>
          <p:nvPr/>
        </p:nvCxnSpPr>
        <p:spPr>
          <a:xfrm>
            <a:off x="5435548" y="4569366"/>
            <a:ext cx="697" cy="36745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796518"/>
      </p:ext>
    </p:extLst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 dirty="0"/>
              <a:t>OS Issues: When Context Switch Occurs</a:t>
            </a:r>
            <a:endParaRPr lang="ko-KR" altLang="en-US" sz="20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must </a:t>
            </a:r>
            <a:r>
              <a:rPr lang="en-US" altLang="ko-KR" b="1" dirty="0"/>
              <a:t>save and restore </a:t>
            </a:r>
            <a:r>
              <a:rPr lang="en-US" altLang="ko-KR" dirty="0"/>
              <a:t>the base-and-bounds pair.</a:t>
            </a:r>
          </a:p>
          <a:p>
            <a:pPr lvl="1"/>
            <a:r>
              <a:rPr lang="en-US" altLang="ko-KR" dirty="0"/>
              <a:t> In </a:t>
            </a:r>
            <a:r>
              <a:rPr lang="en-US" altLang="ko-KR" b="1" dirty="0"/>
              <a:t>process structure </a:t>
            </a:r>
            <a:r>
              <a:rPr lang="en-US" altLang="ko-KR" dirty="0"/>
              <a:t>or </a:t>
            </a:r>
            <a:r>
              <a:rPr lang="en-US" altLang="ko-KR" b="1" dirty="0"/>
              <a:t>process control block(</a:t>
            </a:r>
            <a:r>
              <a:rPr lang="en-US" altLang="ko-KR" dirty="0"/>
              <a:t>PCB)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138782" y="2662319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530" y="264836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528" y="335308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410345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1528" y="485673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5508519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0486" y="5849836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38458" y="3419574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38458" y="4176829"/>
            <a:ext cx="1682263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138458" y="4934084"/>
            <a:ext cx="1681939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</p:txBody>
      </p:sp>
      <p:cxnSp>
        <p:nvCxnSpPr>
          <p:cNvPr id="17" name="직선 화살표 연결선 16"/>
          <p:cNvCxnSpPr/>
          <p:nvPr/>
        </p:nvCxnSpPr>
        <p:spPr>
          <a:xfrm flipH="1">
            <a:off x="2838304" y="4929288"/>
            <a:ext cx="357581" cy="1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195885" y="475160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1840" y="4443830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2838304" y="4174704"/>
            <a:ext cx="357581" cy="0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3195885" y="4003939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32KB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95885" y="3696163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76032" y="2708920"/>
            <a:ext cx="198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Context Switching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171230" y="2662320"/>
            <a:ext cx="1681939" cy="7572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Operating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3978" y="2648362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13976" y="335308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499992" y="4103451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13976" y="4856733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499992" y="5508520"/>
            <a:ext cx="642942" cy="276999"/>
          </a:xfrm>
          <a:prstGeom prst="rect">
            <a:avLst/>
          </a:prstGeom>
          <a:noFill/>
          <a:ln>
            <a:noFill/>
            <a:tailEnd type="stealth"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64KB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50632" y="5849835"/>
            <a:ext cx="1725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5170906" y="3419575"/>
            <a:ext cx="1681939" cy="757255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(not in use)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170906" y="4176830"/>
            <a:ext cx="1682263" cy="757255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A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5170906" y="4934085"/>
            <a:ext cx="1681939" cy="7572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Process B</a:t>
            </a:r>
          </a:p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Currently Running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7287167" y="4763057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64KB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7308305" y="4015390"/>
            <a:ext cx="720080" cy="31862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48KB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34961" y="1882858"/>
            <a:ext cx="14813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Process A PCB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꺾인 연결선 58"/>
          <p:cNvCxnSpPr/>
          <p:nvPr/>
        </p:nvCxnSpPr>
        <p:spPr>
          <a:xfrm rot="10800000" flipV="1">
            <a:off x="6844702" y="4182958"/>
            <a:ext cx="455136" cy="741980"/>
          </a:xfrm>
          <a:prstGeom prst="bentConnector3">
            <a:avLst>
              <a:gd name="adj1" fmla="val 55430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 rot="10800000" flipV="1">
            <a:off x="6844701" y="4928566"/>
            <a:ext cx="455136" cy="741980"/>
          </a:xfrm>
          <a:prstGeom prst="bentConnector3">
            <a:avLst>
              <a:gd name="adj1" fmla="val 26471"/>
            </a:avLst>
          </a:prstGeom>
          <a:ln w="12700">
            <a:solidFill>
              <a:schemeClr val="tx1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64"/>
          <p:cNvSpPr/>
          <p:nvPr/>
        </p:nvSpPr>
        <p:spPr>
          <a:xfrm>
            <a:off x="7449099" y="2191301"/>
            <a:ext cx="1367252" cy="942037"/>
          </a:xfrm>
          <a:prstGeom prst="roundRect">
            <a:avLst/>
          </a:prstGeom>
          <a:noFill/>
          <a:ln w="15875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: 32KB</a:t>
            </a:r>
          </a:p>
          <a:p>
            <a:r>
              <a:rPr lang="en-US" altLang="ko-KR" sz="12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bounds : 48KB 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40278" y="4456773"/>
            <a:ext cx="8000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bounds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304323" y="3709106"/>
            <a:ext cx="728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base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3563888" y="3068960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815213"/>
      </p:ext>
    </p:extLst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736054"/>
            <a:ext cx="8786812" cy="5501258"/>
          </a:xfrm>
        </p:spPr>
        <p:txBody>
          <a:bodyPr/>
          <a:lstStyle/>
          <a:p>
            <a:r>
              <a:rPr lang="en-HK" dirty="0"/>
              <a:t>Address Space – </a:t>
            </a:r>
            <a:r>
              <a:rPr lang="en-US" altLang="ko-KR" dirty="0"/>
              <a:t>an </a:t>
            </a:r>
            <a:r>
              <a:rPr lang="en-US" altLang="ko-KR" b="1" dirty="0"/>
              <a:t>abstraction</a:t>
            </a:r>
            <a:r>
              <a:rPr lang="en-US" altLang="ko-KR" dirty="0"/>
              <a:t> of physical memory created by OS</a:t>
            </a:r>
          </a:p>
          <a:p>
            <a:pPr lvl="1"/>
            <a:r>
              <a:rPr lang="en-US" altLang="ko-KR" dirty="0"/>
              <a:t>The address space contains all about a running process.</a:t>
            </a:r>
          </a:p>
          <a:p>
            <a:pPr lvl="1"/>
            <a:r>
              <a:rPr lang="en-US" altLang="ko-KR" dirty="0"/>
              <a:t>That is consist of program code, data, heap, and stack</a:t>
            </a:r>
          </a:p>
          <a:p>
            <a:r>
              <a:rPr lang="en-US" altLang="ko-KR" sz="1800" dirty="0"/>
              <a:t>Address Translation – Hardware-based Address Translation</a:t>
            </a:r>
          </a:p>
          <a:p>
            <a:pPr lvl="1"/>
            <a:r>
              <a:rPr lang="en-US" altLang="ko-KR" sz="1600" dirty="0"/>
              <a:t>The hardware transforms each memory access (e.g., an instruction fetch, load, or store), changing the virtual address provided by the instruction to a physical address where the desired information is actually located .</a:t>
            </a:r>
          </a:p>
          <a:p>
            <a:pPr lvl="1"/>
            <a:r>
              <a:rPr lang="en-US" altLang="ko-KR" sz="1600" dirty="0"/>
              <a:t>OS performs memory management – keeping track of which locations are free and which are in use, and judiciously intervening to maintain control over how memory is used.</a:t>
            </a:r>
          </a:p>
          <a:p>
            <a:pPr lvl="1"/>
            <a:r>
              <a:rPr lang="en-US" altLang="ko-KR" sz="1600" dirty="0"/>
              <a:t>The Base and Bounds Approach</a:t>
            </a:r>
          </a:p>
          <a:p>
            <a:pPr lvl="2"/>
            <a:r>
              <a:rPr lang="en-US" altLang="ko-KR" sz="1400" dirty="0"/>
              <a:t>When a program starts running, the OS decides where in physical memory a process should be loaded </a:t>
            </a:r>
          </a:p>
          <a:p>
            <a:pPr lvl="2"/>
            <a:r>
              <a:rPr lang="en-US" altLang="ko-KR" sz="1400" dirty="0"/>
              <a:t>The hardware checks whether virtual addresses are in bounds.</a:t>
            </a:r>
          </a:p>
          <a:p>
            <a:r>
              <a:rPr lang="en-US" dirty="0"/>
              <a:t>Next: Memory Management (Chapters </a:t>
            </a:r>
            <a:r>
              <a:rPr lang="en-US" dirty="0">
                <a:hlinkClick r:id="rId2"/>
              </a:rPr>
              <a:t>16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17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18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19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20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21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22</a:t>
            </a:r>
            <a:r>
              <a:rPr lang="en-US" dirty="0"/>
              <a:t>, </a:t>
            </a:r>
            <a:r>
              <a:rPr lang="en-US" dirty="0">
                <a:hlinkClick r:id="rId9"/>
              </a:rPr>
              <a:t>23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739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105850</TotalTime>
  <Words>2381</Words>
  <Application>Microsoft Office PowerPoint</Application>
  <PresentationFormat>On-screen Show (4:3)</PresentationFormat>
  <Paragraphs>681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HY견고딕</vt:lpstr>
      <vt:lpstr>맑은 고딕</vt:lpstr>
      <vt:lpstr>Calisto MT</vt:lpstr>
      <vt:lpstr>Cambria Math</vt:lpstr>
      <vt:lpstr>Courier New</vt:lpstr>
      <vt:lpstr>Tahoma</vt:lpstr>
      <vt:lpstr>Times New Roman</vt:lpstr>
      <vt:lpstr>Wingdings</vt:lpstr>
      <vt:lpstr>양식_공청회_발표자료-총괄-양식</vt:lpstr>
      <vt:lpstr>Lecture 9: Virtualizing Memory –  Address Space and Address Translation </vt:lpstr>
      <vt:lpstr>PowerPoint Presentation</vt:lpstr>
      <vt:lpstr>OS – Resource management via virtualization</vt:lpstr>
      <vt:lpstr>PowerPoint Presentation</vt:lpstr>
      <vt:lpstr>Memory Virtualization</vt:lpstr>
      <vt:lpstr>Benefit of Memory Virtualization</vt:lpstr>
      <vt:lpstr>OS in The Early System</vt:lpstr>
      <vt:lpstr>Multiprogramming and Time Sharing</vt:lpstr>
      <vt:lpstr>Address Space</vt:lpstr>
      <vt:lpstr>Address Space(Cont.)</vt:lpstr>
      <vt:lpstr>Example from Linux </vt:lpstr>
      <vt:lpstr>Virtual Address</vt:lpstr>
      <vt:lpstr>Virtual Address(Cont.)</vt:lpstr>
      <vt:lpstr>PowerPoint Presentation</vt:lpstr>
      <vt:lpstr>PowerPoint Presentation</vt:lpstr>
      <vt:lpstr>Memory Virtualizing with Efficiency and Control</vt:lpstr>
      <vt:lpstr>Address Translation</vt:lpstr>
      <vt:lpstr>Relocation Address Space</vt:lpstr>
      <vt:lpstr>A Single Relocated Process </vt:lpstr>
      <vt:lpstr>Base and Bounds Register</vt:lpstr>
      <vt:lpstr>Dynamic(Hardware base) Relocation</vt:lpstr>
      <vt:lpstr>Two ways of Bounds Register</vt:lpstr>
      <vt:lpstr>Physical 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OS Issues for Memory Virtualizing</vt:lpstr>
      <vt:lpstr>OS Issues: When a Process Starts Running</vt:lpstr>
      <vt:lpstr>OS Issues: When a Process Is Terminated</vt:lpstr>
      <vt:lpstr>OS Issues: When Context Switch Occurs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4: User-level Programming    via System Calls (File &amp; Directory)</dc:title>
  <dc:creator>Shao Zi Li</dc:creator>
  <cp:lastModifiedBy>Zili Shao (CSD)</cp:lastModifiedBy>
  <cp:revision>76</cp:revision>
  <cp:lastPrinted>2015-03-03T01:48:46Z</cp:lastPrinted>
  <dcterms:created xsi:type="dcterms:W3CDTF">2011-05-01T06:09:10Z</dcterms:created>
  <dcterms:modified xsi:type="dcterms:W3CDTF">2025-10-21T02:42:23Z</dcterms:modified>
</cp:coreProperties>
</file>