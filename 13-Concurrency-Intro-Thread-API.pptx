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53"/>
  </p:notesMasterIdLst>
  <p:sldIdLst>
    <p:sldId id="284" r:id="rId2"/>
    <p:sldId id="347" r:id="rId3"/>
    <p:sldId id="293" r:id="rId4"/>
    <p:sldId id="294" r:id="rId5"/>
    <p:sldId id="295" r:id="rId6"/>
    <p:sldId id="296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298" r:id="rId37"/>
    <p:sldId id="299" r:id="rId38"/>
    <p:sldId id="329" r:id="rId39"/>
    <p:sldId id="330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6" r:id="rId51"/>
    <p:sldId id="292" r:id="rId5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CCF23-7B81-4ACD-AAB4-8A73CD1B5721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32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924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797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275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353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826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588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990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76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838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172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997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691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885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79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123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393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7079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1380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334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344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938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35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38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97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13: Concurrency – </a:t>
            </a:r>
            <a:r>
              <a:rPr lang="en-HK" dirty="0"/>
              <a:t>Thread and Thread API    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4E1B63E-CCA7-4AAC-AAC1-C1BEF6EC4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1052736"/>
            <a:ext cx="7920880" cy="1445834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60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I: Introduction to Thread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4377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new abstraction for </a:t>
            </a:r>
            <a:r>
              <a:rPr lang="en-US" altLang="ko-KR" u="sng" dirty="0"/>
              <a:t>a single running process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Multi-threaded program</a:t>
            </a:r>
          </a:p>
          <a:p>
            <a:pPr lvl="1"/>
            <a:r>
              <a:rPr lang="en-US" altLang="ko-KR" dirty="0"/>
              <a:t>A multi-threaded program has more than one point of execution.</a:t>
            </a:r>
          </a:p>
          <a:p>
            <a:pPr lvl="1"/>
            <a:r>
              <a:rPr lang="en-US" altLang="ko-KR" dirty="0"/>
              <a:t>Multiple PCs (Program Counter)</a:t>
            </a:r>
          </a:p>
          <a:p>
            <a:pPr lvl="1"/>
            <a:r>
              <a:rPr lang="en-US" altLang="ko-KR" dirty="0"/>
              <a:t>They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share</a:t>
            </a:r>
            <a:r>
              <a:rPr lang="en-US" altLang="ko-KR" dirty="0"/>
              <a:t> the same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address space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846921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 switch between threads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Each thread has its own </a:t>
            </a:r>
            <a:r>
              <a:rPr lang="en-US" altLang="ko-KR" u="sng" dirty="0"/>
              <a:t>program counter</a:t>
            </a:r>
            <a:r>
              <a:rPr lang="en-US" altLang="ko-KR" dirty="0"/>
              <a:t> and </a:t>
            </a:r>
            <a:r>
              <a:rPr lang="en-US" altLang="ko-KR" u="sng" dirty="0"/>
              <a:t>set of registers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One or more </a:t>
            </a:r>
            <a:r>
              <a:rPr lang="en-US" altLang="ko-KR" b="1" dirty="0"/>
              <a:t>thread control blocks(TCBs) </a:t>
            </a:r>
            <a:r>
              <a:rPr lang="en-US" altLang="ko-KR" dirty="0"/>
              <a:t>are needed to store the state of each thread.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When switching from running one (T1) to running the other (T2),</a:t>
            </a:r>
          </a:p>
          <a:p>
            <a:pPr lvl="1"/>
            <a:r>
              <a:rPr lang="en-US" altLang="ko-KR" dirty="0"/>
              <a:t>The register state of T1 be saved.</a:t>
            </a:r>
          </a:p>
          <a:p>
            <a:pPr lvl="1"/>
            <a:r>
              <a:rPr lang="en-US" altLang="ko-KR" dirty="0"/>
              <a:t>The register state of T2 restored.</a:t>
            </a:r>
          </a:p>
          <a:p>
            <a:pPr lvl="1"/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address space remains</a:t>
            </a:r>
            <a:r>
              <a:rPr lang="en-US" altLang="ko-KR" dirty="0"/>
              <a:t> the same.</a:t>
            </a:r>
          </a:p>
        </p:txBody>
      </p:sp>
    </p:spTree>
    <p:extLst>
      <p:ext uri="{BB962C8B-B14F-4D97-AF65-F5344CB8AC3E}">
        <p14:creationId xmlns:p14="http://schemas.microsoft.com/office/powerpoint/2010/main" val="3917839223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will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one stack per thread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stack of the relevant thread</a:t>
            </a:r>
            <a:endParaRPr lang="ko-KR" altLang="en-US" dirty="0"/>
          </a:p>
        </p:txBody>
      </p:sp>
      <p:grpSp>
        <p:nvGrpSpPr>
          <p:cNvPr id="39" name="그룹 38"/>
          <p:cNvGrpSpPr/>
          <p:nvPr/>
        </p:nvGrpSpPr>
        <p:grpSpPr>
          <a:xfrm>
            <a:off x="5868344" y="1556792"/>
            <a:ext cx="2448072" cy="3926992"/>
            <a:chOff x="4860032" y="1844824"/>
            <a:chExt cx="2448072" cy="3926992"/>
          </a:xfrm>
        </p:grpSpPr>
        <p:sp>
          <p:nvSpPr>
            <p:cNvPr id="28" name="직사각형 27"/>
            <p:cNvSpPr/>
            <p:nvPr/>
          </p:nvSpPr>
          <p:spPr>
            <a:xfrm>
              <a:off x="5508104" y="5210554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 (1)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67351" y="5433262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75387" y="5041277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15KB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508104" y="4742554"/>
              <a:ext cx="1800000" cy="468000"/>
            </a:xfrm>
            <a:prstGeom prst="rect">
              <a:avLst/>
            </a:prstGeom>
            <a:pattFill prst="lt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508104" y="4274554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 (2)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508104" y="2921526"/>
              <a:ext cx="1800000" cy="1353028"/>
            </a:xfrm>
            <a:prstGeom prst="rect">
              <a:avLst/>
            </a:prstGeom>
            <a:pattFill prst="lt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5508104" y="2453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508104" y="1985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860032" y="1844824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60032" y="2276676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860032" y="2754448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611560" y="1556792"/>
            <a:ext cx="4608512" cy="3926992"/>
            <a:chOff x="827584" y="1844824"/>
            <a:chExt cx="4608512" cy="3926992"/>
          </a:xfrm>
        </p:grpSpPr>
        <p:sp>
          <p:nvSpPr>
            <p:cNvPr id="41" name="직사각형 40"/>
            <p:cNvSpPr/>
            <p:nvPr/>
          </p:nvSpPr>
          <p:spPr>
            <a:xfrm>
              <a:off x="1475656" y="5210554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 (1)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4903" y="5433262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2939" y="5041277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15KB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475656" y="2921526"/>
              <a:ext cx="1800000" cy="2289028"/>
            </a:xfrm>
            <a:prstGeom prst="rect">
              <a:avLst/>
            </a:prstGeom>
            <a:pattFill prst="lt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475656" y="2453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475656" y="1985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7584" y="1844824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7584" y="2276676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27584" y="2754448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353780" y="1916832"/>
              <a:ext cx="208231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code segment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  <a:p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where instructions live</a:t>
              </a:r>
              <a:endPara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47864" y="2464440"/>
              <a:ext cx="208231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heap segment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contains </a:t>
              </a:r>
              <a:r>
                <a:rPr lang="en-US" altLang="ko-KR" sz="13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malloc’d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data dynamic data structures (it grows downward)</a:t>
              </a:r>
              <a:endPara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353780" y="4640649"/>
              <a:ext cx="2082316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(it grows upward)</a:t>
              </a:r>
            </a:p>
            <a:p>
              <a:r>
                <a:rPr lang="en-US" altLang="ko-KR" sz="13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stack segment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contains local variables arguments to routines, return values, etc.</a:t>
              </a:r>
              <a:endPara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755576" y="5479132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Single-Threaded</a:t>
            </a:r>
          </a:p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Address Space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4168" y="5473799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Two threaded</a:t>
            </a:r>
          </a:p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Address Space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719912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Concurrency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390135" cy="5501258"/>
          </a:xfrm>
        </p:spPr>
        <p:txBody>
          <a:bodyPr/>
          <a:lstStyle/>
          <a:p>
            <a:r>
              <a:rPr lang="en-US" altLang="ko-KR" dirty="0"/>
              <a:t>The OS is juggling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many things at once</a:t>
            </a:r>
            <a:r>
              <a:rPr lang="en-US" altLang="ko-KR" dirty="0"/>
              <a:t>, first running one process, then another, and so forth.</a:t>
            </a:r>
          </a:p>
          <a:p>
            <a:r>
              <a:rPr lang="en-US" altLang="ko-KR" dirty="0"/>
              <a:t>Modern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multi-threaded programs</a:t>
            </a:r>
            <a:r>
              <a:rPr lang="en-US" altLang="ko-KR" dirty="0"/>
              <a:t> also exhibit the concurrency problem.</a:t>
            </a:r>
            <a:endParaRPr lang="ko-KR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636912"/>
            <a:ext cx="6243059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9866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Concurrency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Multi-threaded Program (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thread.c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39552" y="1628800"/>
            <a:ext cx="7992888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 	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stdio.h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	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stdlib.h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 	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volatile int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counter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loops;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 	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*worker(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9 	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 loops;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 			counter++;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 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AutoNum type="arabicPlain" startAt="14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}</a:t>
            </a:r>
          </a:p>
          <a:p>
            <a:pPr marL="342900" indent="-342900">
              <a:buAutoNum type="arabicPlain" startAt="14"/>
            </a:pP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77445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Concurrency Example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4725144"/>
            <a:ext cx="8786812" cy="2664296"/>
          </a:xfrm>
        </p:spPr>
        <p:txBody>
          <a:bodyPr/>
          <a:lstStyle/>
          <a:p>
            <a:pPr lvl="1"/>
            <a:r>
              <a:rPr lang="en-US" altLang="ko-KR" dirty="0"/>
              <a:t>The main program creates </a:t>
            </a:r>
            <a:r>
              <a:rPr lang="en-US" altLang="ko-KR" b="1" dirty="0"/>
              <a:t>two threads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u="sng" dirty="0"/>
              <a:t>Thread</a:t>
            </a:r>
            <a:r>
              <a:rPr lang="en-US" altLang="ko-KR" dirty="0"/>
              <a:t>: a function running within the same memory space. Each thread start running in a routine called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worker()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worker()</a:t>
            </a:r>
            <a:r>
              <a:rPr lang="en-US" altLang="ko-KR" dirty="0"/>
              <a:t>: increments a counter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291" y="836712"/>
            <a:ext cx="7704856" cy="39703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 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endParaRPr lang="en-US" altLang="ko-KR" sz="14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 	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 	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!=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 	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stderr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"usage: threads &lt;value&gt;\n");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 	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exit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		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 		loops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atoi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]);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p1, p2;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("Initial value : %d\n", counter);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(&amp;p1,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worker,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28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(&amp;p2,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worker,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29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(p1,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30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(p2,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31 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("Final value : %d\n", counter);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32 		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33 	}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075954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Concurrency Example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Courier New" pitchFamily="49" charset="0"/>
                <a:cs typeface="Courier New" pitchFamily="49" charset="0"/>
              </a:rPr>
              <a:t>loops </a:t>
            </a:r>
            <a:r>
              <a:rPr lang="en-US" altLang="ko-KR" dirty="0"/>
              <a:t>determines how many times each of the two workers will </a:t>
            </a:r>
            <a:r>
              <a:rPr lang="en-US" altLang="ko-KR" b="1" dirty="0"/>
              <a:t>increment the shared counter </a:t>
            </a:r>
            <a:r>
              <a:rPr lang="en-US" altLang="ko-KR" dirty="0"/>
              <a:t>in a loop.</a:t>
            </a:r>
          </a:p>
          <a:p>
            <a:pPr lvl="1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loops</a:t>
            </a:r>
            <a:r>
              <a:rPr lang="en-US" altLang="ko-KR" dirty="0">
                <a:cs typeface="Courier New" pitchFamily="49" charset="0"/>
              </a:rPr>
              <a:t>:</a:t>
            </a:r>
            <a:r>
              <a:rPr lang="en-US" altLang="ko-KR" dirty="0"/>
              <a:t> 1000.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loops</a:t>
            </a:r>
            <a:r>
              <a:rPr lang="en-US" altLang="ko-KR" dirty="0">
                <a:cs typeface="Courier New" pitchFamily="49" charset="0"/>
              </a:rPr>
              <a:t>: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1000000000</a:t>
            </a:r>
          </a:p>
          <a:p>
            <a:pPr lvl="1"/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55576" y="2402885"/>
            <a:ext cx="7488832" cy="95410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gcc -o thread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thread.c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-Wall -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./thread 1000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Initial value : 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Final value : 2000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55576" y="4276253"/>
            <a:ext cx="7488832" cy="13849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./thread 1000000000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Initial value : 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Final value : 1997974414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huh??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./thread 1000000000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Initial value : 0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Final value : 1997940107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what the??</a:t>
            </a:r>
            <a:endParaRPr lang="ko-KR" altLang="en-US" sz="1400" dirty="0">
              <a:solidFill>
                <a:srgbClr val="FF000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4896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is this happening?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4933751" cy="5501258"/>
          </a:xfrm>
        </p:spPr>
        <p:txBody>
          <a:bodyPr/>
          <a:lstStyle/>
          <a:p>
            <a:r>
              <a:rPr lang="en-US" altLang="ko-KR" dirty="0"/>
              <a:t>Increment a shared counter </a:t>
            </a:r>
            <a:r>
              <a:rPr lang="en-US" altLang="ko-KR" dirty="0">
                <a:sym typeface="Wingdings" pitchFamily="2" charset="2"/>
              </a:rPr>
              <a:t> take three instructions.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ym typeface="Wingdings" pitchFamily="2" charset="2"/>
              </a:rPr>
              <a:t>Load the value of the counter from the memory into a register.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ym typeface="Wingdings" pitchFamily="2" charset="2"/>
              </a:rPr>
              <a:t>Increment it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sym typeface="Wingdings" pitchFamily="2" charset="2"/>
              </a:rPr>
              <a:t>Store it back into the memory</a:t>
            </a:r>
          </a:p>
          <a:p>
            <a:endParaRPr lang="en-US" altLang="ko-KR" dirty="0">
              <a:sym typeface="Wingdings" pitchFamily="2" charset="2"/>
            </a:endParaRPr>
          </a:p>
          <a:p>
            <a:r>
              <a:rPr lang="en-US" altLang="ko-KR" dirty="0">
                <a:sym typeface="Wingdings" pitchFamily="2" charset="2"/>
              </a:rPr>
              <a:t>These three instructions do not execute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atomically</a:t>
            </a:r>
            <a:r>
              <a:rPr lang="en-US" altLang="ko-KR" dirty="0">
                <a:sym typeface="Wingdings" pitchFamily="2" charset="2"/>
              </a:rPr>
              <a:t>.  Problem of </a:t>
            </a:r>
            <a:r>
              <a:rPr lang="en-US" altLang="ko-KR" b="1" dirty="0">
                <a:sym typeface="Wingdings" pitchFamily="2" charset="2"/>
              </a:rPr>
              <a:t>concurrency </a:t>
            </a:r>
            <a:r>
              <a:rPr lang="en-US" altLang="ko-KR" dirty="0">
                <a:sym typeface="Wingdings" pitchFamily="2" charset="2"/>
              </a:rPr>
              <a:t>happen.</a:t>
            </a:r>
            <a:endParaRPr lang="ko-KR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6763" t="-1206" b="1"/>
          <a:stretch/>
        </p:blipFill>
        <p:spPr>
          <a:xfrm>
            <a:off x="5654285" y="1412776"/>
            <a:ext cx="3323532" cy="364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3594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happened?</a:t>
            </a:r>
            <a:endParaRPr lang="en-HK" dirty="0"/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/>
          <a:p>
            <a:r>
              <a:rPr lang="en-US" altLang="ko-KR" dirty="0"/>
              <a:t>Example with two threads</a:t>
            </a:r>
          </a:p>
          <a:p>
            <a:pPr lvl="1"/>
            <a:r>
              <a:rPr lang="en-US" altLang="ko-KR" dirty="0"/>
              <a:t>counter = counter + 1 (</a:t>
            </a:r>
            <a:r>
              <a:rPr lang="en-US" altLang="ko-KR" b="1"/>
              <a:t>initial value:</a:t>
            </a:r>
            <a:r>
              <a:rPr lang="en-US" altLang="ko-KR"/>
              <a:t> </a:t>
            </a:r>
            <a:r>
              <a:rPr lang="en-US" altLang="ko-KR" b="1" dirty="0"/>
              <a:t>50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We expect the result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52</a:t>
            </a:r>
            <a:r>
              <a:rPr lang="en-US" altLang="ko-KR" dirty="0"/>
              <a:t>. However,</a:t>
            </a:r>
          </a:p>
        </p:txBody>
      </p:sp>
      <p:grpSp>
        <p:nvGrpSpPr>
          <p:cNvPr id="5" name="그룹 29"/>
          <p:cNvGrpSpPr/>
          <p:nvPr/>
        </p:nvGrpSpPr>
        <p:grpSpPr>
          <a:xfrm>
            <a:off x="755576" y="2503429"/>
            <a:ext cx="7488832" cy="3733883"/>
            <a:chOff x="755576" y="2348880"/>
            <a:chExt cx="7488832" cy="3733883"/>
          </a:xfrm>
        </p:grpSpPr>
        <p:cxnSp>
          <p:nvCxnSpPr>
            <p:cNvPr id="6" name="직선 연결선 6"/>
            <p:cNvCxnSpPr/>
            <p:nvPr/>
          </p:nvCxnSpPr>
          <p:spPr>
            <a:xfrm>
              <a:off x="1043608" y="2894666"/>
              <a:ext cx="72008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996005" y="2556112"/>
              <a:ext cx="455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OS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411240" y="2556112"/>
              <a:ext cx="936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Thread1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10749" y="2556112"/>
              <a:ext cx="936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Thread2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56176" y="2556112"/>
              <a:ext cx="4315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37408" y="2556112"/>
              <a:ext cx="670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%</a:t>
              </a:r>
              <a:r>
                <a:rPr lang="en-US" altLang="ko-KR" sz="16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eax</a:t>
              </a:r>
              <a:endPara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77211" y="2556112"/>
              <a:ext cx="8946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counter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67744" y="2952716"/>
              <a:ext cx="222528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Initial value</a:t>
              </a:r>
            </a:p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0x8049a1c,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add $0x1,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156176" y="2952716"/>
              <a:ext cx="50687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105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108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01434" y="2952716"/>
              <a:ext cx="39946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24328" y="2952716"/>
              <a:ext cx="39946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5576" y="3739017"/>
              <a:ext cx="222528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interrupt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save T1’s state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restore T2’s state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58879" y="4389250"/>
              <a:ext cx="222528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0x8049a1c,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add $0x1,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, 0x8049a1c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56176" y="4190810"/>
              <a:ext cx="50687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105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108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113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01434" y="4190810"/>
              <a:ext cx="39946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24328" y="4190810"/>
              <a:ext cx="39946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5576" y="5109984"/>
              <a:ext cx="222528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interrupt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save T2’s state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restore T1’s state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67744" y="5774986"/>
              <a:ext cx="22252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, 0x8049a1c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56176" y="5559542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108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113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01434" y="5559542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524328" y="5559542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FF0000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  <a:p>
              <a:r>
                <a:rPr lang="en-US" altLang="ko-KR" sz="1400" b="1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245768" y="2348880"/>
              <a:ext cx="17915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160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after instruction)</a:t>
              </a:r>
              <a:endPara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6084168" y="2276872"/>
            <a:ext cx="2094672" cy="3960440"/>
          </a:xfrm>
          <a:prstGeom prst="round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345958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0: Initial Value (PC=100)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3042442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H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203848" y="312122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305945"/>
            <a:ext cx="3619775" cy="12575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263643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1: Fetch instruction from the memory (PC-&gt;Address=100)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 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H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203848" y="312122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455217"/>
            <a:ext cx="3619775" cy="178561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3688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/>
          <p:cNvCxnSpPr>
            <a:stCxn id="88" idx="1"/>
          </p:cNvCxnSpPr>
          <p:nvPr/>
        </p:nvCxnSpPr>
        <p:spPr>
          <a:xfrm flipH="1" flipV="1">
            <a:off x="3544556" y="2029336"/>
            <a:ext cx="1122485" cy="35020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95659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Steps 2 &amp; 3: Decode &amp; Execution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H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446320"/>
            <a:ext cx="3619775" cy="176847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3688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589829" y="3269742"/>
            <a:ext cx="1774260" cy="11052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306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4: Increase PC (pointed to the next instruction in the memory)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446320"/>
            <a:ext cx="3619775" cy="176847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3688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813587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1: Fetch instruction from the memory (PC-&gt;Address=105)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608875"/>
            <a:ext cx="3619775" cy="176847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444567" y="2011520"/>
            <a:ext cx="1260111" cy="6684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287262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Steps 2 &amp; 3: Decode &amp; Execution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608875"/>
            <a:ext cx="3619775" cy="176847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72922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3: Increase PC (pointed to the next instruction in the memory)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7584" y="4608875"/>
            <a:ext cx="3619775" cy="176847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729506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Interrupt occurred; Save Thread 1’s state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3622" y="4867587"/>
            <a:ext cx="4564796" cy="350571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/>
          <p:cNvCxnSpPr>
            <a:stCxn id="92" idx="3"/>
            <a:endCxn id="58" idx="1"/>
          </p:cNvCxnSpPr>
          <p:nvPr/>
        </p:nvCxnSpPr>
        <p:spPr>
          <a:xfrm>
            <a:off x="2915816" y="1679582"/>
            <a:ext cx="2459702" cy="430950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3424742" y="3269742"/>
            <a:ext cx="1950776" cy="30395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51369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Restore Thread 2’s state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-7808" y="5229200"/>
            <a:ext cx="4564796" cy="176107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 flipH="1" flipV="1">
            <a:off x="2843808" y="1739440"/>
            <a:ext cx="2736304" cy="337392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90" idx="1"/>
          </p:cNvCxnSpPr>
          <p:nvPr/>
        </p:nvCxnSpPr>
        <p:spPr>
          <a:xfrm flipH="1" flipV="1">
            <a:off x="3424743" y="3345102"/>
            <a:ext cx="2015898" cy="20470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832862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1: Fetch instruction from the memory (PC-&gt;Address=100)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H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203848" y="312122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1835696" y="5384646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3688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/>
          <p:cNvCxnSpPr>
            <a:stCxn id="88" idx="1"/>
          </p:cNvCxnSpPr>
          <p:nvPr/>
        </p:nvCxnSpPr>
        <p:spPr>
          <a:xfrm flipH="1" flipV="1">
            <a:off x="3544556" y="2029336"/>
            <a:ext cx="1122485" cy="35020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455574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Steps 2 &amp; 3: Decode &amp; Execution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HK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3688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589829" y="3269742"/>
            <a:ext cx="1774260" cy="11052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835696" y="5384646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899513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4: Increase PC (pointed to the next instruction in the memory)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3688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1835696" y="5384646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596217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1: Fetch instruction from the memory (PC-&gt;Address=105)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444567" y="2011520"/>
            <a:ext cx="1260111" cy="6684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835696" y="5551522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404557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Steps 2 &amp; 3: Decode &amp; Execution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835696" y="5551522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32776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4: Increase PC (pointed to the next instruction in the memory)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087516" y="1860875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835696" y="5551522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6301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1: Fetch instruction from the memory (PC-&gt;Address=108)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444568" y="2011521"/>
            <a:ext cx="1415464" cy="10753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835696" y="5706968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52390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Steps 2 &amp; 3: Decode &amp; Execution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835696" y="5711542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3541307" y="3269742"/>
            <a:ext cx="1822781" cy="110523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09074" y="420134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9099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4: Increase PC (pointed to the next instruction in the memory)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835696" y="5710396"/>
            <a:ext cx="2611663" cy="20459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342566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Interrupt occurred; Save Thread 2’s state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-36512" y="5956955"/>
            <a:ext cx="2611663" cy="329505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3541307" y="3269742"/>
            <a:ext cx="1818794" cy="213526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68" idx="1"/>
          </p:cNvCxnSpPr>
          <p:nvPr/>
        </p:nvCxnSpPr>
        <p:spPr>
          <a:xfrm>
            <a:off x="2843808" y="1700808"/>
            <a:ext cx="2520280" cy="342761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09074" y="528146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64088" y="4989919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441111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Restore Thread 1’s state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64088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26102" y="2241076"/>
            <a:ext cx="29704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-36512" y="6290539"/>
            <a:ext cx="2611663" cy="171434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9" name="Straight Arrow Connector 58"/>
          <p:cNvCxnSpPr>
            <a:stCxn id="62" idx="1"/>
            <a:endCxn id="57" idx="3"/>
          </p:cNvCxnSpPr>
          <p:nvPr/>
        </p:nvCxnSpPr>
        <p:spPr>
          <a:xfrm flipH="1" flipV="1">
            <a:off x="3541307" y="3275112"/>
            <a:ext cx="1890627" cy="300147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2907353" y="1676068"/>
            <a:ext cx="2672760" cy="428088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409074" y="528146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64088" y="4989919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15747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1: Fetch instruction from the memory (PC-&gt;Address=108)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31934" y="42210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444568" y="2011521"/>
            <a:ext cx="1415464" cy="10753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27584" y="6453335"/>
            <a:ext cx="3619775" cy="216025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26102" y="2241076"/>
            <a:ext cx="29704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500521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 &amp; 3: Decode &amp; Execution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3541307" y="3269742"/>
            <a:ext cx="1822781" cy="110523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409074" y="420134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26102" y="2241076"/>
            <a:ext cx="29704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27584" y="6453335"/>
            <a:ext cx="3619775" cy="216025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933279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5"/>
          <p:cNvSpPr/>
          <p:nvPr/>
        </p:nvSpPr>
        <p:spPr>
          <a:xfrm>
            <a:off x="114308" y="1103258"/>
            <a:ext cx="376183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026" name="Picture 2" descr="Image result for alu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7" y="1158887"/>
            <a:ext cx="1388507" cy="15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4: Increase PC (pointed to the next instruction in the memory)</a:t>
            </a:r>
            <a:endParaRPr lang="ko-KR" altLang="en-US" dirty="0"/>
          </a:p>
        </p:txBody>
      </p:sp>
      <p:sp>
        <p:nvSpPr>
          <p:cNvPr id="7" name="직사각형 5"/>
          <p:cNvSpPr/>
          <p:nvPr/>
        </p:nvSpPr>
        <p:spPr>
          <a:xfrm>
            <a:off x="4644009" y="1103258"/>
            <a:ext cx="1800200" cy="52928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0032" y="69269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5616" y="764704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91681" y="1561214"/>
            <a:ext cx="1958113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80609" y="1553350"/>
            <a:ext cx="3978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PC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82" y="1903148"/>
            <a:ext cx="1951994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9802" y="190474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414" y="2245082"/>
            <a:ext cx="1945735" cy="2297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76414" y="2236802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b="1" dirty="0"/>
              <a:t>PSR </a:t>
            </a:r>
          </a:p>
          <a:p>
            <a:endParaRPr lang="en-HK" sz="1000" b="1" dirty="0"/>
          </a:p>
        </p:txBody>
      </p:sp>
      <p:sp>
        <p:nvSpPr>
          <p:cNvPr id="15" name="Rectangle 14"/>
          <p:cNvSpPr/>
          <p:nvPr/>
        </p:nvSpPr>
        <p:spPr>
          <a:xfrm>
            <a:off x="17951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959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19672" y="3161730"/>
            <a:ext cx="648072" cy="2160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411760" y="3269742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24" y="3140968"/>
            <a:ext cx="749873" cy="310923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91212" y="2772291"/>
            <a:ext cx="3588700" cy="0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619672" y="1103258"/>
            <a:ext cx="0" cy="1669033"/>
          </a:xfrm>
          <a:prstGeom prst="line">
            <a:avLst/>
          </a:prstGeom>
          <a:ln w="12700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3646202" y="1676068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637149" y="2034105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631412" y="2366986"/>
            <a:ext cx="3028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1560" y="1758793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5776" y="1177007"/>
            <a:ext cx="1162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84" y="2779122"/>
            <a:ext cx="2314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Registers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43741" y="253311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5580112" y="1268760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110706" y="2931375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000" dirty="0"/>
              <a:t>%</a:t>
            </a:r>
            <a:r>
              <a:rPr lang="en-HK" sz="1000" dirty="0" err="1"/>
              <a:t>eax</a:t>
            </a:r>
            <a:endParaRPr lang="en-HK" sz="10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5580112" y="5589240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580112" y="4653136"/>
            <a:ext cx="0" cy="21602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663388" y="2892022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78" name="Straight Connector 77"/>
          <p:cNvCxnSpPr/>
          <p:nvPr/>
        </p:nvCxnSpPr>
        <p:spPr>
          <a:xfrm>
            <a:off x="4644008" y="2204864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43741" y="285293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644008" y="32129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644008" y="422108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4644008" y="452722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44008" y="52567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4644008" y="5543975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4644008" y="6147198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704944" y="2553899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add $0x1,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667041" y="2225649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0x8049a1c,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endParaRPr lang="en-US" altLang="ko-KR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40641" y="523825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500318" y="1541082"/>
            <a:ext cx="407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90856"/>
            <a:ext cx="4568418" cy="2978505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cxnSp>
        <p:nvCxnSpPr>
          <p:cNvPr id="102" name="Straight Connector 101"/>
          <p:cNvCxnSpPr/>
          <p:nvPr/>
        </p:nvCxnSpPr>
        <p:spPr>
          <a:xfrm>
            <a:off x="5580112" y="3377754"/>
            <a:ext cx="0" cy="659517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4644008" y="5013176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44008" y="5877272"/>
            <a:ext cx="1800467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319239" y="49954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100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177105" y="31212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375518" y="585058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  <a:endParaRPr lang="en-HK" sz="1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431934" y="61226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691680" y="1844824"/>
            <a:ext cx="1826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mov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%</a:t>
            </a:r>
            <a:r>
              <a:rPr lang="en-US" altLang="ko-KR" sz="1400" dirty="0" err="1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eax</a:t>
            </a:r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, 0x8049a1c</a:t>
            </a:r>
            <a:endParaRPr lang="ko-KR" altLang="en-US" sz="1400" dirty="0">
              <a:solidFill>
                <a:prstClr val="black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26102" y="2241076"/>
            <a:ext cx="29704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105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108</a:t>
            </a:r>
          </a:p>
          <a:p>
            <a:endParaRPr lang="en-HK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0x </a:t>
            </a:r>
            <a:r>
              <a:rPr lang="en-US" altLang="ko-KR" sz="11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0x8049a1c   </a:t>
            </a:r>
            <a:r>
              <a:rPr lang="en-US" altLang="ko-KR" sz="11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(counter)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%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memory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%</a:t>
            </a:r>
            <a:r>
              <a:rPr lang="en-US"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404516" y="5007030"/>
            <a:ext cx="2970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2’s local copy of  PC in memory</a:t>
            </a:r>
          </a:p>
          <a:p>
            <a:endParaRPr lang="en-US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1’s local copy of  PC in memory </a:t>
            </a:r>
            <a:endParaRPr lang="en-HK"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27584" y="6453335"/>
            <a:ext cx="3619775" cy="216025"/>
          </a:xfrm>
          <a:prstGeom prst="roundRect">
            <a:avLst/>
          </a:prstGeom>
          <a:solidFill>
            <a:schemeClr val="bg1">
              <a:alpha val="0"/>
            </a:schemeClr>
          </a:solidFill>
          <a:ln w="34925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431934" y="420134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51</a:t>
            </a:r>
            <a:endParaRPr lang="ko-KR" alt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685497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Critical section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piece of code that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accesses a shared variable </a:t>
            </a:r>
            <a:r>
              <a:rPr lang="en-US" altLang="ko-KR" dirty="0"/>
              <a:t>and must not be concurrently executed by more than one thread.</a:t>
            </a:r>
          </a:p>
          <a:p>
            <a:pPr lvl="1"/>
            <a:r>
              <a:rPr lang="en-US" altLang="ko-KR" dirty="0"/>
              <a:t>Multiple threads executing critical section can result in a race condition.</a:t>
            </a:r>
          </a:p>
          <a:p>
            <a:pPr lvl="1"/>
            <a:r>
              <a:rPr lang="en-US" altLang="ko-KR" dirty="0"/>
              <a:t>Need to support </a:t>
            </a:r>
            <a:r>
              <a:rPr lang="en-US" altLang="ko-KR" b="1" dirty="0"/>
              <a:t>atomicity</a:t>
            </a:r>
            <a:r>
              <a:rPr lang="en-US" altLang="ko-KR" dirty="0"/>
              <a:t> for critical sections (</a:t>
            </a:r>
            <a:r>
              <a:rPr lang="en-US" altLang="ko-KR" b="1" dirty="0"/>
              <a:t>mutual exclusion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7546524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Ensure that any such critical section executes as if it were a single atomic instruction (</a:t>
            </a:r>
            <a:r>
              <a:rPr lang="en-US" altLang="ko-KR" b="1" dirty="0"/>
              <a:t>execute a series of instructions atomically</a:t>
            </a:r>
            <a:r>
              <a:rPr lang="en-US" altLang="ko-KR" dirty="0"/>
              <a:t>).</a:t>
            </a:r>
          </a:p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11760" y="2763505"/>
            <a:ext cx="367240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1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2    . . .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3    lock(&amp;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4    balance = balance + </a:t>
            </a:r>
            <a:r>
              <a:rPr lang="en-US" altLang="ko-KR" sz="1400" dirty="0">
                <a:solidFill>
                  <a:srgbClr val="FF0000"/>
                </a:solidFill>
                <a:latin typeface="Courier" pitchFamily="49" charset="0"/>
                <a:ea typeface="맑은 고딕" pitchFamily="50" charset="-127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5    unlock(&amp;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);</a:t>
            </a:r>
            <a:endParaRPr lang="ko-KR" altLang="en-US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72200" y="3341713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Critical section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005754" y="3393105"/>
            <a:ext cx="2808312" cy="23576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0" name="직선 화살표 연결선 9"/>
          <p:cNvCxnSpPr>
            <a:stCxn id="8" idx="3"/>
          </p:cNvCxnSpPr>
          <p:nvPr/>
        </p:nvCxnSpPr>
        <p:spPr>
          <a:xfrm flipV="1">
            <a:off x="5814066" y="3510989"/>
            <a:ext cx="504056" cy="1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315720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II: Thread 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22553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Creation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to create and control threads?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n-US" altLang="ko-KR" dirty="0"/>
              <a:t>: Used to interact with this thread.</a:t>
            </a:r>
          </a:p>
          <a:p>
            <a:pPr lvl="1"/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  <a:r>
              <a:rPr lang="en-US" altLang="ko-KR" dirty="0"/>
              <a:t> Used to specify any attributes this thread might have.</a:t>
            </a:r>
          </a:p>
          <a:p>
            <a:pPr lvl="2"/>
            <a:r>
              <a:rPr lang="en-US" altLang="ko-KR" dirty="0"/>
              <a:t>Stack size, Scheduling priority, …</a:t>
            </a:r>
          </a:p>
          <a:p>
            <a:pPr lvl="1"/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start_routine</a:t>
            </a:r>
            <a:r>
              <a:rPr lang="en-US" altLang="ko-KR" dirty="0"/>
              <a:t>: the function this thread start running in.</a:t>
            </a:r>
          </a:p>
          <a:p>
            <a:pPr lvl="1"/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altLang="ko-KR" dirty="0"/>
              <a:t>: the argument to be passed to the function (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start routine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i="1" dirty="0"/>
              <a:t>a void pointer </a:t>
            </a:r>
            <a:r>
              <a:rPr lang="en-US" altLang="ko-KR" dirty="0"/>
              <a:t>allows us to pass in </a:t>
            </a:r>
            <a:r>
              <a:rPr lang="en-US" altLang="ko-KR" i="1" dirty="0"/>
              <a:t>any type of </a:t>
            </a:r>
            <a:r>
              <a:rPr lang="en-US" altLang="ko-KR" dirty="0"/>
              <a:t>argument.</a:t>
            </a:r>
          </a:p>
          <a:p>
            <a:pPr lvl="1"/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1556792"/>
            <a:ext cx="792088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pthread_create(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    thread,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const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pthread_attr_t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attr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         (*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start_routine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*),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96974013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Creating a Thread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1045760"/>
            <a:ext cx="8352928" cy="5047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a;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%d\n”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m-&gt;a, m-&gt;b);</a:t>
            </a:r>
          </a:p>
          <a:p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args.a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args.b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…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1680298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Wait for a thread to complete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n-US" altLang="ko-KR" dirty="0"/>
              <a:t>: Specify which thread </a:t>
            </a:r>
            <a:r>
              <a:rPr lang="en-US" altLang="ko-KR" i="1" dirty="0"/>
              <a:t>to wait for</a:t>
            </a:r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value_ptr</a:t>
            </a:r>
            <a:r>
              <a:rPr lang="en-US" altLang="ko-KR" dirty="0"/>
              <a:t>: A pointer to the </a:t>
            </a:r>
            <a:r>
              <a:rPr lang="en-US" altLang="ko-KR" u="sng" dirty="0"/>
              <a:t>return value</a:t>
            </a:r>
          </a:p>
          <a:p>
            <a:pPr lvl="2"/>
            <a:r>
              <a:rPr lang="en-US" altLang="ko-KR" dirty="0"/>
              <a:t>Because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 routine changes the value, the return value needs to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passed in a pointer</a:t>
            </a:r>
            <a:r>
              <a:rPr lang="en-US" altLang="ko-KR" dirty="0"/>
              <a:t> to that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576" y="1124744"/>
            <a:ext cx="7488832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 anchor="ctr">
            <a:no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thread,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value_ptr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26176178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Waiting for Thread Completion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2216" y="1045760"/>
            <a:ext cx="835292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stdio.h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assert.h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stdlib.h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a;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b;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typedef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__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y;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 %d\n”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m-&gt;a, m-&gt;b);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*r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r-&gt;x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r-&gt;y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r;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930410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Waiting for Thread Completion (Cont.)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2216" y="1052736"/>
            <a:ext cx="835292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args.a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args.b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&amp;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args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(p,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**) &amp;m); 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this thread has been					   // waiting inside of the 						   // 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 routine.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“returned %d 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m-&gt;x, m-&gt;y);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circleNumDbPlain" startAt="25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685686386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Dangerous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 careful with </a:t>
            </a:r>
            <a:r>
              <a:rPr lang="en-US" altLang="ko-KR" u="sng" dirty="0"/>
              <a:t>how values are returned</a:t>
            </a:r>
            <a:r>
              <a:rPr lang="en-US" altLang="ko-KR" dirty="0"/>
              <a:t> from a thread.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When the variable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ko-KR" dirty="0"/>
              <a:t> returns, it is automatically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de-allocated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654929"/>
            <a:ext cx="7430144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*m = 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myarg_t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 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m-&gt;a, m-&gt;b);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myret_t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r;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ALLOCATED ON STACK: BAD!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r.x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r.y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&amp;r;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799370259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Simpler Argument Passing to a Thread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Just passing in a single value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2216" y="1556792"/>
            <a:ext cx="835292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 =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(&amp;p,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(p, 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**) &amp;m);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“returned %d\n”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m);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802520602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Provide </a:t>
            </a:r>
            <a:r>
              <a:rPr lang="en-US" altLang="ko-KR">
                <a:solidFill>
                  <a:schemeClr val="accent6">
                    <a:lumMod val="75000"/>
                  </a:schemeClr>
                </a:solidFill>
              </a:rPr>
              <a:t>mutual exclusion </a:t>
            </a:r>
            <a:r>
              <a:rPr lang="en-US" altLang="ko-KR" dirty="0"/>
              <a:t>to a critical section</a:t>
            </a:r>
          </a:p>
          <a:p>
            <a:pPr lvl="1"/>
            <a:r>
              <a:rPr lang="en-US" altLang="ko-KR" dirty="0"/>
              <a:t>Interface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Usage (w/o </a:t>
            </a:r>
            <a:r>
              <a:rPr lang="en-US" altLang="ko-KR" i="1" dirty="0"/>
              <a:t>lock initialization</a:t>
            </a:r>
            <a:r>
              <a:rPr lang="en-US" altLang="ko-KR" dirty="0"/>
              <a:t> and </a:t>
            </a:r>
            <a:r>
              <a:rPr lang="en-US" altLang="ko-KR" i="1" dirty="0"/>
              <a:t>error check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2"/>
            <a:r>
              <a:rPr lang="en-US" altLang="ko-KR" dirty="0"/>
              <a:t>No other thread holds the lock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the thread will acquire the lock and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enter the critical section.</a:t>
            </a:r>
          </a:p>
          <a:p>
            <a:pPr lvl="2"/>
            <a:r>
              <a:rPr lang="en-US" altLang="ko-KR" dirty="0"/>
              <a:t>If another thread hold the lock </a:t>
            </a:r>
            <a:r>
              <a:rPr lang="en-US" altLang="ko-KR" dirty="0">
                <a:sym typeface="Wingdings" panose="05000000000000000000" pitchFamily="2" charset="2"/>
              </a:rPr>
              <a:t> the thread will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not return from the call</a:t>
            </a:r>
            <a:r>
              <a:rPr lang="en-US" altLang="ko-KR" dirty="0">
                <a:sym typeface="Wingdings" panose="05000000000000000000" pitchFamily="2" charset="2"/>
              </a:rPr>
              <a:t> until it has acquired the lock.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814264" y="1908121"/>
            <a:ext cx="72141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264" y="3356992"/>
            <a:ext cx="721412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lock;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x = x +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or whatever your critical section is</a:t>
            </a:r>
          </a:p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pthread_mutex_unlock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(&amp;lock);</a:t>
            </a:r>
          </a:p>
        </p:txBody>
      </p:sp>
    </p:spTree>
    <p:extLst>
      <p:ext uri="{BB962C8B-B14F-4D97-AF65-F5344CB8AC3E}">
        <p14:creationId xmlns:p14="http://schemas.microsoft.com/office/powerpoint/2010/main" val="586850005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All locks must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properly initialized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One way: using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PTHREAD_MUTEX_INITIALIZER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The dynamic way: using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pthread_mutex_init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988840"/>
            <a:ext cx="72008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lock = PTHREAD_MUTEX_INITIALIZER;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84" y="3060249"/>
            <a:ext cx="72008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pthread_mutex_init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(&amp;lock,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assert(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always check success!</a:t>
            </a:r>
          </a:p>
        </p:txBody>
      </p:sp>
    </p:spTree>
    <p:extLst>
      <p:ext uri="{BB962C8B-B14F-4D97-AF65-F5344CB8AC3E}">
        <p14:creationId xmlns:p14="http://schemas.microsoft.com/office/powerpoint/2010/main" val="1275291058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Check errors </a:t>
            </a:r>
            <a:r>
              <a:rPr lang="en-US" altLang="ko-KR" dirty="0"/>
              <a:t>code when calling lock and unlock</a:t>
            </a:r>
          </a:p>
          <a:p>
            <a:pPr lvl="1"/>
            <a:r>
              <a:rPr lang="en-US" altLang="ko-KR" dirty="0"/>
              <a:t>An example wrapper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886272" y="2003356"/>
            <a:ext cx="757416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Use this to keep your code clean but check for failures</a:t>
            </a: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// Only use if exiting program is OK upon failure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assert(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6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647251933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These two calls are also used in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lock acquisition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trylock</a:t>
            </a:r>
            <a:r>
              <a:rPr lang="en-US" altLang="ko-KR" dirty="0"/>
              <a:t>: return failure if the lock is already held</a:t>
            </a:r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timelock</a:t>
            </a:r>
            <a:r>
              <a:rPr lang="en-US" altLang="ko-KR" dirty="0"/>
              <a:t>: return after a timeout or after acquiring the lock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42256" y="1556792"/>
            <a:ext cx="779018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pthread_mutex_trylock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pthread_mutex_timelock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pthread_mutex_t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mutex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         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timespec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abs_timeout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67254980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Compiling and Running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compile them, you must include the header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pthread.h</a:t>
            </a:r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altLang="ko-KR" dirty="0"/>
              <a:t>Explicitly link with the 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</a:rPr>
              <a:t>pthreads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 library</a:t>
            </a:r>
            <a:r>
              <a:rPr lang="en-US" altLang="ko-KR" dirty="0"/>
              <a:t>, by adding the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–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pthread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dirty="0"/>
              <a:t>flag.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For more information,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30288" y="1988840"/>
            <a:ext cx="598998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prompt&gt;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gcc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–o main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main.c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–Wall -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</a:t>
            </a:r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0288" y="3429000"/>
            <a:ext cx="598998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252000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man –k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</a:t>
            </a:r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320474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US" altLang="ko-KR" dirty="0"/>
              <a:t>A multi-threaded program </a:t>
            </a:r>
          </a:p>
          <a:p>
            <a:pPr lvl="1"/>
            <a:r>
              <a:rPr lang="en-US" altLang="ko-KR" dirty="0"/>
              <a:t>More than one point of execution (with multiple PCs)</a:t>
            </a:r>
          </a:p>
          <a:p>
            <a:pPr lvl="1"/>
            <a:r>
              <a:rPr lang="en-US" altLang="ko-KR" dirty="0"/>
              <a:t>Multiple threads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share</a:t>
            </a:r>
            <a:r>
              <a:rPr lang="en-US" altLang="ko-KR" dirty="0"/>
              <a:t> the same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address space</a:t>
            </a:r>
            <a:r>
              <a:rPr lang="en-US" altLang="ko-KR" dirty="0"/>
              <a:t> but with different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stacks</a:t>
            </a:r>
          </a:p>
          <a:p>
            <a:r>
              <a:rPr lang="en-HK" dirty="0"/>
              <a:t>Race condition may occur when multiple threads  enter critical sections.</a:t>
            </a:r>
            <a:endParaRPr lang="en-US" dirty="0"/>
          </a:p>
          <a:p>
            <a:r>
              <a:rPr lang="en-HK" dirty="0"/>
              <a:t>Thread API</a:t>
            </a:r>
          </a:p>
          <a:p>
            <a:pPr lvl="1"/>
            <a:r>
              <a:rPr lang="en-HK" dirty="0"/>
              <a:t>Thread creation: </a:t>
            </a:r>
            <a:r>
              <a:rPr lang="en-US" altLang="ko-KR" dirty="0">
                <a:solidFill>
                  <a:prstClr val="black"/>
                </a:solidFill>
              </a:rPr>
              <a:t>pthread_create</a:t>
            </a:r>
            <a:endParaRPr lang="en-HK" dirty="0"/>
          </a:p>
          <a:p>
            <a:pPr lvl="1"/>
            <a:r>
              <a:rPr lang="en-HK" dirty="0"/>
              <a:t>Thread wait: </a:t>
            </a:r>
            <a:r>
              <a:rPr lang="en-US" altLang="ko-KR" dirty="0" err="1"/>
              <a:t>pthread_join</a:t>
            </a:r>
            <a:r>
              <a:rPr lang="en-US" altLang="ko-KR" dirty="0"/>
              <a:t>() </a:t>
            </a:r>
          </a:p>
          <a:p>
            <a:pPr lvl="1"/>
            <a:r>
              <a:rPr lang="en-HK" altLang="ko-KR" dirty="0"/>
              <a:t>Lock &amp; unlock:  </a:t>
            </a:r>
            <a:r>
              <a:rPr lang="en-US" altLang="ko-KR" dirty="0" err="1">
                <a:solidFill>
                  <a:prstClr val="black"/>
                </a:solidFill>
              </a:rPr>
              <a:t>pthread_mutex_lock</a:t>
            </a:r>
            <a:r>
              <a:rPr lang="en-US" altLang="ko-KR" dirty="0">
                <a:solidFill>
                  <a:prstClr val="black"/>
                </a:solidFill>
              </a:rPr>
              <a:t>() / </a:t>
            </a:r>
            <a:r>
              <a:rPr lang="en-US" altLang="ko-KR" sz="1800" dirty="0" err="1">
                <a:solidFill>
                  <a:prstClr val="black"/>
                </a:solidFill>
              </a:rPr>
              <a:t>pthread_mutex_unlock</a:t>
            </a:r>
            <a:r>
              <a:rPr lang="en-US" altLang="ko-KR" sz="1800" dirty="0">
                <a:solidFill>
                  <a:prstClr val="black"/>
                </a:solidFill>
              </a:rPr>
              <a:t>()</a:t>
            </a:r>
          </a:p>
          <a:p>
            <a:r>
              <a:rPr lang="en-US"/>
              <a:t>Next</a:t>
            </a:r>
            <a:r>
              <a:rPr lang="en-US" dirty="0"/>
              <a:t>: Lock and Conditional Variable</a:t>
            </a:r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106522</TotalTime>
  <Words>4511</Words>
  <Application>Microsoft Office PowerPoint</Application>
  <PresentationFormat>On-screen Show (4:3)</PresentationFormat>
  <Paragraphs>1576</Paragraphs>
  <Slides>51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Courier</vt:lpstr>
      <vt:lpstr>HY견고딕</vt:lpstr>
      <vt:lpstr>맑은 고딕</vt:lpstr>
      <vt:lpstr>Courier New</vt:lpstr>
      <vt:lpstr>Tahoma</vt:lpstr>
      <vt:lpstr>Times New Roman</vt:lpstr>
      <vt:lpstr>Wingdings</vt:lpstr>
      <vt:lpstr>양식_공청회_발표자료-총괄-양식</vt:lpstr>
      <vt:lpstr>Lecture 13: Concurrency – Thread and Thread API    </vt:lpstr>
      <vt:lpstr>PowerPoint Presentation</vt:lpstr>
      <vt:lpstr>PowerPoint Presentation</vt:lpstr>
      <vt:lpstr>Thread</vt:lpstr>
      <vt:lpstr>Context switch between threads</vt:lpstr>
      <vt:lpstr>The stack of the relevant thread</vt:lpstr>
      <vt:lpstr>Concurrency Problem</vt:lpstr>
      <vt:lpstr>Concurrency Example</vt:lpstr>
      <vt:lpstr>Concurrency Example (Cont.)</vt:lpstr>
      <vt:lpstr>Concurrency Example (Cont.)</vt:lpstr>
      <vt:lpstr>Why is this happening?</vt:lpstr>
      <vt:lpstr>What happened?</vt:lpstr>
      <vt:lpstr>Step 0: Initial Value (PC=100)</vt:lpstr>
      <vt:lpstr>Step 1: Fetch instruction from the memory (PC-&gt;Address=100)</vt:lpstr>
      <vt:lpstr>Steps 2 &amp; 3: Decode &amp; Execution</vt:lpstr>
      <vt:lpstr>Step 4: Increase PC (pointed to the next instruction in the memory)</vt:lpstr>
      <vt:lpstr>Step 1: Fetch instruction from the memory (PC-&gt;Address=105)</vt:lpstr>
      <vt:lpstr>Steps 2 &amp; 3: Decode &amp; Execution</vt:lpstr>
      <vt:lpstr>Step 3: Increase PC (pointed to the next instruction in the memory)</vt:lpstr>
      <vt:lpstr>Interrupt occurred; Save Thread 1’s state</vt:lpstr>
      <vt:lpstr>Restore Thread 2’s state</vt:lpstr>
      <vt:lpstr>Step 1: Fetch instruction from the memory (PC-&gt;Address=100)</vt:lpstr>
      <vt:lpstr>Steps 2 &amp; 3: Decode &amp; Execution</vt:lpstr>
      <vt:lpstr>Step 4: Increase PC (pointed to the next instruction in the memory)</vt:lpstr>
      <vt:lpstr>Step 1: Fetch instruction from the memory (PC-&gt;Address=105)</vt:lpstr>
      <vt:lpstr>Steps 2 &amp; 3: Decode &amp; Execution</vt:lpstr>
      <vt:lpstr>Step 4: Increase PC (pointed to the next instruction in the memory)</vt:lpstr>
      <vt:lpstr>Step 1: Fetch instruction from the memory (PC-&gt;Address=108)</vt:lpstr>
      <vt:lpstr>Steps 2 &amp; 3: Decode &amp; Execution</vt:lpstr>
      <vt:lpstr>Step 4: Increase PC (pointed to the next instruction in the memory)</vt:lpstr>
      <vt:lpstr>Interrupt occurred; Save Thread 2’s state</vt:lpstr>
      <vt:lpstr>Restore Thread 1’s state</vt:lpstr>
      <vt:lpstr>Step 1: Fetch instruction from the memory (PC-&gt;Address=108)</vt:lpstr>
      <vt:lpstr>Step 2 &amp; 3: Decode &amp; Execution</vt:lpstr>
      <vt:lpstr>Step 4: Increase PC (pointed to the next instruction in the memory)</vt:lpstr>
      <vt:lpstr>Critical section</vt:lpstr>
      <vt:lpstr>Locks</vt:lpstr>
      <vt:lpstr>PowerPoint Presentation</vt:lpstr>
      <vt:lpstr>Thread Creation</vt:lpstr>
      <vt:lpstr>Example: Creating a Thread</vt:lpstr>
      <vt:lpstr>Wait for a thread to complete</vt:lpstr>
      <vt:lpstr>Example: Waiting for Thread Completion</vt:lpstr>
      <vt:lpstr>Example: Waiting for Thread Completion (Cont.)</vt:lpstr>
      <vt:lpstr>Example: Dangerous code</vt:lpstr>
      <vt:lpstr>Example: Simpler Argument Passing to a Thread</vt:lpstr>
      <vt:lpstr>Locks</vt:lpstr>
      <vt:lpstr>Locks (Cont.)</vt:lpstr>
      <vt:lpstr>Locks (Cont.)</vt:lpstr>
      <vt:lpstr>Locks (Cont.)</vt:lpstr>
      <vt:lpstr>Compiling and Running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cp:lastModifiedBy>Zili Shao (CSD)</cp:lastModifiedBy>
  <cp:revision>136</cp:revision>
  <cp:lastPrinted>2015-03-03T01:48:46Z</cp:lastPrinted>
  <dcterms:created xsi:type="dcterms:W3CDTF">2011-05-01T06:09:10Z</dcterms:created>
  <dcterms:modified xsi:type="dcterms:W3CDTF">2025-11-10T13:30:51Z</dcterms:modified>
</cp:coreProperties>
</file>