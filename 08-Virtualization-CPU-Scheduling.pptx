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66"/>
  </p:notesMasterIdLst>
  <p:sldIdLst>
    <p:sldId id="284" r:id="rId2"/>
    <p:sldId id="354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44" r:id="rId55"/>
    <p:sldId id="345" r:id="rId56"/>
    <p:sldId id="346" r:id="rId57"/>
    <p:sldId id="347" r:id="rId58"/>
    <p:sldId id="348" r:id="rId59"/>
    <p:sldId id="349" r:id="rId60"/>
    <p:sldId id="350" r:id="rId61"/>
    <p:sldId id="351" r:id="rId62"/>
    <p:sldId id="352" r:id="rId63"/>
    <p:sldId id="353" r:id="rId64"/>
    <p:sldId id="292" r:id="rId6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361" autoAdjust="0"/>
    <p:restoredTop sz="91860" autoAdjust="0"/>
  </p:normalViewPr>
  <p:slideViewPr>
    <p:cSldViewPr>
      <p:cViewPr varScale="1">
        <p:scale>
          <a:sx n="88" d="100"/>
          <a:sy n="88" d="100"/>
        </p:scale>
        <p:origin x="72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951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HK" altLang="ko-KR" dirty="0"/>
              <a:t>CSCI 3150: Introduction to Operating Systems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dobe 고딕 Std B" pitchFamily="34" charset="-127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atinLnBrk="0"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6691396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546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2670"/>
            <a:ext cx="9144000" cy="7066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baseline="0" dirty="0">
              <a:solidFill>
                <a:schemeClr val="tx1"/>
              </a:solidFill>
              <a:effectLst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://pages.cs.wisc.edu/~remzi/OSTEP/vm-smalltables.pdf" TargetMode="External"/><Relationship Id="rId3" Type="http://schemas.openxmlformats.org/officeDocument/2006/relationships/hyperlink" Target="http://pages.cs.wisc.edu/~remzi/OSTEP/vm-mechanism.pdf" TargetMode="External"/><Relationship Id="rId7" Type="http://schemas.openxmlformats.org/officeDocument/2006/relationships/hyperlink" Target="http://pages.cs.wisc.edu/~remzi/OSTEP/vm-tlbs.pdf" TargetMode="External"/><Relationship Id="rId2" Type="http://schemas.openxmlformats.org/officeDocument/2006/relationships/hyperlink" Target="http://pages.cs.wisc.edu/~remzi/OSTEP/vm-intro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ages.cs.wisc.edu/~remzi/OSTEP/vm-paging.pdf" TargetMode="External"/><Relationship Id="rId11" Type="http://schemas.openxmlformats.org/officeDocument/2006/relationships/hyperlink" Target="http://pages.cs.wisc.edu/~remzi/OSTEP/vm-complete.pdf" TargetMode="External"/><Relationship Id="rId5" Type="http://schemas.openxmlformats.org/officeDocument/2006/relationships/hyperlink" Target="http://pages.cs.wisc.edu/~remzi/OSTEP/vm-freespace.pdf" TargetMode="External"/><Relationship Id="rId10" Type="http://schemas.openxmlformats.org/officeDocument/2006/relationships/hyperlink" Target="http://pages.cs.wisc.edu/~remzi/OSTEP/vm-beyondphys-policy.pdf" TargetMode="External"/><Relationship Id="rId4" Type="http://schemas.openxmlformats.org/officeDocument/2006/relationships/hyperlink" Target="http://pages.cs.wisc.edu/~remzi/OSTEP/vm-segmentation.pdf" TargetMode="External"/><Relationship Id="rId9" Type="http://schemas.openxmlformats.org/officeDocument/2006/relationships/hyperlink" Target="http://pages.cs.wisc.edu/~remzi/OSTEP/vm-beyondphy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7504" y="2060848"/>
            <a:ext cx="8856984" cy="1542033"/>
          </a:xfrm>
        </p:spPr>
        <p:txBody>
          <a:bodyPr/>
          <a:lstStyle/>
          <a:p>
            <a:pPr latinLnBrk="0"/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8: Virtualizing CPU - Scheduling</a:t>
            </a:r>
            <a:endParaRPr lang="en-HK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093573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1560" y="3355795"/>
            <a:ext cx="7848872" cy="591096"/>
          </a:xfrm>
          <a:prstGeom prst="roundRect">
            <a:avLst/>
          </a:prstGeom>
          <a:solidFill>
            <a:schemeClr val="bg1"/>
          </a:solidFill>
          <a:ln w="4445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362" name="TextBox 41"/>
          <p:cNvSpPr txBox="1">
            <a:spLocks noChangeArrowheads="1"/>
          </p:cNvSpPr>
          <p:nvPr/>
        </p:nvSpPr>
        <p:spPr bwMode="auto">
          <a:xfrm>
            <a:off x="611560" y="44624"/>
            <a:ext cx="70214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600" b="1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Course </a:t>
            </a:r>
            <a:r>
              <a:rPr lang="en-US" altLang="zh-CN" sz="3200" dirty="0">
                <a:latin typeface="Times New Roman" panose="02020603050405020304" pitchFamily="18" charset="0"/>
                <a:ea typeface="GungsuhChe" pitchFamily="49" charset="-128"/>
                <a:cs typeface="Times New Roman" panose="02020603050405020304" pitchFamily="18" charset="0"/>
              </a:rPr>
              <a:t>Organization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(Bottom-up)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63" name="Straight Arrow Connector 10"/>
          <p:cNvCxnSpPr>
            <a:cxnSpLocks noChangeShapeType="1"/>
          </p:cNvCxnSpPr>
          <p:nvPr/>
        </p:nvCxnSpPr>
        <p:spPr bwMode="auto">
          <a:xfrm flipV="1">
            <a:off x="381000" y="2387600"/>
            <a:ext cx="0" cy="2441575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5" name="Group 64"/>
          <p:cNvGrpSpPr/>
          <p:nvPr/>
        </p:nvGrpSpPr>
        <p:grpSpPr>
          <a:xfrm>
            <a:off x="749300" y="1125538"/>
            <a:ext cx="7578725" cy="5572125"/>
            <a:chOff x="749300" y="1125538"/>
            <a:chExt cx="7578725" cy="5572125"/>
          </a:xfrm>
        </p:grpSpPr>
        <p:grpSp>
          <p:nvGrpSpPr>
            <p:cNvPr id="66" name="Group 1"/>
            <p:cNvGrpSpPr>
              <a:grpSpLocks/>
            </p:cNvGrpSpPr>
            <p:nvPr/>
          </p:nvGrpSpPr>
          <p:grpSpPr bwMode="auto">
            <a:xfrm>
              <a:off x="749300" y="1125538"/>
              <a:ext cx="7578725" cy="5572125"/>
              <a:chOff x="825846" y="1132710"/>
              <a:chExt cx="7578379" cy="5572890"/>
            </a:xfrm>
          </p:grpSpPr>
          <p:grpSp>
            <p:nvGrpSpPr>
              <p:cNvPr id="69" name="Group 42"/>
              <p:cNvGrpSpPr>
                <a:grpSpLocks/>
              </p:cNvGrpSpPr>
              <p:nvPr/>
            </p:nvGrpSpPr>
            <p:grpSpPr bwMode="auto">
              <a:xfrm>
                <a:off x="838200" y="3424164"/>
                <a:ext cx="7543800" cy="2600189"/>
                <a:chOff x="838200" y="3420347"/>
                <a:chExt cx="7543800" cy="2855188"/>
              </a:xfrm>
            </p:grpSpPr>
            <p:sp>
              <p:nvSpPr>
                <p:cNvPr id="93" name="Rectangle 11"/>
                <p:cNvSpPr>
                  <a:spLocks noChangeArrowheads="1"/>
                </p:cNvSpPr>
                <p:nvPr/>
              </p:nvSpPr>
              <p:spPr bwMode="auto">
                <a:xfrm>
                  <a:off x="838200" y="4190915"/>
                  <a:ext cx="7543800" cy="1389306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 w="22225" algn="ctr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94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838200" y="5768498"/>
                  <a:ext cx="7543800" cy="507037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Tahoma" panose="020B0604030504040204" pitchFamily="34" charset="0"/>
                    </a:rPr>
                    <a:t>System Calls (User-level Programming)</a:t>
                  </a: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95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3420347"/>
                  <a:ext cx="4114800" cy="40010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Process and CPU Scheduling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70" name="Group 1"/>
              <p:cNvGrpSpPr>
                <a:grpSpLocks/>
              </p:cNvGrpSpPr>
              <p:nvPr/>
            </p:nvGrpSpPr>
            <p:grpSpPr bwMode="auto">
              <a:xfrm>
                <a:off x="825846" y="1132710"/>
                <a:ext cx="7556154" cy="4258441"/>
                <a:chOff x="825846" y="1131697"/>
                <a:chExt cx="7556154" cy="4676966"/>
              </a:xfrm>
            </p:grpSpPr>
            <p:sp>
              <p:nvSpPr>
                <p:cNvPr id="7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15887" y="3049751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Memory Management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74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3287829"/>
                  <a:ext cx="2039937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Virtualization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75" name="Straight Connector 7"/>
                <p:cNvCxnSpPr>
                  <a:cxnSpLocks noChangeShapeType="1"/>
                </p:cNvCxnSpPr>
                <p:nvPr/>
              </p:nvCxnSpPr>
              <p:spPr bwMode="auto">
                <a:xfrm>
                  <a:off x="2976563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76" name="Group 42"/>
                <p:cNvGrpSpPr>
                  <a:grpSpLocks/>
                </p:cNvGrpSpPr>
                <p:nvPr/>
              </p:nvGrpSpPr>
              <p:grpSpPr bwMode="auto">
                <a:xfrm>
                  <a:off x="825846" y="2027509"/>
                  <a:ext cx="7543800" cy="2109625"/>
                  <a:chOff x="825846" y="3475098"/>
                  <a:chExt cx="7543800" cy="2109994"/>
                </a:xfrm>
              </p:grpSpPr>
              <p:sp>
                <p:nvSpPr>
                  <p:cNvPr id="9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25846" y="4195788"/>
                    <a:ext cx="7543800" cy="1389304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92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0072" y="3475098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Thread   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cxnSp>
              <p:nvCxnSpPr>
                <p:cNvPr id="77" name="Straight Connector 37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8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04416" y="1367435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Race Conditions, Lock/Semaphore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79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1740227"/>
                  <a:ext cx="1905000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Concurrency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80" name="Group 42"/>
                <p:cNvGrpSpPr>
                  <a:grpSpLocks/>
                </p:cNvGrpSpPr>
                <p:nvPr/>
              </p:nvGrpSpPr>
              <p:grpSpPr bwMode="auto">
                <a:xfrm>
                  <a:off x="838200" y="1139710"/>
                  <a:ext cx="7543800" cy="3865050"/>
                  <a:chOff x="838200" y="4187628"/>
                  <a:chExt cx="7543800" cy="3865728"/>
                </a:xfrm>
              </p:grpSpPr>
              <p:sp>
                <p:nvSpPr>
                  <p:cNvPr id="89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38200" y="4187628"/>
                    <a:ext cx="7543800" cy="1389306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90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2926" y="7653256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IO Devices and Storage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81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849312" y="4904144"/>
                  <a:ext cx="2290763" cy="400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Persistence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82" name="Straight Connector 46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1131697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5252478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File System                                 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84" name="TextBox 2">
                  <a:extLst>
                    <a:ext uri="{FF2B5EF4-FFF2-40B4-BE49-F238E27FC236}">
                      <a16:creationId xmlns:a16="http://schemas.microsoft.com/office/drawing/2014/main" id="{A822F933-86CC-4D3B-8F4D-ADF117984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91446" y="3028909"/>
                  <a:ext cx="919121" cy="439428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HW#4</a:t>
                  </a:r>
                </a:p>
              </p:txBody>
            </p:sp>
            <p:cxnSp>
              <p:nvCxnSpPr>
                <p:cNvPr id="85" name="Straight Connector 49"/>
                <p:cNvCxnSpPr>
                  <a:cxnSpLocks noChangeShapeType="1"/>
                </p:cNvCxnSpPr>
                <p:nvPr/>
              </p:nvCxnSpPr>
              <p:spPr bwMode="auto">
                <a:xfrm>
                  <a:off x="7335838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6" name="Straight Connector 50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7" name="Straight Connector 51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1131698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8" name="TextBox 2">
                  <a:extLst>
                    <a:ext uri="{FF2B5EF4-FFF2-40B4-BE49-F238E27FC236}">
                      <a16:creationId xmlns:a16="http://schemas.microsoft.com/office/drawing/2014/main" id="{4A985E7A-07D9-428B-AAEC-3991306AE1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80335" y="4570394"/>
                  <a:ext cx="968331" cy="1116007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HW#2</a:t>
                  </a:r>
                  <a:r>
                    <a:rPr lang="en-US" altLang="zh-CN" sz="2000" dirty="0"/>
                    <a:t> </a:t>
                  </a:r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    &amp;</a:t>
                  </a:r>
                  <a:endParaRPr lang="en-US" altLang="zh-CN" sz="2000" dirty="0"/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Project</a:t>
                  </a:r>
                </a:p>
              </p:txBody>
            </p:sp>
          </p:grpSp>
          <p:pic>
            <p:nvPicPr>
              <p:cNvPr id="71" name="Picture 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6059488"/>
                <a:ext cx="7566025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C261D44-1D84-49AF-ACE7-3AF17D5BB2EA}"/>
                  </a:ext>
                </a:extLst>
              </p:cNvPr>
              <p:cNvCxnSpPr/>
              <p:nvPr/>
            </p:nvCxnSpPr>
            <p:spPr bwMode="auto">
              <a:xfrm>
                <a:off x="838545" y="5494171"/>
                <a:ext cx="754345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2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67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379788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HW#3</a:t>
              </a:r>
            </a:p>
          </p:txBody>
        </p:sp>
        <p:sp>
          <p:nvSpPr>
            <p:cNvPr id="68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188" y="5581650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428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Part I. Scheduling: Introduction</a:t>
            </a:r>
          </a:p>
        </p:txBody>
      </p:sp>
    </p:spTree>
    <p:extLst>
      <p:ext uri="{BB962C8B-B14F-4D97-AF65-F5344CB8AC3E}">
        <p14:creationId xmlns:p14="http://schemas.microsoft.com/office/powerpoint/2010/main" val="207810009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Scheduling: 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Workload assumptions: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Each job runs for the </a:t>
            </a:r>
            <a:r>
              <a:rPr lang="en-US" altLang="ko-KR" b="1" dirty="0"/>
              <a:t>same amount of time.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All jobs </a:t>
            </a:r>
            <a:r>
              <a:rPr lang="en-US" altLang="ko-KR" b="1" dirty="0"/>
              <a:t>arrive </a:t>
            </a:r>
            <a:r>
              <a:rPr lang="en-US" altLang="ko-KR" dirty="0"/>
              <a:t>at the same time.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All jobs only use the </a:t>
            </a:r>
            <a:r>
              <a:rPr lang="en-US" altLang="ko-KR" b="1" dirty="0"/>
              <a:t>CPU </a:t>
            </a:r>
            <a:r>
              <a:rPr lang="en-US" altLang="ko-KR" dirty="0"/>
              <a:t>(i.e., they perform no I/O).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The </a:t>
            </a:r>
            <a:r>
              <a:rPr lang="en-US" altLang="ko-KR" b="1" dirty="0"/>
              <a:t>run-time</a:t>
            </a:r>
            <a:r>
              <a:rPr lang="en-US" altLang="ko-KR" dirty="0"/>
              <a:t> of each job is known.</a:t>
            </a:r>
          </a:p>
        </p:txBody>
      </p:sp>
    </p:spTree>
    <p:extLst>
      <p:ext uri="{BB962C8B-B14F-4D97-AF65-F5344CB8AC3E}">
        <p14:creationId xmlns:p14="http://schemas.microsoft.com/office/powerpoint/2010/main" val="1327735354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Scheduling Metrics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Performance metric: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Turnaround time</a:t>
            </a:r>
          </a:p>
          <a:p>
            <a:pPr lvl="1"/>
            <a:r>
              <a:rPr lang="en-US" altLang="ko-KR" dirty="0"/>
              <a:t>The time at which </a:t>
            </a:r>
            <a:r>
              <a:rPr lang="en-US" altLang="ko-KR" b="1" dirty="0"/>
              <a:t>the job completes </a:t>
            </a:r>
            <a:r>
              <a:rPr lang="en-US" altLang="ko-KR" dirty="0"/>
              <a:t>minus the time at which </a:t>
            </a:r>
            <a:r>
              <a:rPr lang="en-US" altLang="ko-KR" b="1" dirty="0"/>
              <a:t>the job arrived</a:t>
            </a:r>
            <a:r>
              <a:rPr lang="en-US" altLang="ko-KR" dirty="0"/>
              <a:t> in the system.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Another metric is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fairness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Performance and fairness are often at odds in scheduling.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32059" y="2609443"/>
                <a:ext cx="4256165" cy="427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𝒕𝒖𝒓𝒏𝒂𝒓𝒐𝒖𝒏𝒅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𝒄𝒐𝒎𝒑𝒍𝒆𝒕𝒊𝒐𝒏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𝒂𝒓𝒓𝒊𝒗𝒂𝒍</m:t>
                          </m:r>
                        </m:sub>
                      </m:sSub>
                    </m:oMath>
                  </m:oMathPara>
                </a14:m>
                <a:endParaRPr lang="ko-KR" altLang="en-US" sz="2000" b="1" dirty="0">
                  <a:solidFill>
                    <a:srgbClr val="1F497D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059" y="2609443"/>
                <a:ext cx="4256165" cy="427618"/>
              </a:xfrm>
              <a:prstGeom prst="rect">
                <a:avLst/>
              </a:prstGeom>
              <a:blipFill rotWithShape="1">
                <a:blip r:embed="rId2"/>
                <a:stretch>
                  <a:fillRect b="-1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모서리가 둥근 직사각형 6"/>
          <p:cNvSpPr/>
          <p:nvPr/>
        </p:nvSpPr>
        <p:spPr>
          <a:xfrm>
            <a:off x="2156065" y="2492896"/>
            <a:ext cx="4648183" cy="720080"/>
          </a:xfrm>
          <a:prstGeom prst="round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959985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/>
          <p:cNvSpPr/>
          <p:nvPr/>
        </p:nvSpPr>
        <p:spPr>
          <a:xfrm>
            <a:off x="1547664" y="5445224"/>
            <a:ext cx="6192688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First In, First Out (FIFO)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First Come, First Served (FCFS)</a:t>
            </a:r>
          </a:p>
          <a:p>
            <a:pPr lvl="1"/>
            <a:r>
              <a:rPr lang="en-US" altLang="ko-KR" dirty="0"/>
              <a:t>Very simple and easy to implement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arrived just before B which arrived just before C.</a:t>
            </a:r>
          </a:p>
          <a:p>
            <a:pPr lvl="1"/>
            <a:r>
              <a:rPr lang="en-US" altLang="ko-KR" dirty="0"/>
              <a:t>Each job runs for 10 seconds.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2246980" y="3425190"/>
            <a:ext cx="4663184" cy="1804010"/>
            <a:chOff x="2246980" y="3409950"/>
            <a:chExt cx="4663184" cy="1804010"/>
          </a:xfrm>
        </p:grpSpPr>
        <p:grpSp>
          <p:nvGrpSpPr>
            <p:cNvPr id="29" name="그룹 28"/>
            <p:cNvGrpSpPr/>
            <p:nvPr/>
          </p:nvGrpSpPr>
          <p:grpSpPr>
            <a:xfrm>
              <a:off x="2246980" y="4481755"/>
              <a:ext cx="4663184" cy="732205"/>
              <a:chOff x="2246980" y="4797152"/>
              <a:chExt cx="4663184" cy="732205"/>
            </a:xfrm>
          </p:grpSpPr>
          <p:cxnSp>
            <p:nvCxnSpPr>
              <p:cNvPr id="7" name="직선 연결선 6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5" name="직선 연결선 14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7" name="직선 연결선 16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9" name="직선 연결선 18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6" name="직선 연결선 25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2339278" y="3725897"/>
              <a:ext cx="360000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699792" y="3724350"/>
              <a:ext cx="360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059792" y="3725897"/>
              <a:ext cx="360000" cy="71845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39278" y="340995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699792" y="340995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059832" y="3416493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898103" y="5552572"/>
                <a:ext cx="5266185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𝒕𝒖𝒓𝒏𝒂𝒓𝒐𝒖𝒏𝒅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𝒕𝒊𝒎𝒆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𝟑𝟎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𝟐𝟎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103" y="5552572"/>
                <a:ext cx="5266185" cy="5549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967928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FIFO is not that great? – Convoy effect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relax assumption 1: Each job </a:t>
            </a:r>
            <a:r>
              <a:rPr lang="en-US" altLang="ko-KR" b="1" dirty="0"/>
              <a:t>no longer </a:t>
            </a:r>
            <a:r>
              <a:rPr lang="en-US" altLang="ko-KR" dirty="0"/>
              <a:t>runs for the same amount of time.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arrived just before B which arrived just before C.</a:t>
            </a:r>
          </a:p>
          <a:p>
            <a:pPr lvl="1"/>
            <a:r>
              <a:rPr lang="en-US" altLang="ko-KR" dirty="0"/>
              <a:t>A runs for 100 seconds, B and C run for 10 each.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547664" y="5445224"/>
            <a:ext cx="6192688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2246980" y="3444240"/>
            <a:ext cx="4663184" cy="1784960"/>
            <a:chOff x="2246980" y="3140968"/>
            <a:chExt cx="4663184" cy="1784960"/>
          </a:xfrm>
        </p:grpSpPr>
        <p:grpSp>
          <p:nvGrpSpPr>
            <p:cNvPr id="8" name="그룹 7"/>
            <p:cNvGrpSpPr/>
            <p:nvPr/>
          </p:nvGrpSpPr>
          <p:grpSpPr>
            <a:xfrm>
              <a:off x="2246980" y="4193723"/>
              <a:ext cx="4663184" cy="732205"/>
              <a:chOff x="2246980" y="4797152"/>
              <a:chExt cx="4663184" cy="732205"/>
            </a:xfrm>
          </p:grpSpPr>
          <p:cxnSp>
            <p:nvCxnSpPr>
              <p:cNvPr id="15" name="직선 연결선 14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8" name="직선 연결선 17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2" name="직선 연결선 21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4" name="직선 연결선 23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6" name="직선 연결선 25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9" name="직사각형 8"/>
            <p:cNvSpPr/>
            <p:nvPr/>
          </p:nvSpPr>
          <p:spPr>
            <a:xfrm>
              <a:off x="2339278" y="3440669"/>
              <a:ext cx="3606398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940192" y="3440119"/>
              <a:ext cx="360000" cy="71900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300192" y="3440119"/>
              <a:ext cx="360000" cy="71900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23968" y="314096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0192" y="314096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0232" y="3147511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898103" y="5552572"/>
                <a:ext cx="5759910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𝒕𝒖𝒓𝒏𝒂𝒓𝒐𝒖𝒏𝒅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𝒕𝒊𝒎𝒆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𝟏𝟏𝟎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103" y="5552572"/>
                <a:ext cx="5759910" cy="5549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253169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Job First (SJF)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Run the shortest job first, then the next shortest, and so on</a:t>
            </a:r>
          </a:p>
          <a:p>
            <a:pPr lvl="1"/>
            <a:r>
              <a:rPr lang="en-US" altLang="ko-KR" dirty="0"/>
              <a:t>Non-preemptive scheduler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arrived just before B which arrived just before C.</a:t>
            </a:r>
          </a:p>
          <a:p>
            <a:pPr lvl="1"/>
            <a:r>
              <a:rPr lang="en-US" altLang="ko-KR" dirty="0"/>
              <a:t>A runs for 100 seconds, B and C run for 10 each.</a:t>
            </a:r>
          </a:p>
          <a:p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547664" y="5445224"/>
            <a:ext cx="6192688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2246980" y="4496995"/>
            <a:ext cx="4663184" cy="732205"/>
            <a:chOff x="2246980" y="4797152"/>
            <a:chExt cx="4663184" cy="732205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2339752" y="4797152"/>
              <a:ext cx="432048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2346898" y="4800733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246980" y="4857333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05983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4380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377991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56388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449999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28396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522007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00404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594015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693648" y="4853752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8" name="직선 연결선 27"/>
            <p:cNvCxnSpPr/>
            <p:nvPr/>
          </p:nvCxnSpPr>
          <p:spPr>
            <a:xfrm>
              <a:off x="665261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406108" y="4853752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757052" y="5221580"/>
              <a:ext cx="1512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Time (Second)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3059832" y="3743941"/>
            <a:ext cx="3606398" cy="71845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339752" y="3743391"/>
            <a:ext cx="360000" cy="719003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99752" y="3743391"/>
            <a:ext cx="360000" cy="719003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4522" y="344424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9752" y="344424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99792" y="3450783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898103" y="5552572"/>
                <a:ext cx="5389617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𝒕𝒖𝒓𝒏𝒂𝒓𝒐𝒖𝒏𝒅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𝒕𝒊𝒎𝒆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𝟓𝟎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103" y="5552572"/>
                <a:ext cx="5389617" cy="5549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526805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SJF with Late Arrivals from B and C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relax assumption 2: Jobs can arrive at any time.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arrives at t=0 and needs to run for 100 seconds.</a:t>
            </a:r>
          </a:p>
          <a:p>
            <a:pPr lvl="1"/>
            <a:r>
              <a:rPr lang="en-US" altLang="ko-KR" dirty="0"/>
              <a:t>B and C arrive at t=10 and each need to run for 10 seconds</a:t>
            </a:r>
          </a:p>
          <a:p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765692" y="5445224"/>
            <a:ext cx="7478716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37700" y="5552572"/>
                <a:ext cx="7406708" cy="570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𝒕𝒖𝒓𝒏𝒂𝒓𝒐𝒖𝒏𝒅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𝒕𝒊𝒎𝒆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𝟏𝟏𝟎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e>
                          </m:d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+(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𝟏𝟎𝟑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𝟑𝟑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00" y="5552572"/>
                <a:ext cx="7406708" cy="5702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그룹 33"/>
          <p:cNvGrpSpPr/>
          <p:nvPr/>
        </p:nvGrpSpPr>
        <p:grpSpPr>
          <a:xfrm>
            <a:off x="1997015" y="3140968"/>
            <a:ext cx="4913149" cy="2092347"/>
            <a:chOff x="1997015" y="3136853"/>
            <a:chExt cx="4913149" cy="2092347"/>
          </a:xfrm>
        </p:grpSpPr>
        <p:grpSp>
          <p:nvGrpSpPr>
            <p:cNvPr id="8" name="그룹 7"/>
            <p:cNvGrpSpPr/>
            <p:nvPr/>
          </p:nvGrpSpPr>
          <p:grpSpPr>
            <a:xfrm>
              <a:off x="2246980" y="4496995"/>
              <a:ext cx="4663184" cy="732205"/>
              <a:chOff x="2246980" y="4797152"/>
              <a:chExt cx="4663184" cy="732205"/>
            </a:xfrm>
          </p:grpSpPr>
          <p:cxnSp>
            <p:nvCxnSpPr>
              <p:cNvPr id="15" name="직선 연결선 14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8" name="직선 연결선 17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2" name="직선 연결선 21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4" name="직선 연결선 23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6" name="직선 연결선 25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9" name="직사각형 8"/>
            <p:cNvSpPr/>
            <p:nvPr/>
          </p:nvSpPr>
          <p:spPr>
            <a:xfrm>
              <a:off x="2339752" y="3743941"/>
              <a:ext cx="3606398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940152" y="3743391"/>
              <a:ext cx="360000" cy="71900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300152" y="3743391"/>
              <a:ext cx="360000" cy="71900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24442" y="344424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0152" y="344424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0192" y="3450783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>
              <a:off x="2723237" y="3460655"/>
              <a:ext cx="0" cy="2880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997015" y="3136853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[B,C arrive]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8168070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Time-to-Completion First (STCF)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Add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preemption</a:t>
            </a:r>
            <a:r>
              <a:rPr lang="en-US" altLang="ko-KR" dirty="0"/>
              <a:t> to SJF</a:t>
            </a:r>
          </a:p>
          <a:p>
            <a:pPr lvl="1"/>
            <a:r>
              <a:rPr lang="en-US" altLang="ko-KR" dirty="0"/>
              <a:t>Also knows as Preemptive Shortest Job First (PSJF)</a:t>
            </a:r>
          </a:p>
          <a:p>
            <a:r>
              <a:rPr lang="en-US" altLang="ko-KR" dirty="0"/>
              <a:t>A new job enters the system:</a:t>
            </a:r>
          </a:p>
          <a:p>
            <a:pPr lvl="1"/>
            <a:r>
              <a:rPr lang="en-US" altLang="ko-KR" dirty="0"/>
              <a:t>Determine of the remaining jobs and new job</a:t>
            </a:r>
          </a:p>
          <a:p>
            <a:pPr lvl="1"/>
            <a:r>
              <a:rPr lang="en-US" altLang="ko-KR" dirty="0"/>
              <a:t>Schedule the job which has the least time left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7837341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Time-to-Completion First (STCF)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arrives at t=0 and needs to run for 100 seconds.</a:t>
            </a:r>
          </a:p>
          <a:p>
            <a:pPr lvl="1"/>
            <a:r>
              <a:rPr lang="en-US" altLang="ko-KR" dirty="0"/>
              <a:t>B and C arrive at t=10 and each needs to run for 10 seconds</a:t>
            </a:r>
          </a:p>
          <a:p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765692" y="5157192"/>
            <a:ext cx="7478716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7700" y="5264540"/>
                <a:ext cx="7252113" cy="570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𝒕𝒖𝒓𝒏𝒂𝒓𝒐𝒖𝒏𝒅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𝒕𝒊𝒎𝒆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)+</m:t>
                          </m:r>
                          <m:d>
                            <m:dPr>
                              <m:ctrlP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𝟐𝟎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e>
                          </m:d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+(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𝟓𝟎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00" y="5264540"/>
                <a:ext cx="7252113" cy="5702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그룹 35"/>
          <p:cNvGrpSpPr/>
          <p:nvPr/>
        </p:nvGrpSpPr>
        <p:grpSpPr>
          <a:xfrm>
            <a:off x="1997015" y="2708920"/>
            <a:ext cx="4913149" cy="2092347"/>
            <a:chOff x="1997015" y="2708920"/>
            <a:chExt cx="4913149" cy="2092347"/>
          </a:xfrm>
        </p:grpSpPr>
        <p:grpSp>
          <p:nvGrpSpPr>
            <p:cNvPr id="9" name="그룹 8"/>
            <p:cNvGrpSpPr/>
            <p:nvPr/>
          </p:nvGrpSpPr>
          <p:grpSpPr>
            <a:xfrm>
              <a:off x="2246980" y="4069062"/>
              <a:ext cx="4663184" cy="732205"/>
              <a:chOff x="2246980" y="4797152"/>
              <a:chExt cx="4663184" cy="732205"/>
            </a:xfrm>
          </p:grpSpPr>
          <p:cxnSp>
            <p:nvCxnSpPr>
              <p:cNvPr id="18" name="직선 연결선 17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5" name="직선 연결선 24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7" name="직선 연결선 26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9" name="직선 연결선 28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31" name="직선 연결선 30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10" name="직사각형 9"/>
            <p:cNvSpPr/>
            <p:nvPr/>
          </p:nvSpPr>
          <p:spPr>
            <a:xfrm>
              <a:off x="2339752" y="3316008"/>
              <a:ext cx="360000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699792" y="3315458"/>
              <a:ext cx="360000" cy="71900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059792" y="3315458"/>
              <a:ext cx="360000" cy="71900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39752" y="301630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99792" y="301630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59832" y="302285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>
              <a:off x="2723237" y="3032722"/>
              <a:ext cx="0" cy="2880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997015" y="2708920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[B,C arrive]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419792" y="3315459"/>
              <a:ext cx="3232820" cy="71900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16056" y="302039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3247934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New scheduling metric: Response time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time from </a:t>
            </a:r>
            <a:r>
              <a:rPr lang="en-US" altLang="ko-KR" b="1" dirty="0"/>
              <a:t>when the job arrives </a:t>
            </a:r>
            <a:r>
              <a:rPr lang="en-US" altLang="ko-KR" dirty="0"/>
              <a:t>to the </a:t>
            </a:r>
            <a:r>
              <a:rPr lang="en-US" altLang="ko-KR" b="1" dirty="0"/>
              <a:t>first time it is scheduled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STCF and related disciplines are not particularly good for response time.</a:t>
            </a:r>
          </a:p>
          <a:p>
            <a:pPr lvl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88186" y="1673339"/>
                <a:ext cx="3739998" cy="429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𝒓𝒆𝒔𝒑𝒐𝒏𝒔𝒆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𝒇𝒊𝒓𝒔𝒕𝒓𝒖𝒏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𝒂𝒓𝒓𝒊𝒗𝒂𝒍</m:t>
                          </m:r>
                        </m:sub>
                      </m:sSub>
                    </m:oMath>
                  </m:oMathPara>
                </a14:m>
                <a:endParaRPr lang="ko-KR" altLang="en-US" sz="2000" b="1" dirty="0">
                  <a:solidFill>
                    <a:srgbClr val="1F497D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186" y="1673339"/>
                <a:ext cx="3739998" cy="429220"/>
              </a:xfrm>
              <a:prstGeom prst="rect">
                <a:avLst/>
              </a:prstGeom>
              <a:blipFill rotWithShape="1">
                <a:blip r:embed="rId2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모서리가 둥근 직사각형 6"/>
          <p:cNvSpPr/>
          <p:nvPr/>
        </p:nvSpPr>
        <p:spPr>
          <a:xfrm>
            <a:off x="2156065" y="1556792"/>
            <a:ext cx="4648183" cy="720080"/>
          </a:xfrm>
          <a:prstGeom prst="round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187624" y="3501008"/>
            <a:ext cx="6624736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How can we build a scheduler that is </a:t>
            </a: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sensitive to response time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50536920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Round Robin (RR) Scheduling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Time slicing Scheduling</a:t>
            </a:r>
          </a:p>
          <a:p>
            <a:pPr lvl="1"/>
            <a:r>
              <a:rPr lang="en-US" altLang="ko-KR" dirty="0"/>
              <a:t>Run a job for a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time slice </a:t>
            </a:r>
            <a:r>
              <a:rPr lang="en-US" altLang="ko-KR" dirty="0"/>
              <a:t>and then switch to the next job in the </a:t>
            </a:r>
            <a:r>
              <a:rPr lang="en-US" altLang="ko-KR" b="1" dirty="0"/>
              <a:t>run queue</a:t>
            </a:r>
            <a:r>
              <a:rPr lang="en-US" altLang="ko-KR" dirty="0"/>
              <a:t> until the jobs are finished.</a:t>
            </a:r>
          </a:p>
          <a:p>
            <a:pPr lvl="2"/>
            <a:r>
              <a:rPr lang="en-US" altLang="ko-KR" dirty="0"/>
              <a:t>Time slice is sometimes called a </a:t>
            </a:r>
            <a:r>
              <a:rPr lang="en-US" altLang="ko-KR" u="sng" dirty="0"/>
              <a:t>scheduling quantum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It repeatedly does so until the jobs are finished.</a:t>
            </a:r>
          </a:p>
          <a:p>
            <a:pPr lvl="1"/>
            <a:r>
              <a:rPr lang="en-US" altLang="ko-KR" dirty="0"/>
              <a:t>The length of a time slice must be</a:t>
            </a:r>
            <a:r>
              <a:rPr lang="en-US" altLang="ko-KR" i="1" dirty="0"/>
              <a:t> a multiple of</a:t>
            </a:r>
            <a:r>
              <a:rPr lang="en-US" altLang="ko-KR" dirty="0"/>
              <a:t> the timer-interrupt period.</a:t>
            </a:r>
          </a:p>
          <a:p>
            <a:pPr lvl="1"/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043608" y="4221088"/>
            <a:ext cx="7056784" cy="864096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RR is fair, but performs poorly on metrics</a:t>
            </a:r>
          </a:p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such as turnaround time</a:t>
            </a:r>
          </a:p>
        </p:txBody>
      </p:sp>
    </p:spTree>
    <p:extLst>
      <p:ext uri="{BB962C8B-B14F-4D97-AF65-F5344CB8AC3E}">
        <p14:creationId xmlns:p14="http://schemas.microsoft.com/office/powerpoint/2010/main" val="2693197781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RR Scheduling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A, B and C arrive at the same time.</a:t>
            </a:r>
          </a:p>
          <a:p>
            <a:r>
              <a:rPr lang="en-US" altLang="ko-KR" dirty="0"/>
              <a:t>They each wish to run for 5 seconds.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888740" y="2060848"/>
            <a:ext cx="4663184" cy="1963961"/>
            <a:chOff x="2246980" y="2420888"/>
            <a:chExt cx="4663184" cy="1963961"/>
          </a:xfrm>
        </p:grpSpPr>
        <p:grpSp>
          <p:nvGrpSpPr>
            <p:cNvPr id="7" name="그룹 6"/>
            <p:cNvGrpSpPr/>
            <p:nvPr/>
          </p:nvGrpSpPr>
          <p:grpSpPr>
            <a:xfrm>
              <a:off x="2246980" y="3492693"/>
              <a:ext cx="4663184" cy="573346"/>
              <a:chOff x="2246980" y="4797152"/>
              <a:chExt cx="4663184" cy="573346"/>
            </a:xfrm>
          </p:grpSpPr>
          <p:cxnSp>
            <p:nvCxnSpPr>
              <p:cNvPr id="14" name="직선 연결선 13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7" name="직선 연결선 16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9" name="직선 연결선 18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5" name="직선 연결선 24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7" name="직선 연결선 26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30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757052" y="5093499"/>
                <a:ext cx="15121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8" name="직사각형 7"/>
            <p:cNvSpPr/>
            <p:nvPr/>
          </p:nvSpPr>
          <p:spPr>
            <a:xfrm>
              <a:off x="2339278" y="2728665"/>
              <a:ext cx="720000" cy="72662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059872" y="2735288"/>
              <a:ext cx="720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779912" y="2728665"/>
              <a:ext cx="720000" cy="72662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55302" y="242088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47321" y="242088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52503" y="2427431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579772" y="4077072"/>
              <a:ext cx="3792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SJF (Bad for Response Time)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745664" y="4379267"/>
            <a:ext cx="4906456" cy="1963961"/>
            <a:chOff x="2041808" y="4293096"/>
            <a:chExt cx="4906456" cy="1963961"/>
          </a:xfrm>
        </p:grpSpPr>
        <p:grpSp>
          <p:nvGrpSpPr>
            <p:cNvPr id="33" name="그룹 32"/>
            <p:cNvGrpSpPr/>
            <p:nvPr/>
          </p:nvGrpSpPr>
          <p:grpSpPr>
            <a:xfrm>
              <a:off x="2213072" y="5364901"/>
              <a:ext cx="4663184" cy="573346"/>
              <a:chOff x="2246980" y="4797152"/>
              <a:chExt cx="4663184" cy="573346"/>
            </a:xfrm>
          </p:grpSpPr>
          <p:cxnSp>
            <p:nvCxnSpPr>
              <p:cNvPr id="41" name="직선 연결선 40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44" name="직선 연결선 43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46" name="직선 연결선 45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48" name="직선 연결선 47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0" name="직선 연결선 49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2" name="직선 연결선 51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4" name="직선 연결선 53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30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757052" y="5093499"/>
                <a:ext cx="15121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2195736" y="4293096"/>
              <a:ext cx="667082" cy="1034400"/>
              <a:chOff x="2195736" y="4293096"/>
              <a:chExt cx="667082" cy="1034400"/>
            </a:xfrm>
          </p:grpSpPr>
          <p:sp>
            <p:nvSpPr>
              <p:cNvPr id="34" name="직사각형 33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2041808" y="5949280"/>
              <a:ext cx="49064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RR with a time-slice of 1sec (Good for Response Time)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60" name="그룹 59"/>
            <p:cNvGrpSpPr/>
            <p:nvPr/>
          </p:nvGrpSpPr>
          <p:grpSpPr>
            <a:xfrm>
              <a:off x="2627784" y="4293096"/>
              <a:ext cx="667082" cy="1034400"/>
              <a:chOff x="2195736" y="4293096"/>
              <a:chExt cx="667082" cy="1034400"/>
            </a:xfrm>
          </p:grpSpPr>
          <p:sp>
            <p:nvSpPr>
              <p:cNvPr id="61" name="직사각형 60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3" name="직사각형 62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3059832" y="4293096"/>
              <a:ext cx="667082" cy="1034400"/>
              <a:chOff x="2195736" y="4293096"/>
              <a:chExt cx="667082" cy="1034400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74" name="그룹 73"/>
            <p:cNvGrpSpPr/>
            <p:nvPr/>
          </p:nvGrpSpPr>
          <p:grpSpPr>
            <a:xfrm>
              <a:off x="3491880" y="4293096"/>
              <a:ext cx="667082" cy="1034400"/>
              <a:chOff x="2195736" y="4293096"/>
              <a:chExt cx="667082" cy="1034400"/>
            </a:xfrm>
          </p:grpSpPr>
          <p:sp>
            <p:nvSpPr>
              <p:cNvPr id="75" name="직사각형 74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6" name="직사각형 75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7" name="직사각형 76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3923928" y="4293096"/>
              <a:ext cx="667082" cy="1034400"/>
              <a:chOff x="2195736" y="4293096"/>
              <a:chExt cx="667082" cy="1034400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83" name="직사각형 82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5393318" y="2420888"/>
                <a:ext cx="3571170" cy="559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𝑎𝑣𝑒𝑟𝑎𝑔𝑒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𝑟𝑒𝑠𝑝𝑜𝑛𝑠𝑒</m:t>
                          </m:r>
                        </m:sub>
                      </m:sSub>
                      <m:r>
                        <a:rPr lang="en-US" altLang="ko-KR" sz="1600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0+5+10</m:t>
                          </m:r>
                        </m:num>
                        <m:den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=5</m:t>
                      </m:r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𝑠𝑒𝑐</m:t>
                      </m:r>
                    </m:oMath>
                  </m:oMathPara>
                </a14:m>
                <a:endParaRPr lang="ko-KR" altLang="en-US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318" y="2420888"/>
                <a:ext cx="3571170" cy="55996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5507131" y="4780156"/>
                <a:ext cx="3457357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𝑎𝑣𝑒𝑟𝑎𝑔𝑒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𝑟𝑒𝑠𝑝𝑜𝑛𝑠𝑒</m:t>
                          </m:r>
                        </m:sub>
                      </m:sSub>
                      <m:r>
                        <a:rPr lang="en-US" altLang="ko-KR" sz="1600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0+1+2</m:t>
                          </m:r>
                        </m:num>
                        <m:den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ko-KR" sz="1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𝑠𝑒𝑐</m:t>
                      </m:r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131" y="4780156"/>
                <a:ext cx="3457357" cy="5549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718774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length of the time slice is critical.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shorter time slice</a:t>
            </a:r>
          </a:p>
          <a:p>
            <a:pPr lvl="1"/>
            <a:r>
              <a:rPr lang="en-US" altLang="ko-KR" dirty="0"/>
              <a:t>Better response time</a:t>
            </a:r>
          </a:p>
          <a:p>
            <a:pPr lvl="1"/>
            <a:r>
              <a:rPr lang="en-US" altLang="ko-KR" dirty="0"/>
              <a:t>The cost of context switching will dominate overall performance.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The longer time slice</a:t>
            </a:r>
          </a:p>
          <a:p>
            <a:pPr lvl="1"/>
            <a:r>
              <a:rPr lang="en-US" altLang="ko-KR" dirty="0"/>
              <a:t>Amortize the cost of switching</a:t>
            </a:r>
          </a:p>
          <a:p>
            <a:pPr lvl="1"/>
            <a:r>
              <a:rPr lang="en-US" altLang="ko-KR" dirty="0"/>
              <a:t>Worse response time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765692" y="4797152"/>
            <a:ext cx="7478716" cy="1080120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Deciding on the length of the time slice presents</a:t>
            </a:r>
          </a:p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trade-off 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 a system designer</a:t>
            </a:r>
          </a:p>
        </p:txBody>
      </p:sp>
    </p:spTree>
    <p:extLst>
      <p:ext uri="{BB962C8B-B14F-4D97-AF65-F5344CB8AC3E}">
        <p14:creationId xmlns:p14="http://schemas.microsoft.com/office/powerpoint/2010/main" val="1814843792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Incorporating I/O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relax assumption 3: All programs perform I/O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and B need 50ms of CPU time each.</a:t>
            </a:r>
          </a:p>
          <a:p>
            <a:pPr lvl="1"/>
            <a:r>
              <a:rPr lang="en-US" altLang="ko-KR" dirty="0"/>
              <a:t>A runs for 10ms and then issues an I/O request</a:t>
            </a:r>
          </a:p>
          <a:p>
            <a:pPr lvl="2"/>
            <a:r>
              <a:rPr lang="en-US" altLang="ko-KR" dirty="0"/>
              <a:t>Each I/O takes 10ms</a:t>
            </a:r>
          </a:p>
          <a:p>
            <a:pPr lvl="1"/>
            <a:r>
              <a:rPr lang="en-US" altLang="ko-KR" dirty="0"/>
              <a:t>B simply uses the CPU for 50ms and performs no I/O</a:t>
            </a:r>
          </a:p>
          <a:p>
            <a:pPr lvl="1"/>
            <a:r>
              <a:rPr lang="en-US" altLang="ko-KR" dirty="0"/>
              <a:t>The  scheduler runs A first, then B after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8029479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Incorporating I/O (Cont.)</a:t>
            </a:r>
            <a:endParaRPr lang="ko-KR" altLang="en-US" dirty="0"/>
          </a:p>
        </p:txBody>
      </p:sp>
      <p:grpSp>
        <p:nvGrpSpPr>
          <p:cNvPr id="51" name="그룹 50"/>
          <p:cNvGrpSpPr/>
          <p:nvPr/>
        </p:nvGrpSpPr>
        <p:grpSpPr>
          <a:xfrm>
            <a:off x="1907704" y="908720"/>
            <a:ext cx="5383264" cy="2468017"/>
            <a:chOff x="2213072" y="1511323"/>
            <a:chExt cx="5383264" cy="2468017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2305844" y="3071678"/>
              <a:ext cx="503286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2312990" y="3075259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213072" y="3131859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02592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0990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374600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52998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446608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25006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518616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497014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590624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659740" y="3128278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8" name="직선 연결선 27"/>
            <p:cNvCxnSpPr/>
            <p:nvPr/>
          </p:nvCxnSpPr>
          <p:spPr>
            <a:xfrm>
              <a:off x="661870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372200" y="3128278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39952" y="3383531"/>
              <a:ext cx="1512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Time (</a:t>
              </a:r>
              <a:r>
                <a:rPr lang="en-US" altLang="ko-KR" sz="1200" b="1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msec</a:t>
              </a:r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65924" y="2468513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513055" y="1879200"/>
              <a:ext cx="1800000" cy="54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11217" y="1513359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0814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39812" y="3671563"/>
              <a:ext cx="3792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Poor Use of Resources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7338784" y="3068960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7092280" y="312556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140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305844" y="1871363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363144" y="246647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036630" y="1511323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031257" y="186932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4106084" y="2466477"/>
              <a:ext cx="35619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732327" y="152084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746004" y="186932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4820364" y="2473846"/>
              <a:ext cx="3658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67265" y="152821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4462274" y="186932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153055" y="153977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5186163" y="1880888"/>
              <a:ext cx="326891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86818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2822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58822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94826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93" name="직선 연결선 92"/>
          <p:cNvCxnSpPr/>
          <p:nvPr/>
        </p:nvCxnSpPr>
        <p:spPr>
          <a:xfrm>
            <a:off x="2000476" y="5329650"/>
            <a:ext cx="5032860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2007622" y="5333231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907704" y="5389831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6" name="직선 연결선 95"/>
          <p:cNvCxnSpPr/>
          <p:nvPr/>
        </p:nvCxnSpPr>
        <p:spPr>
          <a:xfrm>
            <a:off x="272055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50453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344063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322461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0" name="직선 연결선 99"/>
          <p:cNvCxnSpPr/>
          <p:nvPr/>
        </p:nvCxnSpPr>
        <p:spPr>
          <a:xfrm>
            <a:off x="416071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94469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2" name="직선 연결선 101"/>
          <p:cNvCxnSpPr/>
          <p:nvPr/>
        </p:nvCxnSpPr>
        <p:spPr>
          <a:xfrm>
            <a:off x="488079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66477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4" name="직선 연결선 103"/>
          <p:cNvCxnSpPr/>
          <p:nvPr/>
        </p:nvCxnSpPr>
        <p:spPr>
          <a:xfrm>
            <a:off x="560087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354372" y="538625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6" name="직선 연결선 105"/>
          <p:cNvCxnSpPr/>
          <p:nvPr/>
        </p:nvCxnSpPr>
        <p:spPr>
          <a:xfrm>
            <a:off x="631333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066832" y="538625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834584" y="5641503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Time (</a:t>
            </a:r>
            <a:r>
              <a:rPr lang="en-US" altLang="ko-KR" sz="12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msec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2360556" y="4726485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2371262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005849" y="3771331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368327" y="3775969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634444" y="5929535"/>
            <a:ext cx="3792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Overlap Allows Better Use of Resources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4" name="직선 연결선 113"/>
          <p:cNvCxnSpPr/>
          <p:nvPr/>
        </p:nvCxnSpPr>
        <p:spPr>
          <a:xfrm>
            <a:off x="7033416" y="5326932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786912" y="5383532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140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2000476" y="4127299"/>
            <a:ext cx="360000" cy="542036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3057776" y="472444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731262" y="3769295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2725889" y="412729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800716" y="4724449"/>
            <a:ext cx="35619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426959" y="377882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3440636" y="412729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4514996" y="4731818"/>
            <a:ext cx="3658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161897" y="3786189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4156906" y="412729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847687" y="375977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880795" y="4127300"/>
            <a:ext cx="326891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069357" y="3775969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3779912" y="3785494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3085889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3800636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4514996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5207687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500032" y="3769295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5220112" y="3769295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6084168" y="4293096"/>
            <a:ext cx="2880320" cy="759893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Maximize the 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 utilization</a:t>
            </a:r>
          </a:p>
        </p:txBody>
      </p:sp>
    </p:spTree>
    <p:extLst>
      <p:ext uri="{BB962C8B-B14F-4D97-AF65-F5344CB8AC3E}">
        <p14:creationId xmlns:p14="http://schemas.microsoft.com/office/powerpoint/2010/main" val="963982160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Incorporating I/O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a job initiates an I/O request.</a:t>
            </a:r>
          </a:p>
          <a:p>
            <a:pPr lvl="1"/>
            <a:r>
              <a:rPr lang="en-US" altLang="ko-KR" dirty="0"/>
              <a:t>The job is blocked waiting for I/O  completion.</a:t>
            </a:r>
          </a:p>
          <a:p>
            <a:pPr lvl="1"/>
            <a:r>
              <a:rPr lang="en-US" altLang="ko-KR" dirty="0"/>
              <a:t>The scheduler should schedule another job on the CPU.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When the I/O completes</a:t>
            </a:r>
          </a:p>
          <a:p>
            <a:pPr lvl="1"/>
            <a:r>
              <a:rPr lang="en-US" altLang="ko-KR" dirty="0"/>
              <a:t>An interrupt is raised.</a:t>
            </a:r>
          </a:p>
          <a:p>
            <a:pPr lvl="1"/>
            <a:r>
              <a:rPr lang="en-US" altLang="ko-KR" dirty="0"/>
              <a:t>The OS moves the process from blocked back to the ready state.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1906013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>
          <a:xfrm>
            <a:off x="539552" y="2906713"/>
            <a:ext cx="8424936" cy="1500187"/>
          </a:xfrm>
        </p:spPr>
        <p:txBody>
          <a:bodyPr/>
          <a:lstStyle/>
          <a:p>
            <a:pPr algn="l"/>
            <a:r>
              <a:rPr lang="en-US" altLang="ko-KR" sz="2800" dirty="0"/>
              <a:t>Part II: Scheduling: The Multi-Level Feedback Queue</a:t>
            </a:r>
          </a:p>
        </p:txBody>
      </p:sp>
    </p:spTree>
    <p:extLst>
      <p:ext uri="{BB962C8B-B14F-4D97-AF65-F5344CB8AC3E}">
        <p14:creationId xmlns:p14="http://schemas.microsoft.com/office/powerpoint/2010/main" val="2986328490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Feedback Queue (MLFQ)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Scheduler that learns from the past to predict the future.</a:t>
            </a:r>
          </a:p>
          <a:p>
            <a:r>
              <a:rPr lang="en-US" altLang="ko-KR" dirty="0"/>
              <a:t>Objective:</a:t>
            </a:r>
          </a:p>
          <a:p>
            <a:pPr lvl="1"/>
            <a:r>
              <a:rPr lang="en-US" altLang="ko-KR" dirty="0"/>
              <a:t>Optimize </a:t>
            </a:r>
            <a:r>
              <a:rPr lang="en-US" altLang="ko-KR" b="1" dirty="0"/>
              <a:t>turnaround time </a:t>
            </a:r>
            <a:r>
              <a:rPr lang="en-US" altLang="ko-KR" dirty="0">
                <a:sym typeface="Wingdings" pitchFamily="2" charset="2"/>
              </a:rPr>
              <a:t> Run shorter jobs first</a:t>
            </a:r>
          </a:p>
          <a:p>
            <a:pPr lvl="1"/>
            <a:r>
              <a:rPr lang="en-US" altLang="ko-KR" dirty="0">
                <a:sym typeface="Wingdings" pitchFamily="2" charset="2"/>
              </a:rPr>
              <a:t>Minimize </a:t>
            </a:r>
            <a:r>
              <a:rPr lang="en-US" altLang="ko-KR" b="1" dirty="0">
                <a:sym typeface="Wingdings" pitchFamily="2" charset="2"/>
              </a:rPr>
              <a:t>response time </a:t>
            </a:r>
            <a:r>
              <a:rPr lang="en-US" altLang="ko-KR" dirty="0">
                <a:sym typeface="Wingdings" pitchFamily="2" charset="2"/>
              </a:rPr>
              <a:t>without </a:t>
            </a:r>
            <a:r>
              <a:rPr lang="en-US" altLang="ko-KR" i="1" dirty="0">
                <a:sym typeface="Wingdings" pitchFamily="2" charset="2"/>
              </a:rPr>
              <a:t>a priori knowledge of job length</a:t>
            </a:r>
            <a:r>
              <a:rPr lang="en-US" altLang="ko-KR" dirty="0">
                <a:sym typeface="Wingdings" pitchFamily="2" charset="2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9822576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Basic Rules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MLFQ has a number of distinct </a:t>
            </a:r>
            <a:r>
              <a:rPr lang="en-US" altLang="ko-KR" b="1" dirty="0"/>
              <a:t>queues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Each queues is assigned a different priority level.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 job that is ready to run is on a single queue.</a:t>
            </a:r>
          </a:p>
          <a:p>
            <a:pPr lvl="1"/>
            <a:r>
              <a:rPr lang="en-US" altLang="ko-KR" dirty="0"/>
              <a:t>A job </a:t>
            </a:r>
            <a:r>
              <a:rPr lang="en-US" altLang="ko-KR" b="1" dirty="0"/>
              <a:t>on a higher queue </a:t>
            </a:r>
            <a:r>
              <a:rPr lang="en-US" altLang="ko-KR" dirty="0"/>
              <a:t>is chosen to run.</a:t>
            </a:r>
          </a:p>
          <a:p>
            <a:pPr lvl="1"/>
            <a:r>
              <a:rPr lang="en-US" altLang="ko-KR" dirty="0"/>
              <a:t>Use round-robin scheduling among jobs in the same queue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403648" y="4437112"/>
            <a:ext cx="6192688" cy="936104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91519" y="4582869"/>
            <a:ext cx="5641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Rule 1: </a:t>
            </a: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If Priority(A) &gt; Priority(B), A runs (B doesn’t).</a:t>
            </a:r>
          </a:p>
          <a:p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Rule 2: </a:t>
            </a: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If Priority(A) = Priority(B), A &amp; B run in RR.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0699667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Basic Rules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MLFQ varies the priority of a job based on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its observed behavior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job repeatedly relinquishes the CPU while waiting IOs </a:t>
            </a:r>
            <a:r>
              <a:rPr lang="en-US" altLang="ko-KR" dirty="0">
                <a:sym typeface="Wingdings" pitchFamily="2" charset="2"/>
              </a:rPr>
              <a:t> Keep its priority high</a:t>
            </a:r>
          </a:p>
          <a:p>
            <a:pPr lvl="1"/>
            <a:r>
              <a:rPr lang="en-US" altLang="ko-KR" dirty="0">
                <a:sym typeface="Wingdings" pitchFamily="2" charset="2"/>
              </a:rPr>
              <a:t>A job uses the CPU intensively for long periods of time  Reduce its priority.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371521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 Example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28678" y="1124744"/>
            <a:ext cx="504056" cy="443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Q8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Q7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Q6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Q5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Q4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Q3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Q2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4007" y="1096169"/>
            <a:ext cx="1692188" cy="558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[High Priority]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6490" y="4959066"/>
            <a:ext cx="1692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[Low Priority]</a:t>
            </a: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4332734" y="1513359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5052814" y="1292471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5580112" y="1513829"/>
            <a:ext cx="504056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/>
          <p:cNvSpPr/>
          <p:nvPr/>
        </p:nvSpPr>
        <p:spPr>
          <a:xfrm>
            <a:off x="6156176" y="1292941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4332734" y="3712169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/>
          <p:cNvSpPr/>
          <p:nvPr/>
        </p:nvSpPr>
        <p:spPr>
          <a:xfrm>
            <a:off x="5052814" y="3491281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4332734" y="5368353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5052814" y="5147465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034601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How to Change Priority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MLFQ priority adjustment algorithm:</a:t>
            </a:r>
          </a:p>
          <a:p>
            <a:pPr lvl="1"/>
            <a:r>
              <a:rPr lang="en-US" altLang="ko-KR" b="1" dirty="0"/>
              <a:t>Rule 3</a:t>
            </a:r>
            <a:r>
              <a:rPr lang="en-US" altLang="ko-KR" dirty="0"/>
              <a:t>: When a job enters the system, it is placed at the highest priority</a:t>
            </a:r>
          </a:p>
          <a:p>
            <a:pPr lvl="1"/>
            <a:r>
              <a:rPr lang="en-US" altLang="ko-KR" b="1" dirty="0"/>
              <a:t>Rule 4a</a:t>
            </a:r>
            <a:r>
              <a:rPr lang="en-US" altLang="ko-KR" dirty="0"/>
              <a:t>: If a job uses up an entire time slice while running, its priority is reduced (i.e., it moves down on queue).</a:t>
            </a:r>
          </a:p>
          <a:p>
            <a:pPr lvl="1"/>
            <a:r>
              <a:rPr lang="en-US" altLang="ko-KR" b="1" dirty="0"/>
              <a:t>Rule 4b</a:t>
            </a:r>
            <a:r>
              <a:rPr lang="en-US" altLang="ko-KR" dirty="0"/>
              <a:t>: If a job gives up the CPU before the time slice is up, it stays at the same priority level</a:t>
            </a:r>
          </a:p>
          <a:p>
            <a:pPr lvl="1"/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331640" y="4365104"/>
            <a:ext cx="6480720" cy="936104"/>
          </a:xfrm>
          <a:prstGeom prst="roundRect">
            <a:avLst>
              <a:gd name="adj" fmla="val 7736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 this manner, MLFQ approximates SJF</a:t>
            </a:r>
          </a:p>
        </p:txBody>
      </p:sp>
    </p:spTree>
    <p:extLst>
      <p:ext uri="{BB962C8B-B14F-4D97-AF65-F5344CB8AC3E}">
        <p14:creationId xmlns:p14="http://schemas.microsoft.com/office/powerpoint/2010/main" val="1445386246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1: A Single Long-Running Job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three-queue scheduler with time slice 10ms</a:t>
            </a:r>
            <a:endParaRPr lang="ko-KR" altLang="en-US" dirty="0"/>
          </a:p>
        </p:txBody>
      </p:sp>
      <p:grpSp>
        <p:nvGrpSpPr>
          <p:cNvPr id="28" name="그룹 27"/>
          <p:cNvGrpSpPr/>
          <p:nvPr/>
        </p:nvGrpSpPr>
        <p:grpSpPr>
          <a:xfrm>
            <a:off x="2264112" y="1907620"/>
            <a:ext cx="4448447" cy="2440609"/>
            <a:chOff x="1419697" y="1772896"/>
            <a:chExt cx="4448447" cy="2440609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2051720" y="249289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2046100" y="1772896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2057340" y="321297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2231760" y="2493745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2051720" y="3932287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/>
            <p:cNvSpPr/>
            <p:nvPr/>
          </p:nvSpPr>
          <p:spPr>
            <a:xfrm>
              <a:off x="2411760" y="3213056"/>
              <a:ext cx="324558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36279" y="3933058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716389" y="3933057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2262" y="393305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09791" y="393650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12844" y="393650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19697" y="1945407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419697" y="263691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419697" y="335699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2516414" y="4427820"/>
            <a:ext cx="4215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Long-running Job Over Time (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msec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5063379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2: Along Came a Short Job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Assumption:</a:t>
            </a:r>
          </a:p>
          <a:p>
            <a:pPr lvl="1"/>
            <a:r>
              <a:rPr lang="en-US" altLang="ko-KR" b="1" dirty="0"/>
              <a:t>Job A</a:t>
            </a:r>
            <a:r>
              <a:rPr lang="en-US" altLang="ko-KR" dirty="0"/>
              <a:t>: A long-running CPU-intensive job</a:t>
            </a:r>
          </a:p>
          <a:p>
            <a:pPr lvl="1"/>
            <a:r>
              <a:rPr lang="en-US" altLang="ko-KR" b="1" dirty="0"/>
              <a:t>Job B</a:t>
            </a:r>
            <a:r>
              <a:rPr lang="en-US" altLang="ko-KR" dirty="0"/>
              <a:t>: A short-running interactive job (20ms runtime)</a:t>
            </a:r>
          </a:p>
          <a:p>
            <a:pPr lvl="1"/>
            <a:r>
              <a:rPr lang="en-US" altLang="ko-KR" dirty="0"/>
              <a:t>A has been running for some time, and then B arrives at time T=100.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516414" y="6021288"/>
            <a:ext cx="4215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Along Came An Interactive Job (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msec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2264112" y="3485496"/>
            <a:ext cx="5152184" cy="2456121"/>
            <a:chOff x="2264112" y="3485496"/>
            <a:chExt cx="5152184" cy="2456121"/>
          </a:xfrm>
        </p:grpSpPr>
        <p:cxnSp>
          <p:nvCxnSpPr>
            <p:cNvPr id="9" name="직선 연결선 8"/>
            <p:cNvCxnSpPr/>
            <p:nvPr/>
          </p:nvCxnSpPr>
          <p:spPr>
            <a:xfrm>
              <a:off x="2901755" y="4941088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4644216" y="3485496"/>
              <a:ext cx="144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2896135" y="5660399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/>
            <p:cNvSpPr/>
            <p:nvPr/>
          </p:nvSpPr>
          <p:spPr>
            <a:xfrm>
              <a:off x="2899513" y="4941168"/>
              <a:ext cx="1744495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80694" y="5661170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60804" y="5661169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46677" y="566116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54206" y="566461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57259" y="566461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64112" y="3673519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64112" y="4365024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264112" y="5085104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7236296" y="4302308"/>
              <a:ext cx="180000" cy="432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7236296" y="3654236"/>
              <a:ext cx="180000" cy="432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76256" y="431666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B: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804248" y="3663713"/>
              <a:ext cx="524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A: 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4946743" y="4941168"/>
              <a:ext cx="1569473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77" name="직선 연결선 76"/>
            <p:cNvCxnSpPr/>
            <p:nvPr/>
          </p:nvCxnSpPr>
          <p:spPr>
            <a:xfrm>
              <a:off x="2916216" y="4221088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직사각형 77"/>
            <p:cNvSpPr/>
            <p:nvPr/>
          </p:nvSpPr>
          <p:spPr>
            <a:xfrm>
              <a:off x="4802743" y="4205496"/>
              <a:ext cx="144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0364570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3: What About I/O?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Assumption:</a:t>
            </a:r>
          </a:p>
          <a:p>
            <a:pPr lvl="1"/>
            <a:r>
              <a:rPr lang="en-US" altLang="ko-KR" b="1" dirty="0"/>
              <a:t>Job A</a:t>
            </a:r>
            <a:r>
              <a:rPr lang="en-US" altLang="ko-KR" dirty="0"/>
              <a:t>: A long-running CPU-intensive job</a:t>
            </a:r>
          </a:p>
          <a:p>
            <a:pPr lvl="1"/>
            <a:r>
              <a:rPr lang="en-US" altLang="ko-KR" b="1" dirty="0"/>
              <a:t>Job B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An interactive job </a:t>
            </a:r>
            <a:r>
              <a:rPr lang="en-US" altLang="ko-KR" dirty="0"/>
              <a:t>that need the CPU only for 1ms before performing an I/O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7664" y="5229200"/>
            <a:ext cx="6552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Mixed I/O-intensive and CPU-intensive Workload (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msec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264112" y="2780928"/>
            <a:ext cx="5152184" cy="2443979"/>
            <a:chOff x="2264112" y="3497638"/>
            <a:chExt cx="5152184" cy="2443979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2896135" y="4221008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2896766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2901755" y="4941088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2896135" y="5660399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/>
            <p:cNvSpPr/>
            <p:nvPr/>
          </p:nvSpPr>
          <p:spPr>
            <a:xfrm>
              <a:off x="2978299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80694" y="5661170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60804" y="5661169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46677" y="566116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54206" y="566461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57259" y="566461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64112" y="3673519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64112" y="4365024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264112" y="5085104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7236296" y="4302308"/>
              <a:ext cx="180000" cy="432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7236296" y="3654236"/>
              <a:ext cx="180000" cy="432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76256" y="431666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B: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804248" y="3663713"/>
              <a:ext cx="524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A: 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158339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239872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419872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501405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662395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743928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923928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005461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185501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67034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454483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536016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4716016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797549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987114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068647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5246571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5328104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5508104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5589637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5779202" y="349763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5860735" y="493779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6038659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6120192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6254683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6372200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77" name="모서리가 둥근 직사각형 76"/>
          <p:cNvSpPr/>
          <p:nvPr/>
        </p:nvSpPr>
        <p:spPr>
          <a:xfrm>
            <a:off x="899592" y="5733256"/>
            <a:ext cx="7632848" cy="638780"/>
          </a:xfrm>
          <a:prstGeom prst="roundRect">
            <a:avLst>
              <a:gd name="adj" fmla="val 7736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MLFQ approach keeps an interactive job at the highest priority</a:t>
            </a:r>
          </a:p>
        </p:txBody>
      </p:sp>
    </p:spTree>
    <p:extLst>
      <p:ext uri="{BB962C8B-B14F-4D97-AF65-F5344CB8AC3E}">
        <p14:creationId xmlns:p14="http://schemas.microsoft.com/office/powerpoint/2010/main" val="1646527715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Problems with the Basic MLFQ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Starvation</a:t>
            </a:r>
          </a:p>
          <a:p>
            <a:pPr lvl="1"/>
            <a:r>
              <a:rPr lang="en-US" altLang="ko-KR" dirty="0"/>
              <a:t>If there are “too many” interactive jobs in the system.</a:t>
            </a:r>
          </a:p>
          <a:p>
            <a:pPr lvl="1"/>
            <a:r>
              <a:rPr lang="en-US" altLang="ko-KR" dirty="0"/>
              <a:t>Long-running jobs will never receive any CPU time.</a:t>
            </a:r>
          </a:p>
          <a:p>
            <a:endParaRPr lang="en-US" altLang="ko-KR" dirty="0"/>
          </a:p>
          <a:p>
            <a:r>
              <a:rPr lang="en-US" altLang="ko-KR" dirty="0"/>
              <a:t>Game the scheduler</a:t>
            </a:r>
          </a:p>
          <a:p>
            <a:pPr lvl="1"/>
            <a:r>
              <a:rPr lang="en-US" altLang="ko-KR" dirty="0"/>
              <a:t>After running 99% of a time slice, issue an I/O operation.</a:t>
            </a:r>
          </a:p>
          <a:p>
            <a:pPr lvl="1"/>
            <a:r>
              <a:rPr lang="en-US" altLang="ko-KR" dirty="0"/>
              <a:t>The job gains a higher percentage of CPU time.</a:t>
            </a:r>
          </a:p>
          <a:p>
            <a:endParaRPr lang="en-US" altLang="ko-KR" dirty="0"/>
          </a:p>
          <a:p>
            <a:r>
              <a:rPr lang="en-US" altLang="ko-KR" dirty="0"/>
              <a:t>A program may change its behavior over time.</a:t>
            </a:r>
          </a:p>
          <a:p>
            <a:pPr lvl="1"/>
            <a:r>
              <a:rPr lang="en-US" altLang="ko-KR" dirty="0"/>
              <a:t>CPU bound process </a:t>
            </a:r>
            <a:r>
              <a:rPr lang="en-US" altLang="ko-KR" dirty="0">
                <a:sym typeface="Wingdings" pitchFamily="2" charset="2"/>
              </a:rPr>
              <a:t> I/O bound 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6195593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Priority Boost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Rule 5:</a:t>
            </a:r>
            <a:r>
              <a:rPr lang="en-US" altLang="ko-KR" dirty="0"/>
              <a:t> After some time period S, move all the jobs in the system to the topmost queue.</a:t>
            </a:r>
          </a:p>
          <a:p>
            <a:pPr lvl="1"/>
            <a:r>
              <a:rPr lang="en-US" altLang="ko-KR" dirty="0"/>
              <a:t>Example:</a:t>
            </a:r>
          </a:p>
          <a:p>
            <a:pPr lvl="2"/>
            <a:r>
              <a:rPr lang="en-US" altLang="ko-KR" dirty="0"/>
              <a:t>A long-running job(A) with two short-running interactive job(B, C)</a:t>
            </a:r>
            <a:endParaRPr lang="ko-KR" altLang="en-US" dirty="0"/>
          </a:p>
        </p:txBody>
      </p:sp>
      <p:grpSp>
        <p:nvGrpSpPr>
          <p:cNvPr id="59" name="그룹 58"/>
          <p:cNvGrpSpPr/>
          <p:nvPr/>
        </p:nvGrpSpPr>
        <p:grpSpPr>
          <a:xfrm>
            <a:off x="-36512" y="3212976"/>
            <a:ext cx="4448447" cy="2456121"/>
            <a:chOff x="251520" y="2636912"/>
            <a:chExt cx="4448447" cy="2456121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889163" y="4092504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2631624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883543" y="4811815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905971" y="3150517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8102" y="4812586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48212" y="4812585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34085" y="481258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41614" y="481603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44667" y="481603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1520" y="2824935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1520" y="3516440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51520" y="4236520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903624" y="3372504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/>
            <p:cNvSpPr/>
            <p:nvPr/>
          </p:nvSpPr>
          <p:spPr>
            <a:xfrm>
              <a:off x="1043608" y="3870597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196008" y="4581152"/>
              <a:ext cx="1440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2699792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762275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830443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888546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956714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019197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087365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150890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219058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281541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349709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407812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3475980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538463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597106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654946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723114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785597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3853765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911868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980036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042519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110687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174212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42380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304863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373031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1769355" y="5898758"/>
            <a:ext cx="5610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Without(Left) and With(Right) Priority Boost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6912280" y="5886749"/>
            <a:ext cx="1908192" cy="383496"/>
            <a:chOff x="4824048" y="1350245"/>
            <a:chExt cx="1908192" cy="383496"/>
          </a:xfrm>
        </p:grpSpPr>
        <p:sp>
          <p:nvSpPr>
            <p:cNvPr id="19" name="직사각형 18"/>
            <p:cNvSpPr/>
            <p:nvPr/>
          </p:nvSpPr>
          <p:spPr>
            <a:xfrm>
              <a:off x="5904168" y="1373741"/>
              <a:ext cx="18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256096" y="1373741"/>
              <a:ext cx="18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44128" y="135512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B: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24048" y="1350245"/>
              <a:ext cx="524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A: 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6552240" y="1373741"/>
              <a:ext cx="180000" cy="360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192200" y="135512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C: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444CC62B-BE54-4864-4BB0-378AB7D79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671" y="3356992"/>
            <a:ext cx="4829849" cy="226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23411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Better Accounting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 to prevent gaming of our scheduler?</a:t>
            </a:r>
          </a:p>
          <a:p>
            <a:r>
              <a:rPr lang="en-US" altLang="ko-KR" dirty="0"/>
              <a:t>Solution:</a:t>
            </a:r>
          </a:p>
          <a:p>
            <a:pPr lvl="1"/>
            <a:r>
              <a:rPr lang="en-US" altLang="ko-KR" b="1" dirty="0"/>
              <a:t>Rule 4 </a:t>
            </a:r>
            <a:r>
              <a:rPr lang="en-US" altLang="ko-KR" dirty="0">
                <a:sym typeface="Wingdings" pitchFamily="2" charset="2"/>
              </a:rPr>
              <a:t>(Rewrite Rules 4a and 4b):</a:t>
            </a:r>
            <a:r>
              <a:rPr lang="en-US" altLang="ko-KR" dirty="0"/>
              <a:t> Once a job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uses up its time allotment </a:t>
            </a:r>
            <a:r>
              <a:rPr lang="en-US" altLang="ko-KR" dirty="0"/>
              <a:t>at a given level (regardless of how many times it has given up the CPU), </a:t>
            </a:r>
            <a:r>
              <a:rPr lang="en-US" altLang="ko-KR" b="1" dirty="0"/>
              <a:t>its priority is reduced</a:t>
            </a:r>
            <a:r>
              <a:rPr lang="en-US" altLang="ko-KR" dirty="0"/>
              <a:t>(i.e., it moves down on queue).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87624" y="6145559"/>
            <a:ext cx="6552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Without(Left) and With(Right) Gaming Tolerance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5096BE-E039-EB03-4369-EE5BF4025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60" y="3434400"/>
            <a:ext cx="8907118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3258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Tuning MLFQ And Other Issues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r>
              <a:rPr lang="en-US" altLang="ko-KR" dirty="0"/>
              <a:t>The high-priority queues </a:t>
            </a:r>
            <a:r>
              <a:rPr lang="en-US" altLang="ko-KR" dirty="0">
                <a:sym typeface="Wingdings" pitchFamily="2" charset="2"/>
              </a:rPr>
              <a:t> Short time slices</a:t>
            </a:r>
          </a:p>
          <a:p>
            <a:pPr lvl="2"/>
            <a:r>
              <a:rPr lang="en-US" altLang="ko-KR" dirty="0">
                <a:sym typeface="Wingdings" pitchFamily="2" charset="2"/>
              </a:rPr>
              <a:t>E.g., 10 or fewer milliseconds</a:t>
            </a:r>
          </a:p>
          <a:p>
            <a:pPr lvl="1"/>
            <a:r>
              <a:rPr lang="en-US" altLang="ko-KR" dirty="0">
                <a:sym typeface="Wingdings" pitchFamily="2" charset="2"/>
              </a:rPr>
              <a:t>The Low-priority queue  Longer time slices</a:t>
            </a:r>
          </a:p>
          <a:p>
            <a:pPr lvl="2"/>
            <a:r>
              <a:rPr lang="en-US" altLang="ko-KR" dirty="0">
                <a:sym typeface="Wingdings" pitchFamily="2" charset="2"/>
              </a:rPr>
              <a:t>E.g., 100 milliseconds</a:t>
            </a:r>
            <a:endParaRPr lang="ko-KR" altLang="en-US" dirty="0"/>
          </a:p>
        </p:txBody>
      </p:sp>
      <p:grpSp>
        <p:nvGrpSpPr>
          <p:cNvPr id="63" name="그룹 62"/>
          <p:cNvGrpSpPr/>
          <p:nvPr/>
        </p:nvGrpSpPr>
        <p:grpSpPr>
          <a:xfrm>
            <a:off x="1995761" y="3429000"/>
            <a:ext cx="4664471" cy="2520240"/>
            <a:chOff x="2427809" y="3141008"/>
            <a:chExt cx="4664471" cy="2520240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3065452" y="4620005"/>
              <a:ext cx="402682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>
              <a:off x="3059832" y="5380030"/>
              <a:ext cx="403244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944391" y="5380801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79912" y="5380800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12748" y="5380799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28868" y="5384249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64972" y="5384249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27809" y="3328991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427809" y="4020496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27809" y="4740576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079913" y="3876560"/>
              <a:ext cx="401236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/>
            <p:cNvSpPr/>
            <p:nvPr/>
          </p:nvSpPr>
          <p:spPr>
            <a:xfrm>
              <a:off x="3268041" y="3141008"/>
              <a:ext cx="18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075462" y="3502693"/>
              <a:ext cx="18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803357" y="3876678"/>
              <a:ext cx="36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443349" y="4246138"/>
              <a:ext cx="36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4899187" y="4635941"/>
              <a:ext cx="72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163413" y="5005401"/>
              <a:ext cx="72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6372280" y="4635941"/>
              <a:ext cx="72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5628691" y="5005401"/>
              <a:ext cx="72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1115616" y="5949240"/>
            <a:ext cx="6552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Example) 10ms for the highest queue, 20ms for the middle, 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40ms for the lowest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2679808" y="908720"/>
            <a:ext cx="3836408" cy="504056"/>
          </a:xfrm>
          <a:prstGeom prst="roundRect">
            <a:avLst>
              <a:gd name="adj" fmla="val 7736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Lower Priority, Longer Quantum</a:t>
            </a:r>
          </a:p>
        </p:txBody>
      </p:sp>
    </p:spTree>
    <p:extLst>
      <p:ext uri="{BB962C8B-B14F-4D97-AF65-F5344CB8AC3E}">
        <p14:creationId xmlns:p14="http://schemas.microsoft.com/office/powerpoint/2010/main" val="322558386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Solaris MLFQ 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 the Time-Sharing scheduling class (TS)</a:t>
            </a:r>
          </a:p>
          <a:p>
            <a:pPr lvl="1"/>
            <a:r>
              <a:rPr lang="en-US" altLang="ko-KR" dirty="0"/>
              <a:t>60 Queues</a:t>
            </a:r>
          </a:p>
          <a:p>
            <a:pPr lvl="1"/>
            <a:r>
              <a:rPr lang="en-US" altLang="ko-KR" dirty="0"/>
              <a:t>Slowly increasing time-slice length</a:t>
            </a:r>
          </a:p>
          <a:p>
            <a:pPr lvl="2"/>
            <a:r>
              <a:rPr lang="en-US" altLang="ko-KR" dirty="0"/>
              <a:t>The highest priority: 20msec</a:t>
            </a:r>
          </a:p>
          <a:p>
            <a:pPr lvl="2"/>
            <a:r>
              <a:rPr lang="en-US" altLang="ko-KR" dirty="0"/>
              <a:t>The lowest priority: A few hundred milliseconds</a:t>
            </a:r>
          </a:p>
          <a:p>
            <a:pPr lvl="1"/>
            <a:r>
              <a:rPr lang="en-US" altLang="ko-KR" dirty="0"/>
              <a:t>Priorities boosted around every 1 second or so.</a:t>
            </a:r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0526161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Summary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refined set of MLFQ rules:</a:t>
            </a:r>
          </a:p>
          <a:p>
            <a:pPr lvl="1"/>
            <a:r>
              <a:rPr lang="en-US" altLang="ko-KR" b="1" dirty="0"/>
              <a:t>Rule 1:</a:t>
            </a:r>
            <a:r>
              <a:rPr lang="en-US" altLang="ko-KR" dirty="0"/>
              <a:t> If Priority(A) &gt; Priority(B), A runs (B doesn’t).</a:t>
            </a:r>
          </a:p>
          <a:p>
            <a:pPr lvl="1"/>
            <a:r>
              <a:rPr lang="en-US" altLang="ko-KR" b="1" dirty="0"/>
              <a:t>Rule 2:</a:t>
            </a:r>
            <a:r>
              <a:rPr lang="en-US" altLang="ko-KR" dirty="0"/>
              <a:t> If Priority(A) = Priority(B), A &amp; B run in RR.</a:t>
            </a:r>
          </a:p>
          <a:p>
            <a:pPr lvl="1"/>
            <a:r>
              <a:rPr lang="en-US" altLang="ko-KR" b="1" dirty="0"/>
              <a:t>Rule 3: </a:t>
            </a:r>
            <a:r>
              <a:rPr lang="en-US" altLang="ko-KR" dirty="0"/>
              <a:t>When a job enters the system, it is placed at the highest priority.</a:t>
            </a:r>
          </a:p>
          <a:p>
            <a:pPr lvl="1"/>
            <a:r>
              <a:rPr lang="en-US" altLang="ko-KR" b="1" dirty="0"/>
              <a:t>Rule 4:</a:t>
            </a:r>
            <a:r>
              <a:rPr lang="en-US" altLang="ko-KR" dirty="0"/>
              <a:t> Once a job uses up its time allotment at a given level (regardless of how many times it has given up the CPU), its priority is reduced(i.e., it moves down on queue).</a:t>
            </a:r>
          </a:p>
          <a:p>
            <a:pPr lvl="1"/>
            <a:r>
              <a:rPr lang="en-US" altLang="ko-KR" b="1" dirty="0"/>
              <a:t>Rule 5: </a:t>
            </a:r>
            <a:r>
              <a:rPr lang="en-US" altLang="ko-KR" dirty="0"/>
              <a:t>After some time period S, move all the jobs in the system to the topmost queue.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290369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Part III: Scheduling: Proportional Share</a:t>
            </a:r>
          </a:p>
        </p:txBody>
      </p:sp>
    </p:spTree>
    <p:extLst>
      <p:ext uri="{BB962C8B-B14F-4D97-AF65-F5344CB8AC3E}">
        <p14:creationId xmlns:p14="http://schemas.microsoft.com/office/powerpoint/2010/main" val="3466897611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Proportional Share Scheduler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Fair-share</a:t>
            </a:r>
            <a:r>
              <a:rPr lang="en-US" altLang="ko-KR" dirty="0"/>
              <a:t> scheduler</a:t>
            </a:r>
          </a:p>
          <a:p>
            <a:pPr lvl="1"/>
            <a:r>
              <a:rPr lang="en-US" altLang="ko-KR" dirty="0"/>
              <a:t>Guarantee that each job obtain </a:t>
            </a:r>
            <a:r>
              <a:rPr lang="en-US" altLang="ko-KR" i="1" dirty="0"/>
              <a:t>a certain percentage </a:t>
            </a:r>
            <a:r>
              <a:rPr lang="en-US" altLang="ko-KR" dirty="0"/>
              <a:t>of CPU time.</a:t>
            </a:r>
          </a:p>
          <a:p>
            <a:pPr lvl="1"/>
            <a:r>
              <a:rPr lang="en-US" altLang="ko-KR" dirty="0"/>
              <a:t>Not optimized for turnaround or response time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15470165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Concept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Tickets</a:t>
            </a:r>
          </a:p>
          <a:p>
            <a:pPr lvl="1"/>
            <a:r>
              <a:rPr lang="en-US" altLang="ko-KR" dirty="0"/>
              <a:t>Represent the share of a resource that a process should receive</a:t>
            </a:r>
          </a:p>
          <a:p>
            <a:pPr lvl="1"/>
            <a:r>
              <a:rPr lang="en-US" altLang="ko-KR" u="sng" dirty="0"/>
              <a:t>The percent of tickets</a:t>
            </a:r>
            <a:r>
              <a:rPr lang="en-US" altLang="ko-KR" dirty="0"/>
              <a:t> represents its share of the system resource in question.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Example</a:t>
            </a:r>
          </a:p>
          <a:p>
            <a:pPr lvl="1"/>
            <a:r>
              <a:rPr lang="en-US" altLang="ko-KR" dirty="0"/>
              <a:t>There are two processes, A and B.</a:t>
            </a:r>
          </a:p>
          <a:p>
            <a:pPr lvl="2"/>
            <a:r>
              <a:rPr lang="en-US" altLang="ko-KR" dirty="0"/>
              <a:t>Process A has 75 tickets </a:t>
            </a:r>
            <a:r>
              <a:rPr lang="en-US" altLang="ko-KR" dirty="0">
                <a:sym typeface="Wingdings" pitchFamily="2" charset="2"/>
              </a:rPr>
              <a:t> receive 75% of the CPU</a:t>
            </a:r>
            <a:endParaRPr lang="en-US" altLang="ko-KR" dirty="0"/>
          </a:p>
          <a:p>
            <a:pPr lvl="2"/>
            <a:r>
              <a:rPr lang="en-US" altLang="ko-KR" dirty="0"/>
              <a:t>Process B has 25 tickets </a:t>
            </a:r>
            <a:r>
              <a:rPr lang="en-US" altLang="ko-KR" dirty="0">
                <a:sym typeface="Wingdings" pitchFamily="2" charset="2"/>
              </a:rPr>
              <a:t> receive 25% of the CPU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1722425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Lottery scheduling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scheduler picks </a:t>
            </a:r>
            <a:r>
              <a:rPr lang="en-US" altLang="ko-KR" u="sng" dirty="0"/>
              <a:t>a winning ticket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Load the state of that </a:t>
            </a:r>
            <a:r>
              <a:rPr lang="en-US" altLang="ko-KR" i="1" dirty="0"/>
              <a:t>winning process </a:t>
            </a:r>
            <a:r>
              <a:rPr lang="en-US" altLang="ko-KR" dirty="0"/>
              <a:t>and runs it.</a:t>
            </a:r>
          </a:p>
          <a:p>
            <a:r>
              <a:rPr lang="en-US" altLang="ko-KR" dirty="0"/>
              <a:t>Example</a:t>
            </a:r>
          </a:p>
          <a:p>
            <a:pPr lvl="1"/>
            <a:r>
              <a:rPr lang="en-US" altLang="ko-KR" dirty="0"/>
              <a:t>There are 100 tickets</a:t>
            </a:r>
          </a:p>
          <a:p>
            <a:pPr lvl="2"/>
            <a:r>
              <a:rPr lang="en-US" altLang="ko-KR" dirty="0"/>
              <a:t>Process A has 75 tickets: 0 ~ 74</a:t>
            </a:r>
          </a:p>
          <a:p>
            <a:pPr lvl="2"/>
            <a:r>
              <a:rPr lang="en-US" altLang="ko-KR" dirty="0"/>
              <a:t>Process B has 25 tickets: 75 ~ 99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971600" y="3933056"/>
            <a:ext cx="7416824" cy="679443"/>
            <a:chOff x="539552" y="4353478"/>
            <a:chExt cx="7416824" cy="679443"/>
          </a:xfrm>
        </p:grpSpPr>
        <p:sp>
          <p:nvSpPr>
            <p:cNvPr id="7" name="TextBox 6"/>
            <p:cNvSpPr txBox="1"/>
            <p:nvPr/>
          </p:nvSpPr>
          <p:spPr>
            <a:xfrm>
              <a:off x="539552" y="4353478"/>
              <a:ext cx="23762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Scheduler’s winning tickets:</a:t>
              </a:r>
              <a:endParaRPr lang="ko-KR" altLang="en-US" sz="1400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87824" y="4353478"/>
              <a:ext cx="4968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63  85  70  39  76  17  29  41  36  39  10  99  68  83  63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4056" y="4725144"/>
              <a:ext cx="23762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Resulting scheduler:</a:t>
              </a:r>
              <a:endParaRPr lang="ko-KR" altLang="en-US" sz="1400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3958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6075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8192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0309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2426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72450" y="472013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1479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4543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96660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28777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0894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93011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5128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9362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535954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" name="모서리가 둥근 직사각형 25"/>
          <p:cNvSpPr/>
          <p:nvPr/>
        </p:nvSpPr>
        <p:spPr>
          <a:xfrm>
            <a:off x="971600" y="5085184"/>
            <a:ext cx="7224456" cy="792088"/>
          </a:xfrm>
          <a:prstGeom prst="roundRect">
            <a:avLst>
              <a:gd name="adj" fmla="val 14582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longer these two jobs compete,</a:t>
            </a:r>
          </a:p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more likely they are to achieve the desired percentages.</a:t>
            </a:r>
          </a:p>
        </p:txBody>
      </p:sp>
    </p:spTree>
    <p:extLst>
      <p:ext uri="{BB962C8B-B14F-4D97-AF65-F5344CB8AC3E}">
        <p14:creationId xmlns:p14="http://schemas.microsoft.com/office/powerpoint/2010/main" val="3103229491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Ticket Mechanisms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Ticket currency</a:t>
            </a:r>
          </a:p>
          <a:p>
            <a:pPr lvl="1"/>
            <a:r>
              <a:rPr lang="en-US" altLang="ko-KR" dirty="0"/>
              <a:t>A user allocates tickets among their own jobs in whatever currency they would like.</a:t>
            </a:r>
          </a:p>
          <a:p>
            <a:pPr lvl="1"/>
            <a:r>
              <a:rPr lang="en-US" altLang="ko-KR" dirty="0"/>
              <a:t>The system converts the currency into the correct global value.</a:t>
            </a:r>
          </a:p>
          <a:p>
            <a:pPr lvl="1"/>
            <a:r>
              <a:rPr lang="en-US" altLang="ko-KR" dirty="0"/>
              <a:t>Example</a:t>
            </a:r>
          </a:p>
          <a:p>
            <a:pPr lvl="2"/>
            <a:r>
              <a:rPr lang="en-US" altLang="ko-KR" dirty="0"/>
              <a:t>There are 200 tickets (Global currency)</a:t>
            </a:r>
          </a:p>
          <a:p>
            <a:pPr lvl="2"/>
            <a:r>
              <a:rPr lang="en-US" altLang="ko-KR" dirty="0"/>
              <a:t>Process A has 100 tickets</a:t>
            </a:r>
          </a:p>
          <a:p>
            <a:pPr lvl="2"/>
            <a:r>
              <a:rPr lang="en-US" altLang="ko-KR" dirty="0"/>
              <a:t>Process B has 100 tickets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68318" y="4653136"/>
            <a:ext cx="5876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User A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	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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500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(A’s currency) to A1  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50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(global currency)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	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500 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(A’s currency) to A2  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50 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(global currency)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950" y="5435932"/>
            <a:ext cx="5868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User B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	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 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10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(B’s currency) to B1 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100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(global currency)</a:t>
            </a:r>
          </a:p>
        </p:txBody>
      </p:sp>
    </p:spTree>
    <p:extLst>
      <p:ext uri="{BB962C8B-B14F-4D97-AF65-F5344CB8AC3E}">
        <p14:creationId xmlns:p14="http://schemas.microsoft.com/office/powerpoint/2010/main" val="1650392420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Ticket Mechanisms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Ticket transfer</a:t>
            </a:r>
          </a:p>
          <a:p>
            <a:pPr lvl="1"/>
            <a:r>
              <a:rPr lang="en-US" altLang="ko-KR" dirty="0"/>
              <a:t>A process can temporarily </a:t>
            </a:r>
            <a:r>
              <a:rPr lang="en-US" altLang="ko-KR" u="sng" dirty="0"/>
              <a:t>hand off</a:t>
            </a:r>
            <a:r>
              <a:rPr lang="en-US" altLang="ko-KR" dirty="0"/>
              <a:t> </a:t>
            </a:r>
            <a:r>
              <a:rPr lang="en-US" altLang="ko-KR" i="1" dirty="0"/>
              <a:t>its tickets </a:t>
            </a:r>
            <a:r>
              <a:rPr lang="en-US" altLang="ko-KR" dirty="0"/>
              <a:t>to another process.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Ticket inflation</a:t>
            </a:r>
          </a:p>
          <a:p>
            <a:pPr lvl="1"/>
            <a:r>
              <a:rPr lang="en-US" altLang="ko-KR" dirty="0"/>
              <a:t>A process can </a:t>
            </a:r>
            <a:r>
              <a:rPr lang="en-US" altLang="ko-KR" u="sng" dirty="0"/>
              <a:t>temporarily raise or lower</a:t>
            </a:r>
            <a:r>
              <a:rPr lang="en-US" altLang="ko-KR" dirty="0"/>
              <a:t> the number of tickets it owns.</a:t>
            </a:r>
          </a:p>
          <a:p>
            <a:pPr lvl="1"/>
            <a:r>
              <a:rPr lang="en-US" altLang="ko-KR" dirty="0"/>
              <a:t>If any one process needs </a:t>
            </a:r>
            <a:r>
              <a:rPr lang="en-US" altLang="ko-KR" i="1" dirty="0"/>
              <a:t>more CPU time</a:t>
            </a:r>
            <a:r>
              <a:rPr lang="en-US" altLang="ko-KR" dirty="0"/>
              <a:t>, it can boost its tickets.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45696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Example: There are three processes, A, B, and C.</a:t>
            </a:r>
          </a:p>
          <a:p>
            <a:pPr lvl="1"/>
            <a:r>
              <a:rPr lang="en-US" altLang="ko-KR" dirty="0"/>
              <a:t>Keep the processes in a list: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1411880" y="1984290"/>
            <a:ext cx="6184456" cy="868646"/>
            <a:chOff x="1622889" y="1556792"/>
            <a:chExt cx="6184456" cy="868646"/>
          </a:xfrm>
        </p:grpSpPr>
        <p:sp>
          <p:nvSpPr>
            <p:cNvPr id="6" name="TextBox 5"/>
            <p:cNvSpPr txBox="1"/>
            <p:nvPr/>
          </p:nvSpPr>
          <p:spPr>
            <a:xfrm>
              <a:off x="1622889" y="1844824"/>
              <a:ext cx="6447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head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>
              <a:off x="2267744" y="2029490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타원 8"/>
            <p:cNvSpPr/>
            <p:nvPr/>
          </p:nvSpPr>
          <p:spPr>
            <a:xfrm>
              <a:off x="2843808" y="1561438"/>
              <a:ext cx="864000" cy="86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Job:A</a:t>
              </a:r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Tix:100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>
              <a:off x="3719530" y="2024844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타원 10"/>
            <p:cNvSpPr/>
            <p:nvPr/>
          </p:nvSpPr>
          <p:spPr>
            <a:xfrm>
              <a:off x="4295594" y="1556792"/>
              <a:ext cx="864000" cy="86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Job:B</a:t>
              </a:r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Tix:50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2" name="직선 화살표 연결선 11"/>
            <p:cNvCxnSpPr/>
            <p:nvPr/>
          </p:nvCxnSpPr>
          <p:spPr>
            <a:xfrm>
              <a:off x="5169689" y="2024844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/>
            <p:cNvSpPr/>
            <p:nvPr/>
          </p:nvSpPr>
          <p:spPr>
            <a:xfrm>
              <a:off x="5745753" y="1556792"/>
              <a:ext cx="864000" cy="86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Job:C</a:t>
              </a:r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Tix:250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125748" y="1844824"/>
              <a:ext cx="6815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NULL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" name="직선 화살표 연결선 14"/>
            <p:cNvCxnSpPr/>
            <p:nvPr/>
          </p:nvCxnSpPr>
          <p:spPr>
            <a:xfrm>
              <a:off x="6618475" y="2029490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611560" y="2965008"/>
            <a:ext cx="7992888" cy="3416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counter: used to track if we’ve found the winner yet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counter = </a:t>
            </a:r>
            <a:r>
              <a:rPr lang="en-US" altLang="ko-KR" sz="12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winner: use some call to a random number generator to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get a value, between 0 and the total # of tickets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winner =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getrandom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totaltickets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current: use this to walk through the list of jobs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node_t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*current = head;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loop until the sum of ticket values is &gt; the winner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</a:t>
            </a:r>
            <a:r>
              <a:rPr lang="en-US" altLang="ko-KR" sz="12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 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(current) {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counter = counter + current-&gt;tickets;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	</a:t>
            </a:r>
            <a:r>
              <a:rPr lang="en-US" altLang="ko-KR" sz="12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(counter &gt; winner)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		</a:t>
            </a:r>
            <a:r>
              <a:rPr lang="en-US" altLang="ko-KR" sz="12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break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found the winner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	current = current-&gt;next;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}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’current’ is the winner: schedule it...</a:t>
            </a:r>
          </a:p>
        </p:txBody>
      </p:sp>
    </p:spTree>
    <p:extLst>
      <p:ext uri="{BB962C8B-B14F-4D97-AF65-F5344CB8AC3E}">
        <p14:creationId xmlns:p14="http://schemas.microsoft.com/office/powerpoint/2010/main" val="2411525047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 (Cont.)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>
                    <a:latin typeface="Courier New" pitchFamily="49" charset="0"/>
                    <a:cs typeface="Courier New" pitchFamily="49" charset="0"/>
                  </a:rPr>
                  <a:t>U</a:t>
                </a:r>
                <a:r>
                  <a:rPr lang="en-US" altLang="ko-KR" dirty="0"/>
                  <a:t>: unfairness metric</a:t>
                </a:r>
              </a:p>
              <a:p>
                <a:pPr lvl="1"/>
                <a:r>
                  <a:rPr lang="en-US" altLang="ko-KR" dirty="0"/>
                  <a:t>The time the first job completes divided by the time that the second job completes.</a:t>
                </a:r>
              </a:p>
              <a:p>
                <a:r>
                  <a:rPr lang="en-US" altLang="ko-KR" dirty="0"/>
                  <a:t>Example:</a:t>
                </a:r>
              </a:p>
              <a:p>
                <a:pPr lvl="1"/>
                <a:r>
                  <a:rPr lang="en-US" altLang="ko-KR" dirty="0"/>
                  <a:t>There are two jobs, and each job’s runtime is 10.</a:t>
                </a:r>
              </a:p>
              <a:p>
                <a:pPr lvl="2"/>
                <a:r>
                  <a:rPr lang="en-US" altLang="ko-KR" dirty="0"/>
                  <a:t>The first job finishes at time 10</a:t>
                </a:r>
              </a:p>
              <a:p>
                <a:pPr lvl="2"/>
                <a:r>
                  <a:rPr lang="en-US" altLang="ko-KR" dirty="0"/>
                  <a:t>The second job finishes at time 20</a:t>
                </a:r>
              </a:p>
              <a:p>
                <a:pPr lvl="1"/>
                <a:r>
                  <a:rPr lang="en-US" altLang="ko-KR" b="0" dirty="0">
                    <a:latin typeface="Courier New" pitchFamily="49" charset="0"/>
                    <a:cs typeface="Courier New" pitchFamily="49" charset="0"/>
                  </a:rPr>
                  <a:t>U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/>
                          </a:rPr>
                          <m:t>10</m:t>
                        </m:r>
                      </m:num>
                      <m:den>
                        <m:r>
                          <a:rPr lang="en-US" altLang="ko-KR" b="0" i="1" smtClean="0">
                            <a:latin typeface="Cambria Math"/>
                          </a:rPr>
                          <m:t>20</m:t>
                        </m:r>
                      </m:den>
                    </m:f>
                    <m:r>
                      <a:rPr lang="en-US" altLang="ko-KR" b="0" i="1" smtClean="0">
                        <a:latin typeface="Cambria Math"/>
                      </a:rPr>
                      <m:t>=0.5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>
                    <a:latin typeface="Courier New" pitchFamily="49" charset="0"/>
                    <a:cs typeface="Courier New" pitchFamily="49" charset="0"/>
                  </a:rPr>
                  <a:t>U</a:t>
                </a:r>
                <a:r>
                  <a:rPr lang="en-US" altLang="ko-KR" dirty="0"/>
                  <a:t> will be close to 1 when both jobs finish at nearly the same time.</a:t>
                </a:r>
              </a:p>
              <a:p>
                <a:pPr lvl="1"/>
                <a:endParaRPr lang="en-US" altLang="ko-KR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012014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Lottery Fairness Study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There are two jobs.</a:t>
            </a:r>
          </a:p>
          <a:p>
            <a:pPr lvl="1"/>
            <a:r>
              <a:rPr lang="en-US" altLang="ko-KR" dirty="0"/>
              <a:t>Each jobs has the same number of tickets (100).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988840"/>
            <a:ext cx="3672408" cy="3322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모서리가 둥근 직사각형 6"/>
          <p:cNvSpPr/>
          <p:nvPr/>
        </p:nvSpPr>
        <p:spPr>
          <a:xfrm>
            <a:off x="1547664" y="5517232"/>
            <a:ext cx="6408712" cy="792088"/>
          </a:xfrm>
          <a:prstGeom prst="roundRect">
            <a:avLst>
              <a:gd name="adj" fmla="val 14582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When the job length is not very long,</a:t>
            </a:r>
          </a:p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average unfairness can be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quite severe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6458332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Stride Scheduling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Stride</a:t>
            </a:r>
            <a:r>
              <a:rPr lang="en-US" altLang="ko-KR" dirty="0"/>
              <a:t> of each process</a:t>
            </a:r>
          </a:p>
          <a:p>
            <a:pPr lvl="1"/>
            <a:r>
              <a:rPr lang="en-US" altLang="ko-KR" dirty="0"/>
              <a:t>(A large number) / (the number of tickets of the process)</a:t>
            </a:r>
          </a:p>
          <a:p>
            <a:pPr lvl="1"/>
            <a:r>
              <a:rPr lang="en-US" altLang="ko-KR" dirty="0"/>
              <a:t>Example: A large number = 10,000</a:t>
            </a:r>
          </a:p>
          <a:p>
            <a:pPr lvl="2"/>
            <a:r>
              <a:rPr lang="en-US" altLang="ko-KR" dirty="0"/>
              <a:t>Process A has 100 tickets </a:t>
            </a:r>
            <a:r>
              <a:rPr lang="en-US" altLang="ko-KR" dirty="0">
                <a:sym typeface="Wingdings" pitchFamily="2" charset="2"/>
              </a:rPr>
              <a:t> the stride of A is 100</a:t>
            </a:r>
          </a:p>
          <a:p>
            <a:pPr lvl="2"/>
            <a:r>
              <a:rPr lang="en-US" altLang="ko-KR" dirty="0">
                <a:sym typeface="Wingdings" pitchFamily="2" charset="2"/>
              </a:rPr>
              <a:t>Process B has 50 tickets  the stride of B is 200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 process runs, increment a counter(=pass value) for it by its stride.</a:t>
            </a:r>
          </a:p>
          <a:p>
            <a:pPr lvl="1"/>
            <a:r>
              <a:rPr lang="en-US" altLang="ko-KR" dirty="0"/>
              <a:t>Pick the process to run that has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the lowest pass value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1560" y="5190291"/>
            <a:ext cx="7992888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current =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remove_min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(queue);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pick client with the minimum pass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schedule(current); 	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use resource for quantum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current-&gt;pass += current-&gt;stride;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compute next pass using stride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insert(queue, current);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put back into the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832" y="6021288"/>
            <a:ext cx="3096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pseudo code implementation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1745991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Stride Scheduling Example</a:t>
            </a:r>
            <a:endParaRPr lang="ko-KR" alt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1259632" y="2132856"/>
            <a:ext cx="6408712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6084168" y="1414517"/>
            <a:ext cx="0" cy="345464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141277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Pass(</a:t>
            </a:r>
            <a:r>
              <a:rPr lang="en-US" altLang="ko-KR" b="1" dirty="0">
                <a:solidFill>
                  <a:srgbClr val="C0504D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(stride=100)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71800" y="1414517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Pass(</a:t>
            </a:r>
            <a:r>
              <a:rPr lang="en-US" altLang="ko-KR" b="1" dirty="0">
                <a:solidFill>
                  <a:srgbClr val="9BBB59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(stride=200)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27984" y="141277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Pass(</a:t>
            </a:r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(stride=40)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56176" y="141277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Who Runs?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31640" y="2204864"/>
            <a:ext cx="1152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15816" y="2204864"/>
            <a:ext cx="1152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4008" y="2211829"/>
            <a:ext cx="1152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8184" y="2204864"/>
            <a:ext cx="1152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504D"/>
                </a:solidFill>
                <a:latin typeface="맑은 고딕" pitchFamily="50" charset="-127"/>
                <a:ea typeface="맑은 고딕" pitchFamily="50" charset="-127"/>
              </a:rPr>
              <a:t>A</a:t>
            </a:r>
          </a:p>
          <a:p>
            <a:pPr algn="ctr"/>
            <a:r>
              <a:rPr lang="en-US" altLang="ko-KR" b="1" dirty="0">
                <a:solidFill>
                  <a:srgbClr val="9BBB59"/>
                </a:solidFill>
                <a:latin typeface="맑은 고딕" pitchFamily="50" charset="-127"/>
                <a:ea typeface="맑은 고딕" pitchFamily="50" charset="-127"/>
              </a:rPr>
              <a:t>B</a:t>
            </a:r>
          </a:p>
          <a:p>
            <a:pPr algn="ctr"/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</a:p>
          <a:p>
            <a:pPr algn="ctr"/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</a:p>
          <a:p>
            <a:pPr algn="ctr"/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</a:p>
          <a:p>
            <a:pPr algn="ctr"/>
            <a:r>
              <a:rPr lang="en-US" altLang="ko-KR" b="1" dirty="0">
                <a:solidFill>
                  <a:srgbClr val="C0504D"/>
                </a:solidFill>
                <a:latin typeface="맑은 고딕" pitchFamily="50" charset="-127"/>
                <a:ea typeface="맑은 고딕" pitchFamily="50" charset="-127"/>
              </a:rPr>
              <a:t>A</a:t>
            </a:r>
          </a:p>
          <a:p>
            <a:pPr algn="ctr"/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</a:p>
          <a:p>
            <a:pPr algn="ctr"/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051720" y="5301208"/>
            <a:ext cx="5112568" cy="792088"/>
          </a:xfrm>
          <a:prstGeom prst="roundRect">
            <a:avLst>
              <a:gd name="adj" fmla="val 14582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 a new job enters with pass value 0,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it will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monopolize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the CPU!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4295126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Part IV. Multiprocessor Scheduling</a:t>
            </a:r>
            <a:endParaRPr lang="ko-KR" altLang="en-US" sz="1600" dirty="0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174623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Multiprocessor Scheduling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rise of the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multicore processor </a:t>
            </a:r>
            <a:r>
              <a:rPr lang="en-US" altLang="ko-KR" dirty="0"/>
              <a:t>is the source of multiprocessor-scheduling proliferation.</a:t>
            </a:r>
          </a:p>
          <a:p>
            <a:pPr lvl="1"/>
            <a:r>
              <a:rPr lang="en-US" altLang="ko-KR" b="1" dirty="0"/>
              <a:t>Multicore</a:t>
            </a:r>
            <a:r>
              <a:rPr lang="en-US" altLang="ko-KR" dirty="0"/>
              <a:t>: Multiple CPU cores are packed onto a single chip.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Adding more CPUs </a:t>
            </a:r>
            <a:r>
              <a:rPr lang="en-US" altLang="ko-KR" u="sng" dirty="0"/>
              <a:t>does not</a:t>
            </a:r>
            <a:r>
              <a:rPr lang="en-US" altLang="ko-KR" dirty="0"/>
              <a:t> make that single application run faster. </a:t>
            </a:r>
            <a:r>
              <a:rPr lang="en-US" altLang="ko-KR" dirty="0">
                <a:sym typeface="Wingdings" pitchFamily="2" charset="2"/>
              </a:rPr>
              <a:t> You’ll have to rewrite application to run in parallel, using </a:t>
            </a:r>
            <a:r>
              <a:rPr lang="en-US" altLang="ko-KR" b="1" dirty="0">
                <a:sym typeface="Wingdings" pitchFamily="2" charset="2"/>
              </a:rPr>
              <a:t>threads</a:t>
            </a:r>
            <a:r>
              <a:rPr lang="en-US" altLang="ko-KR" dirty="0">
                <a:sym typeface="Wingdings" pitchFamily="2" charset="2"/>
              </a:rPr>
              <a:t>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2051720" y="4221088"/>
            <a:ext cx="5112568" cy="720080"/>
          </a:xfrm>
          <a:prstGeom prst="roundRect">
            <a:avLst>
              <a:gd name="adj" fmla="val 14582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How to schedule jobs on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Multiple CPUs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33807781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Single CPU with cache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899592" y="1340768"/>
            <a:ext cx="1368152" cy="1152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en-US" altLang="ko-KR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CPU</a:t>
            </a:r>
            <a:endParaRPr lang="ko-KR" altLang="en-US" sz="2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99592" y="2492896"/>
            <a:ext cx="1368152" cy="4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en-US" altLang="ko-KR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Cache</a:t>
            </a:r>
            <a:endParaRPr lang="ko-KR" altLang="en-US" sz="2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99592" y="3212976"/>
            <a:ext cx="1368152" cy="9361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en-US" altLang="ko-KR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Memory</a:t>
            </a:r>
            <a:endParaRPr lang="ko-KR" altLang="en-US" sz="2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1582301" y="2924944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1223628" y="4941168"/>
            <a:ext cx="6804756" cy="936104"/>
          </a:xfrm>
          <a:prstGeom prst="roundRect">
            <a:avLst>
              <a:gd name="adj" fmla="val 14582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By keeping data in cache, the system can make slow memory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appear to be a fast 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824" y="1772816"/>
            <a:ext cx="4968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Small, fast memories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Hold copies of </a:t>
            </a:r>
            <a:r>
              <a:rPr lang="en-US" altLang="ko-KR" u="sng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popular</a:t>
            </a: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data that is found in the main memory.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Utilize </a:t>
            </a:r>
            <a:r>
              <a:rPr lang="en-US" altLang="ko-KR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temporal</a:t>
            </a: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and </a:t>
            </a:r>
            <a:r>
              <a:rPr lang="en-US" altLang="ko-KR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spatial</a:t>
            </a: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locality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7824" y="3646765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Holds all of the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Access to main memory is slower than cache.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7824" y="1412776"/>
            <a:ext cx="109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Cache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87824" y="3275692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Main Memory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8" name="꺾인 연결선 17"/>
          <p:cNvCxnSpPr>
            <a:stCxn id="7" idx="3"/>
            <a:endCxn id="15" idx="1"/>
          </p:cNvCxnSpPr>
          <p:nvPr/>
        </p:nvCxnSpPr>
        <p:spPr>
          <a:xfrm flipV="1">
            <a:off x="2267744" y="1597442"/>
            <a:ext cx="720080" cy="1111478"/>
          </a:xfrm>
          <a:prstGeom prst="bentConnector3">
            <a:avLst/>
          </a:prstGeom>
          <a:ln w="15875">
            <a:solidFill>
              <a:schemeClr val="tx1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8" idx="3"/>
            <a:endCxn id="16" idx="1"/>
          </p:cNvCxnSpPr>
          <p:nvPr/>
        </p:nvCxnSpPr>
        <p:spPr>
          <a:xfrm flipV="1">
            <a:off x="2267744" y="3460358"/>
            <a:ext cx="720080" cy="22067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965234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Cache coherence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Consistency of shared resource data stored in multiple caches.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150253" y="3880093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018990" y="3888477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096944" y="4168125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140885" y="4168125"/>
            <a:ext cx="1882943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41830" y="3952101"/>
            <a:ext cx="1098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Bus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/>
              <p:cNvGraphicFramePr>
                <a:graphicFrameLocks noGrp="1"/>
              </p:cNvGraphicFramePr>
              <p:nvPr/>
            </p:nvGraphicFramePr>
            <p:xfrm>
              <a:off x="1197886" y="4468625"/>
              <a:ext cx="1800200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2848454"/>
                  </p:ext>
                </p:extLst>
              </p:nvPr>
            </p:nvGraphicFramePr>
            <p:xfrm>
              <a:off x="1197886" y="4468625"/>
              <a:ext cx="1800200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0050"/>
                    <a:gridCol w="450050"/>
                    <a:gridCol w="450050"/>
                    <a:gridCol w="450050"/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351" r="-198649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6" name="TextBox 15"/>
          <p:cNvSpPr txBox="1"/>
          <p:nvPr/>
        </p:nvSpPr>
        <p:spPr>
          <a:xfrm>
            <a:off x="3003454" y="4477643"/>
            <a:ext cx="1098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59632" y="4832608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22940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80106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27784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4499992" y="1628800"/>
            <a:ext cx="0" cy="4608512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9512" y="1700808"/>
            <a:ext cx="417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0. Two CPUs with caches sharing memory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88024" y="1708623"/>
            <a:ext cx="417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1. CPU0 reads a data at address 1.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348645" y="2564904"/>
            <a:ext cx="1368153" cy="1323004"/>
            <a:chOff x="467544" y="2420888"/>
            <a:chExt cx="1368153" cy="1323004"/>
          </a:xfrm>
        </p:grpSpPr>
        <p:sp>
          <p:nvSpPr>
            <p:cNvPr id="6" name="직사각형 5"/>
            <p:cNvSpPr/>
            <p:nvPr/>
          </p:nvSpPr>
          <p:spPr>
            <a:xfrm>
              <a:off x="467544" y="2420888"/>
              <a:ext cx="1368152" cy="7920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pPr algn="ctr"/>
              <a:r>
                <a:rPr lang="en-US" altLang="ko-KR" sz="2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CPU 0</a:t>
              </a:r>
              <a:endParaRPr lang="ko-KR" altLang="en-US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 rot="16200000">
              <a:off x="307261" y="3373261"/>
              <a:ext cx="530916" cy="2103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Cache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677892" y="3212974"/>
              <a:ext cx="581740" cy="5309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259633" y="3215183"/>
              <a:ext cx="576064" cy="5287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2222526" y="2564904"/>
            <a:ext cx="1368153" cy="1323004"/>
            <a:chOff x="467544" y="2420888"/>
            <a:chExt cx="1368153" cy="1323004"/>
          </a:xfrm>
        </p:grpSpPr>
        <p:sp>
          <p:nvSpPr>
            <p:cNvPr id="47" name="직사각형 46"/>
            <p:cNvSpPr/>
            <p:nvPr/>
          </p:nvSpPr>
          <p:spPr>
            <a:xfrm>
              <a:off x="467544" y="2420888"/>
              <a:ext cx="1368152" cy="7920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pPr algn="ctr"/>
              <a:r>
                <a:rPr lang="en-US" altLang="ko-KR" sz="2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CPU 1</a:t>
              </a:r>
              <a:endParaRPr lang="ko-KR" altLang="en-US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 rot="16200000">
              <a:off x="307261" y="3373261"/>
              <a:ext cx="530916" cy="2103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Cache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677892" y="3212974"/>
              <a:ext cx="581740" cy="5309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1259633" y="3215183"/>
              <a:ext cx="576064" cy="5287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cxnSp>
        <p:nvCxnSpPr>
          <p:cNvPr id="51" name="직선 연결선 50"/>
          <p:cNvCxnSpPr/>
          <p:nvPr/>
        </p:nvCxnSpPr>
        <p:spPr>
          <a:xfrm>
            <a:off x="5974789" y="3880093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7843526" y="3888477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6921480" y="4168125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5965421" y="4168125"/>
            <a:ext cx="1882943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866366" y="3952101"/>
            <a:ext cx="1098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Bus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표 55"/>
              <p:cNvGraphicFramePr>
                <a:graphicFrameLocks noGrp="1"/>
              </p:cNvGraphicFramePr>
              <p:nvPr/>
            </p:nvGraphicFramePr>
            <p:xfrm>
              <a:off x="6022422" y="4468625"/>
              <a:ext cx="1800200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표 5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8217863"/>
                  </p:ext>
                </p:extLst>
              </p:nvPr>
            </p:nvGraphicFramePr>
            <p:xfrm>
              <a:off x="6022422" y="4468625"/>
              <a:ext cx="1800200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0050"/>
                    <a:gridCol w="450050"/>
                    <a:gridCol w="450050"/>
                    <a:gridCol w="450050"/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1351" r="-2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57" name="TextBox 56"/>
          <p:cNvSpPr txBox="1"/>
          <p:nvPr/>
        </p:nvSpPr>
        <p:spPr>
          <a:xfrm>
            <a:off x="7827990" y="4477643"/>
            <a:ext cx="1098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084168" y="4832608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547476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04642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452320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5173181" y="2564904"/>
            <a:ext cx="1368153" cy="1323004"/>
            <a:chOff x="467544" y="2420888"/>
            <a:chExt cx="1368153" cy="1323004"/>
          </a:xfrm>
        </p:grpSpPr>
        <p:sp>
          <p:nvSpPr>
            <p:cNvPr id="63" name="직사각형 62"/>
            <p:cNvSpPr/>
            <p:nvPr/>
          </p:nvSpPr>
          <p:spPr>
            <a:xfrm>
              <a:off x="467544" y="2420888"/>
              <a:ext cx="1368152" cy="7920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pPr algn="ctr"/>
              <a:r>
                <a:rPr lang="en-US" altLang="ko-KR" sz="2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CPU 0</a:t>
              </a:r>
              <a:endParaRPr lang="ko-KR" altLang="en-US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 rot="16200000">
              <a:off x="307261" y="3373261"/>
              <a:ext cx="530916" cy="2103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Cache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677892" y="3212974"/>
              <a:ext cx="581740" cy="5309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1259633" y="3215183"/>
              <a:ext cx="576064" cy="5287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7047062" y="2564904"/>
            <a:ext cx="1368153" cy="1323004"/>
            <a:chOff x="467544" y="2420888"/>
            <a:chExt cx="1368153" cy="1323004"/>
          </a:xfrm>
        </p:grpSpPr>
        <p:sp>
          <p:nvSpPr>
            <p:cNvPr id="68" name="직사각형 67"/>
            <p:cNvSpPr/>
            <p:nvPr/>
          </p:nvSpPr>
          <p:spPr>
            <a:xfrm>
              <a:off x="467544" y="2420888"/>
              <a:ext cx="1368152" cy="7920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pPr algn="ctr"/>
              <a:r>
                <a:rPr lang="en-US" altLang="ko-KR" sz="2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CPU 1</a:t>
              </a:r>
              <a:endParaRPr lang="ko-KR" altLang="en-US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 rot="16200000">
              <a:off x="307261" y="3373261"/>
              <a:ext cx="530916" cy="2103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Cache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677892" y="3212974"/>
              <a:ext cx="581740" cy="5309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1259633" y="3215183"/>
              <a:ext cx="576064" cy="5287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364088" y="3437782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𝐷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437782"/>
                <a:ext cx="576064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꺾인 연결선 38"/>
          <p:cNvCxnSpPr>
            <a:stCxn id="56" idx="0"/>
          </p:cNvCxnSpPr>
          <p:nvPr/>
        </p:nvCxnSpPr>
        <p:spPr>
          <a:xfrm rot="16200000" flipV="1">
            <a:off x="6159265" y="3705368"/>
            <a:ext cx="580148" cy="946366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366456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Cache coherence (Cont.)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150253" y="3880093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018990" y="3888477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096944" y="4168125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140885" y="4168125"/>
            <a:ext cx="1882943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41830" y="3952101"/>
            <a:ext cx="1098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Bus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/>
              <p:cNvGraphicFramePr>
                <a:graphicFrameLocks noGrp="1"/>
              </p:cNvGraphicFramePr>
              <p:nvPr/>
            </p:nvGraphicFramePr>
            <p:xfrm>
              <a:off x="1197886" y="4468625"/>
              <a:ext cx="1800200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6304477"/>
                  </p:ext>
                </p:extLst>
              </p:nvPr>
            </p:nvGraphicFramePr>
            <p:xfrm>
              <a:off x="1197886" y="4468625"/>
              <a:ext cx="1800200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0050"/>
                    <a:gridCol w="450050"/>
                    <a:gridCol w="450050"/>
                    <a:gridCol w="450050"/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351" r="-198649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6" name="TextBox 15"/>
          <p:cNvSpPr txBox="1"/>
          <p:nvPr/>
        </p:nvSpPr>
        <p:spPr>
          <a:xfrm>
            <a:off x="3003454" y="4477643"/>
            <a:ext cx="1098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59632" y="4832608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22940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80106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27784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4499992" y="1628800"/>
            <a:ext cx="0" cy="4608512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79512" y="1700808"/>
                <a:ext cx="41764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</a:rPr>
                      <m:t>𝐷</m:t>
                    </m:r>
                  </m:oMath>
                </a14:m>
                <a:r>
                  <a:rPr lang="ko-KR" altLang="en-US" sz="16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 </a:t>
                </a:r>
                <a:r>
                  <a:rPr lang="en-US" altLang="ko-KR" sz="16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is updated and CPU1 is scheduled.</a:t>
                </a:r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700808"/>
                <a:ext cx="4176464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729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4788024" y="1708623"/>
            <a:ext cx="417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3. CPU1 re-reads the value at address A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348645" y="2564904"/>
            <a:ext cx="1368153" cy="1323004"/>
            <a:chOff x="467544" y="2420888"/>
            <a:chExt cx="1368153" cy="1323004"/>
          </a:xfrm>
        </p:grpSpPr>
        <p:sp>
          <p:nvSpPr>
            <p:cNvPr id="6" name="직사각형 5"/>
            <p:cNvSpPr/>
            <p:nvPr/>
          </p:nvSpPr>
          <p:spPr>
            <a:xfrm>
              <a:off x="467544" y="2420888"/>
              <a:ext cx="1368152" cy="7920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pPr algn="ctr"/>
              <a:r>
                <a:rPr lang="en-US" altLang="ko-KR" sz="2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CPU 0</a:t>
              </a:r>
              <a:endParaRPr lang="ko-KR" altLang="en-US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 rot="16200000">
              <a:off x="307261" y="3373261"/>
              <a:ext cx="530916" cy="2103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Cache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677892" y="3212974"/>
              <a:ext cx="581740" cy="5309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259633" y="3215183"/>
              <a:ext cx="576064" cy="5287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2222526" y="2564904"/>
            <a:ext cx="1368153" cy="1323004"/>
            <a:chOff x="467544" y="2420888"/>
            <a:chExt cx="1368153" cy="1323004"/>
          </a:xfrm>
        </p:grpSpPr>
        <p:sp>
          <p:nvSpPr>
            <p:cNvPr id="47" name="직사각형 46"/>
            <p:cNvSpPr/>
            <p:nvPr/>
          </p:nvSpPr>
          <p:spPr>
            <a:xfrm>
              <a:off x="467544" y="2420888"/>
              <a:ext cx="1368152" cy="7920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pPr algn="ctr"/>
              <a:r>
                <a:rPr lang="en-US" altLang="ko-KR" sz="2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CPU 1</a:t>
              </a:r>
              <a:endParaRPr lang="ko-KR" altLang="en-US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 rot="16200000">
              <a:off x="307261" y="3373261"/>
              <a:ext cx="530916" cy="2103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Cache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677892" y="3212974"/>
              <a:ext cx="581740" cy="5309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1259633" y="3215183"/>
              <a:ext cx="576064" cy="5287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cxnSp>
        <p:nvCxnSpPr>
          <p:cNvPr id="51" name="직선 연결선 50"/>
          <p:cNvCxnSpPr/>
          <p:nvPr/>
        </p:nvCxnSpPr>
        <p:spPr>
          <a:xfrm>
            <a:off x="5974789" y="3880093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7843526" y="3888477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6921480" y="4168125"/>
            <a:ext cx="0" cy="2880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5965421" y="4168125"/>
            <a:ext cx="1882943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866366" y="3952101"/>
            <a:ext cx="1098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Bus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표 55"/>
              <p:cNvGraphicFramePr>
                <a:graphicFrameLocks noGrp="1"/>
              </p:cNvGraphicFramePr>
              <p:nvPr/>
            </p:nvGraphicFramePr>
            <p:xfrm>
              <a:off x="6022422" y="4468625"/>
              <a:ext cx="1800200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표 5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7587100"/>
                  </p:ext>
                </p:extLst>
              </p:nvPr>
            </p:nvGraphicFramePr>
            <p:xfrm>
              <a:off x="6022422" y="4468625"/>
              <a:ext cx="1800200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0050"/>
                    <a:gridCol w="450050"/>
                    <a:gridCol w="450050"/>
                    <a:gridCol w="450050"/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1351" r="-2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57" name="TextBox 56"/>
          <p:cNvSpPr txBox="1"/>
          <p:nvPr/>
        </p:nvSpPr>
        <p:spPr>
          <a:xfrm>
            <a:off x="7827990" y="4477643"/>
            <a:ext cx="1098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084168" y="4832608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547476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04642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452320" y="4835045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5173181" y="2564904"/>
            <a:ext cx="1368153" cy="1323004"/>
            <a:chOff x="467544" y="2420888"/>
            <a:chExt cx="1368153" cy="1323004"/>
          </a:xfrm>
        </p:grpSpPr>
        <p:sp>
          <p:nvSpPr>
            <p:cNvPr id="63" name="직사각형 62"/>
            <p:cNvSpPr/>
            <p:nvPr/>
          </p:nvSpPr>
          <p:spPr>
            <a:xfrm>
              <a:off x="467544" y="2420888"/>
              <a:ext cx="1368152" cy="7920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pPr algn="ctr"/>
              <a:r>
                <a:rPr lang="en-US" altLang="ko-KR" sz="2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CPU 0</a:t>
              </a:r>
              <a:endParaRPr lang="ko-KR" altLang="en-US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 rot="16200000">
              <a:off x="307261" y="3373261"/>
              <a:ext cx="530916" cy="2103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Cache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677892" y="3212974"/>
              <a:ext cx="581740" cy="5309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1259633" y="3215183"/>
              <a:ext cx="576064" cy="5287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7047062" y="2564904"/>
            <a:ext cx="1368153" cy="1323004"/>
            <a:chOff x="467544" y="2420888"/>
            <a:chExt cx="1368153" cy="1323004"/>
          </a:xfrm>
        </p:grpSpPr>
        <p:sp>
          <p:nvSpPr>
            <p:cNvPr id="68" name="직사각형 67"/>
            <p:cNvSpPr/>
            <p:nvPr/>
          </p:nvSpPr>
          <p:spPr>
            <a:xfrm>
              <a:off x="467544" y="2420888"/>
              <a:ext cx="1368152" cy="7920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pPr algn="ctr"/>
              <a:r>
                <a:rPr lang="en-US" altLang="ko-KR" sz="2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CPU 1</a:t>
              </a:r>
              <a:endParaRPr lang="ko-KR" altLang="en-US" sz="2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 rot="16200000">
              <a:off x="307261" y="3373261"/>
              <a:ext cx="530916" cy="2103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Cache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677892" y="3212974"/>
              <a:ext cx="581740" cy="5309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1259633" y="3215183"/>
              <a:ext cx="576064" cy="5287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t"/>
            <a:lstStyle/>
            <a:p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364088" y="3437782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altLang="ko-KR" i="1" smtClean="0">
                          <a:solidFill>
                            <a:prstClr val="black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437782"/>
                <a:ext cx="576064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꺾인 연결선 38"/>
          <p:cNvCxnSpPr>
            <a:stCxn id="56" idx="0"/>
          </p:cNvCxnSpPr>
          <p:nvPr/>
        </p:nvCxnSpPr>
        <p:spPr>
          <a:xfrm rot="5400000" flipH="1" flipV="1">
            <a:off x="7088873" y="3713742"/>
            <a:ext cx="588532" cy="92123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561831" y="3437782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31" y="3437782"/>
                <a:ext cx="576064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7236296" y="3429000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𝐷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3429000"/>
                <a:ext cx="576064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모서리가 둥근 직사각형 74"/>
              <p:cNvSpPr/>
              <p:nvPr/>
            </p:nvSpPr>
            <p:spPr>
              <a:xfrm>
                <a:off x="4932040" y="5357472"/>
                <a:ext cx="3994072" cy="936104"/>
              </a:xfrm>
              <a:prstGeom prst="roundRect">
                <a:avLst>
                  <a:gd name="adj" fmla="val 14582"/>
                </a:avLst>
              </a:prstGeom>
              <a:solidFill>
                <a:srgbClr val="FFC000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:r>
                  <a:rPr lang="en-US" altLang="ko-KR" sz="1600" b="1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CPU1 gets the 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old value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  <a:ea typeface="맑은 고딕" panose="020B0503020000020004" pitchFamily="50" charset="-127"/>
                      </a:rPr>
                      <m:t>𝑫</m:t>
                    </m:r>
                  </m:oMath>
                </a14:m>
                <a:r>
                  <a:rPr lang="en-US" altLang="ko-KR" sz="16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 algn="ctr"/>
                <a:r>
                  <a:rPr lang="en-US" altLang="ko-KR" sz="1600" b="1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instead of the correct value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prstClr val="black"/>
                        </a:solidFill>
                        <a:latin typeface="Cambria Math"/>
                        <a:ea typeface="맑은 고딕" panose="020B0503020000020004" pitchFamily="50" charset="-127"/>
                      </a:rPr>
                      <m:t>𝑫</m:t>
                    </m:r>
                    <m:r>
                      <a:rPr lang="en-US" altLang="ko-KR" sz="1600" b="1" i="1" smtClean="0">
                        <a:solidFill>
                          <a:prstClr val="black"/>
                        </a:solidFill>
                        <a:latin typeface="Cambria Math"/>
                        <a:ea typeface="맑은 고딕" panose="020B0503020000020004" pitchFamily="50" charset="-127"/>
                      </a:rPr>
                      <m:t>′</m:t>
                    </m:r>
                  </m:oMath>
                </a14:m>
                <a:r>
                  <a:rPr lang="en-US" altLang="ko-KR" sz="1600" b="1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75" name="모서리가 둥근 직사각형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5357472"/>
                <a:ext cx="3994072" cy="936104"/>
              </a:xfrm>
              <a:prstGeom prst="roundRect">
                <a:avLst>
                  <a:gd name="adj" fmla="val 14582"/>
                </a:avLst>
              </a:prstGeom>
              <a:blipFill rotWithShape="1">
                <a:blip r:embed="rId8"/>
                <a:stretch>
                  <a:fillRect/>
                </a:stretch>
              </a:blipFill>
              <a:ln w="15875">
                <a:solidFill>
                  <a:schemeClr val="accent6">
                    <a:lumMod val="50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203599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Cache coherence 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Bus snooping</a:t>
            </a:r>
          </a:p>
          <a:p>
            <a:pPr lvl="1"/>
            <a:r>
              <a:rPr lang="en-US" altLang="ko-KR" dirty="0"/>
              <a:t>Each cache pays attention to memory updates by </a:t>
            </a:r>
            <a:r>
              <a:rPr lang="en-US" altLang="ko-KR" b="1" dirty="0"/>
              <a:t>observing the bus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When a CPU sees an update for a data item it holds in its cache, it will notice the change and either </a:t>
            </a:r>
            <a:r>
              <a:rPr lang="en-US" altLang="ko-KR" u="sng" dirty="0"/>
              <a:t>invalidate</a:t>
            </a:r>
            <a:r>
              <a:rPr lang="en-US" altLang="ko-KR" dirty="0"/>
              <a:t> its copy or </a:t>
            </a:r>
            <a:r>
              <a:rPr lang="en-US" altLang="ko-KR" u="sng" dirty="0"/>
              <a:t>update</a:t>
            </a:r>
            <a:r>
              <a:rPr lang="en-US" altLang="ko-KR" dirty="0"/>
              <a:t> it.</a:t>
            </a:r>
          </a:p>
        </p:txBody>
      </p:sp>
    </p:spTree>
    <p:extLst>
      <p:ext uri="{BB962C8B-B14F-4D97-AF65-F5344CB8AC3E}">
        <p14:creationId xmlns:p14="http://schemas.microsoft.com/office/powerpoint/2010/main" val="1391689282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Don’t forget synchronization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accessing shared data across CPUs,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mutual exclusion</a:t>
            </a:r>
            <a:r>
              <a:rPr lang="en-US" altLang="ko-KR" dirty="0"/>
              <a:t> primitives should be used to </a:t>
            </a:r>
            <a:r>
              <a:rPr lang="en-US" altLang="ko-KR" u="sng" dirty="0"/>
              <a:t>guarantee correctness</a:t>
            </a:r>
            <a:r>
              <a:rPr lang="en-US" altLang="ko-KR" dirty="0"/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1560" y="2132856"/>
            <a:ext cx="7992888" cy="23083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typedef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__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Node_t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	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	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__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Node_t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*next;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}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Node_t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List_Pop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Node_t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head;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remember old head ...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 = head-&gt;value;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... and its value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	head = head-&gt;next;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advance head to next pointer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	free(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free old head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	</a:t>
            </a:r>
            <a:r>
              <a:rPr lang="en-US" altLang="ko-KR" sz="12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value;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return value at head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1790" y="4441180"/>
            <a:ext cx="3690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Simple List Delete Code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7330161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Don’t forget synchronization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Solution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1560" y="1484784"/>
            <a:ext cx="7992888" cy="286232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pthread_mtuex_t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typedef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__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Node_t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	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	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__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Node_t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*next;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}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Node_t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List_Pop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		</a:t>
            </a:r>
            <a:r>
              <a:rPr lang="en-US" altLang="ko-KR" sz="12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lock(&amp;m)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Node_t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head;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remember old head ...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 = head-&gt;value;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... and its value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	head = head-&gt;next;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advance head to next pointer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	free(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free old head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		</a:t>
            </a:r>
            <a:r>
              <a:rPr lang="en-US" altLang="ko-KR" sz="12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unlock(&amp;m)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	</a:t>
            </a:r>
            <a:r>
              <a:rPr lang="en-US" altLang="ko-KR" sz="12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value;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return value at head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1790" y="4338394"/>
            <a:ext cx="3690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Simple List Delete Code with lock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1946962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Cache Affinity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Keep a process on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the same CPU </a:t>
            </a:r>
            <a:r>
              <a:rPr lang="en-US" altLang="ko-KR" dirty="0"/>
              <a:t>if at all possible</a:t>
            </a:r>
          </a:p>
          <a:p>
            <a:pPr lvl="1"/>
            <a:r>
              <a:rPr lang="en-US" altLang="ko-KR" dirty="0"/>
              <a:t>A process builds up a fair bit of state </a:t>
            </a:r>
            <a:r>
              <a:rPr lang="en-US" altLang="ko-KR" u="sng" dirty="0"/>
              <a:t>in the cache</a:t>
            </a:r>
            <a:r>
              <a:rPr lang="en-US" altLang="ko-KR" dirty="0"/>
              <a:t> of a CPU.</a:t>
            </a:r>
          </a:p>
          <a:p>
            <a:pPr lvl="1"/>
            <a:r>
              <a:rPr lang="en-US" altLang="ko-KR" dirty="0"/>
              <a:t>The next time the process run, it will run faster if some of its state is </a:t>
            </a:r>
            <a:r>
              <a:rPr lang="en-US" altLang="ko-KR" i="1" dirty="0"/>
              <a:t>already present </a:t>
            </a:r>
            <a:r>
              <a:rPr lang="en-US" altLang="ko-KR" dirty="0"/>
              <a:t>in the cache on that CPU.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043608" y="3212976"/>
            <a:ext cx="6984776" cy="936104"/>
          </a:xfrm>
          <a:prstGeom prst="roundRect">
            <a:avLst>
              <a:gd name="adj" fmla="val 14582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multiprocessor scheduler should consider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cache affinity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when making its scheduling decision.</a:t>
            </a:r>
          </a:p>
        </p:txBody>
      </p:sp>
    </p:spTree>
    <p:extLst>
      <p:ext uri="{BB962C8B-B14F-4D97-AF65-F5344CB8AC3E}">
        <p14:creationId xmlns:p14="http://schemas.microsoft.com/office/powerpoint/2010/main" val="2501608189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Single-Queue Multiprocessor Scheduling (SQMS)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Put all jobs that need to be scheduled into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 single queue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Each CPU simply picks the next job from the globally shared queue.</a:t>
            </a:r>
          </a:p>
          <a:p>
            <a:pPr lvl="1"/>
            <a:r>
              <a:rPr lang="en-US" altLang="ko-KR" dirty="0"/>
              <a:t>Cons:</a:t>
            </a:r>
          </a:p>
          <a:p>
            <a:pPr lvl="2"/>
            <a:r>
              <a:rPr lang="en-US" altLang="ko-KR" dirty="0"/>
              <a:t>Some form of </a:t>
            </a:r>
            <a:r>
              <a:rPr lang="en-US" altLang="ko-KR" b="1" dirty="0"/>
              <a:t>locking</a:t>
            </a:r>
            <a:r>
              <a:rPr lang="en-US" altLang="ko-KR" dirty="0"/>
              <a:t> have to be inserted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dirty="0">
                <a:solidFill>
                  <a:srgbClr val="FF0000"/>
                </a:solidFill>
              </a:rPr>
              <a:t>Lack of scalability</a:t>
            </a:r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Cache affinity</a:t>
            </a:r>
          </a:p>
          <a:p>
            <a:pPr lvl="2"/>
            <a:r>
              <a:rPr lang="en-US" altLang="ko-KR" dirty="0"/>
              <a:t>Example:</a:t>
            </a:r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Possible job scheduler across CPUs: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grpSp>
        <p:nvGrpSpPr>
          <p:cNvPr id="23" name="그룹 22"/>
          <p:cNvGrpSpPr/>
          <p:nvPr/>
        </p:nvGrpSpPr>
        <p:grpSpPr>
          <a:xfrm>
            <a:off x="1835696" y="3629394"/>
            <a:ext cx="5725374" cy="375670"/>
            <a:chOff x="1331640" y="3701402"/>
            <a:chExt cx="5725374" cy="375670"/>
          </a:xfrm>
        </p:grpSpPr>
        <p:sp>
          <p:nvSpPr>
            <p:cNvPr id="7" name="TextBox 6"/>
            <p:cNvSpPr txBox="1"/>
            <p:nvPr/>
          </p:nvSpPr>
          <p:spPr>
            <a:xfrm>
              <a:off x="1331640" y="3717032"/>
              <a:ext cx="8018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Queue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>
              <a:off x="2056735" y="3897148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타원 8"/>
            <p:cNvSpPr/>
            <p:nvPr/>
          </p:nvSpPr>
          <p:spPr>
            <a:xfrm>
              <a:off x="2632799" y="3701787"/>
              <a:ext cx="359944" cy="3599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>
              <a:off x="3003454" y="3892502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6375417" y="3712482"/>
              <a:ext cx="6815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NULL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" name="직선 화살표 연결선 14"/>
            <p:cNvCxnSpPr/>
            <p:nvPr/>
          </p:nvCxnSpPr>
          <p:spPr>
            <a:xfrm>
              <a:off x="5868144" y="3897148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/>
            <p:cNvSpPr/>
            <p:nvPr/>
          </p:nvSpPr>
          <p:spPr>
            <a:xfrm>
              <a:off x="3347864" y="3701498"/>
              <a:ext cx="359944" cy="35994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7" name="직선 화살표 연결선 16"/>
            <p:cNvCxnSpPr/>
            <p:nvPr/>
          </p:nvCxnSpPr>
          <p:spPr>
            <a:xfrm>
              <a:off x="3718519" y="3892213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타원 17"/>
            <p:cNvSpPr/>
            <p:nvPr/>
          </p:nvSpPr>
          <p:spPr>
            <a:xfrm>
              <a:off x="4067944" y="3701402"/>
              <a:ext cx="359944" cy="359944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9" name="직선 화살표 연결선 18"/>
            <p:cNvCxnSpPr/>
            <p:nvPr/>
          </p:nvCxnSpPr>
          <p:spPr>
            <a:xfrm>
              <a:off x="4438599" y="3892117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타원 19"/>
            <p:cNvSpPr/>
            <p:nvPr/>
          </p:nvSpPr>
          <p:spPr>
            <a:xfrm>
              <a:off x="4788024" y="3701498"/>
              <a:ext cx="359944" cy="35994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D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21" name="직선 화살표 연결선 20"/>
            <p:cNvCxnSpPr/>
            <p:nvPr/>
          </p:nvCxnSpPr>
          <p:spPr>
            <a:xfrm>
              <a:off x="5158679" y="3892213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타원 21"/>
            <p:cNvSpPr/>
            <p:nvPr/>
          </p:nvSpPr>
          <p:spPr>
            <a:xfrm>
              <a:off x="5508104" y="3717128"/>
              <a:ext cx="359944" cy="359944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E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340758" y="4512599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/>
        </p:nvGraphicFramePr>
        <p:xfrm>
          <a:off x="3101119" y="4501305"/>
          <a:ext cx="2054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E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340758" y="4944647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/>
        </p:nvGraphicFramePr>
        <p:xfrm>
          <a:off x="3101119" y="4933353"/>
          <a:ext cx="2054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E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2339752" y="5376695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/>
        </p:nvGraphicFramePr>
        <p:xfrm>
          <a:off x="3100113" y="5365401"/>
          <a:ext cx="2054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E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340758" y="5805758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CPU3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/>
        </p:nvGraphicFramePr>
        <p:xfrm>
          <a:off x="3101119" y="5794464"/>
          <a:ext cx="2054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E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227887" y="4509120"/>
            <a:ext cx="184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 (repeat) 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42725" y="4941168"/>
            <a:ext cx="184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 (repeat) 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58355" y="5373216"/>
            <a:ext cx="184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 (repeat) 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58355" y="5826750"/>
            <a:ext cx="184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 (repeat) 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1878867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Scheduling Example with Cache affinity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u="sng" dirty="0"/>
              <a:t>Preserving affinity</a:t>
            </a:r>
            <a:r>
              <a:rPr lang="en-US" altLang="ko-KR" dirty="0"/>
              <a:t> for most</a:t>
            </a:r>
            <a:endParaRPr lang="ko-KR" altLang="en-US" dirty="0"/>
          </a:p>
          <a:p>
            <a:pPr lvl="2"/>
            <a:r>
              <a:rPr lang="en-US" altLang="ko-KR" dirty="0"/>
              <a:t>Jobs A through D are not moved across processors.</a:t>
            </a:r>
          </a:p>
          <a:p>
            <a:pPr lvl="2"/>
            <a:r>
              <a:rPr lang="en-US" altLang="ko-KR" dirty="0"/>
              <a:t>Only job e Migrating from CPU to CPU.</a:t>
            </a:r>
          </a:p>
          <a:p>
            <a:pPr lvl="1"/>
            <a:r>
              <a:rPr lang="en-US" altLang="ko-KR" dirty="0"/>
              <a:t>Implementing such a scheme can be </a:t>
            </a:r>
            <a:r>
              <a:rPr lang="en-US" altLang="ko-KR" b="1" dirty="0"/>
              <a:t>complex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1835696" y="1253130"/>
            <a:ext cx="5725374" cy="375670"/>
            <a:chOff x="1331640" y="3701402"/>
            <a:chExt cx="5725374" cy="375670"/>
          </a:xfrm>
        </p:grpSpPr>
        <p:sp>
          <p:nvSpPr>
            <p:cNvPr id="7" name="TextBox 6"/>
            <p:cNvSpPr txBox="1"/>
            <p:nvPr/>
          </p:nvSpPr>
          <p:spPr>
            <a:xfrm>
              <a:off x="1331640" y="3717032"/>
              <a:ext cx="8018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Queue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>
              <a:off x="2056735" y="3897148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타원 8"/>
            <p:cNvSpPr/>
            <p:nvPr/>
          </p:nvSpPr>
          <p:spPr>
            <a:xfrm>
              <a:off x="2632799" y="3701787"/>
              <a:ext cx="359944" cy="3599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>
              <a:off x="3003454" y="3892502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6375417" y="3712482"/>
              <a:ext cx="6815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NULL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" name="직선 화살표 연결선 11"/>
            <p:cNvCxnSpPr/>
            <p:nvPr/>
          </p:nvCxnSpPr>
          <p:spPr>
            <a:xfrm>
              <a:off x="5868144" y="3897148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/>
            <p:cNvSpPr/>
            <p:nvPr/>
          </p:nvSpPr>
          <p:spPr>
            <a:xfrm>
              <a:off x="3347864" y="3701498"/>
              <a:ext cx="359944" cy="35994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4" name="직선 화살표 연결선 13"/>
            <p:cNvCxnSpPr/>
            <p:nvPr/>
          </p:nvCxnSpPr>
          <p:spPr>
            <a:xfrm>
              <a:off x="3718519" y="3892213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타원 14"/>
            <p:cNvSpPr/>
            <p:nvPr/>
          </p:nvSpPr>
          <p:spPr>
            <a:xfrm>
              <a:off x="4067944" y="3701402"/>
              <a:ext cx="359944" cy="359944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>
              <a:off x="4438599" y="3892117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타원 16"/>
            <p:cNvSpPr/>
            <p:nvPr/>
          </p:nvSpPr>
          <p:spPr>
            <a:xfrm>
              <a:off x="4788024" y="3701498"/>
              <a:ext cx="359944" cy="35994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D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8" name="직선 화살표 연결선 17"/>
            <p:cNvCxnSpPr/>
            <p:nvPr/>
          </p:nvCxnSpPr>
          <p:spPr>
            <a:xfrm>
              <a:off x="5158679" y="3892213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타원 18"/>
            <p:cNvSpPr/>
            <p:nvPr/>
          </p:nvSpPr>
          <p:spPr>
            <a:xfrm>
              <a:off x="5508104" y="3717128"/>
              <a:ext cx="359944" cy="359944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E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548967" y="2000134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3309328" y="1988840"/>
          <a:ext cx="2054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E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548967" y="2432182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3309328" y="2420888"/>
          <a:ext cx="2054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E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547961" y="2864230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/>
        </p:nvGraphicFramePr>
        <p:xfrm>
          <a:off x="3308322" y="2852936"/>
          <a:ext cx="2054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E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548967" y="3293293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CPU3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/>
        </p:nvGraphicFramePr>
        <p:xfrm>
          <a:off x="3309328" y="3281999"/>
          <a:ext cx="2054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E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36096" y="1996655"/>
            <a:ext cx="184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 (repeat) 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50934" y="2428703"/>
            <a:ext cx="184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 (repeat) 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66564" y="2860751"/>
            <a:ext cx="184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 (repeat) 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66564" y="3314285"/>
            <a:ext cx="184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 (repeat) 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6557331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Multi-Queue Multiprocessor Scheduling (MQMS)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MQMS consists of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multiple scheduling queues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Each queue will follow a particular scheduling discipline.</a:t>
            </a:r>
          </a:p>
          <a:p>
            <a:pPr lvl="1"/>
            <a:r>
              <a:rPr lang="en-US" altLang="ko-KR" dirty="0"/>
              <a:t>When a job enters the system, it is placed on </a:t>
            </a:r>
            <a:r>
              <a:rPr lang="en-US" altLang="ko-KR" b="1" dirty="0"/>
              <a:t>exactly one </a:t>
            </a:r>
            <a:r>
              <a:rPr lang="en-US" altLang="ko-KR" dirty="0"/>
              <a:t>scheduling queue.</a:t>
            </a:r>
          </a:p>
          <a:p>
            <a:pPr lvl="1"/>
            <a:r>
              <a:rPr lang="en-US" altLang="ko-KR" dirty="0"/>
              <a:t>Avoid the problems of </a:t>
            </a:r>
            <a:r>
              <a:rPr lang="en-US" altLang="ko-KR" u="sng" dirty="0"/>
              <a:t>information sharing</a:t>
            </a:r>
            <a:r>
              <a:rPr lang="en-US" altLang="ko-KR" dirty="0"/>
              <a:t> and </a:t>
            </a:r>
            <a:r>
              <a:rPr lang="en-US" altLang="ko-KR" u="sng" dirty="0"/>
              <a:t>synchronization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8969728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MQMS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With </a:t>
            </a:r>
            <a:r>
              <a:rPr lang="en-US" altLang="ko-KR" b="1" dirty="0"/>
              <a:t>round robin</a:t>
            </a:r>
            <a:r>
              <a:rPr lang="en-US" altLang="ko-KR" dirty="0"/>
              <a:t>, the system might produce a schedule that looks like this: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79712" y="2341065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2416871" y="2521181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2992935" y="2325820"/>
            <a:ext cx="359944" cy="35994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5412715" y="2516246"/>
            <a:ext cx="576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5975418" y="2325435"/>
            <a:ext cx="359944" cy="35994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6346073" y="2516150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6695498" y="2325531"/>
            <a:ext cx="359944" cy="359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5616" y="3152262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5616" y="3701402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78920" y="2341065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4" name="표 33"/>
          <p:cNvGraphicFramePr>
            <a:graphicFrameLocks noGrp="1"/>
          </p:cNvGraphicFramePr>
          <p:nvPr/>
        </p:nvGraphicFramePr>
        <p:xfrm>
          <a:off x="1907708" y="3140968"/>
          <a:ext cx="53285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표 34"/>
          <p:cNvGraphicFramePr>
            <a:graphicFrameLocks noGrp="1"/>
          </p:cNvGraphicFramePr>
          <p:nvPr/>
        </p:nvGraphicFramePr>
        <p:xfrm>
          <a:off x="1907704" y="3706232"/>
          <a:ext cx="53285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모서리가 둥근 직사각형 35"/>
          <p:cNvSpPr/>
          <p:nvPr/>
        </p:nvSpPr>
        <p:spPr>
          <a:xfrm>
            <a:off x="1242151" y="5085184"/>
            <a:ext cx="6582780" cy="720080"/>
          </a:xfrm>
          <a:prstGeom prst="roundRect">
            <a:avLst>
              <a:gd name="adj" fmla="val 14582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MQMS provides more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scalability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and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cache affinity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6296" y="3090446"/>
            <a:ext cx="36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36296" y="3666510"/>
            <a:ext cx="36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3355679" y="2516150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39"/>
          <p:cNvSpPr/>
          <p:nvPr/>
        </p:nvSpPr>
        <p:spPr>
          <a:xfrm>
            <a:off x="3705104" y="2325531"/>
            <a:ext cx="359944" cy="35994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56873"/>
      </p:ext>
    </p:extLst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Load Imbalance issue of MQMS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After job C in Q0 finishes: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After job A in Q0 finishes: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79712" y="1500414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416871" y="1680530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2992935" y="1485169"/>
            <a:ext cx="359944" cy="35994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5412715" y="1675595"/>
            <a:ext cx="576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5975418" y="1484784"/>
            <a:ext cx="359944" cy="35994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6346073" y="1675499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/>
          <p:cNvSpPr/>
          <p:nvPr/>
        </p:nvSpPr>
        <p:spPr>
          <a:xfrm>
            <a:off x="6695498" y="1484880"/>
            <a:ext cx="359944" cy="359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616" y="2050656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15616" y="2477266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78920" y="1500414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1907708" y="2039362"/>
          <a:ext cx="53285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1907704" y="2482096"/>
          <a:ext cx="53285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236296" y="1988840"/>
            <a:ext cx="36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36296" y="2442374"/>
            <a:ext cx="36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67744" y="2874422"/>
            <a:ext cx="417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</a:t>
            </a:r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gets twice as much CPU as 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</a:t>
            </a:r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and 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</a:t>
            </a:r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79712" y="4164710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2416871" y="4344826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5412715" y="4339891"/>
            <a:ext cx="576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타원 40"/>
          <p:cNvSpPr/>
          <p:nvPr/>
        </p:nvSpPr>
        <p:spPr>
          <a:xfrm>
            <a:off x="5975418" y="4149080"/>
            <a:ext cx="359944" cy="35994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42" name="직선 화살표 연결선 41"/>
          <p:cNvCxnSpPr/>
          <p:nvPr/>
        </p:nvCxnSpPr>
        <p:spPr>
          <a:xfrm>
            <a:off x="6346073" y="4339795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/>
          <p:cNvSpPr/>
          <p:nvPr/>
        </p:nvSpPr>
        <p:spPr>
          <a:xfrm>
            <a:off x="6695498" y="4149176"/>
            <a:ext cx="359944" cy="359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15616" y="4714952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5616" y="5141562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78920" y="4164710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1907704" y="5146392"/>
          <a:ext cx="53285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7236296" y="4653136"/>
            <a:ext cx="36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236296" y="5106670"/>
            <a:ext cx="36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267744" y="5538718"/>
            <a:ext cx="417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CPU0 will be left idle!</a:t>
            </a:r>
          </a:p>
        </p:txBody>
      </p:sp>
    </p:spTree>
    <p:extLst>
      <p:ext uri="{BB962C8B-B14F-4D97-AF65-F5344CB8AC3E}">
        <p14:creationId xmlns:p14="http://schemas.microsoft.com/office/powerpoint/2010/main" val="409244416"/>
      </p:ext>
    </p:extLst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deal with load imbalance?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answer is to move jobs (</a:t>
            </a:r>
            <a:r>
              <a:rPr lang="en-US" altLang="ko-KR" b="1" dirty="0"/>
              <a:t>Migration</a:t>
            </a:r>
            <a:r>
              <a:rPr lang="en-US" altLang="ko-KR" dirty="0"/>
              <a:t>).</a:t>
            </a:r>
          </a:p>
          <a:p>
            <a:pPr lvl="1"/>
            <a:r>
              <a:rPr lang="en-US" altLang="ko-KR" dirty="0"/>
              <a:t>Example: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63688" y="2220494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200847" y="2400610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5005795" y="2395675"/>
            <a:ext cx="576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5568498" y="2204864"/>
            <a:ext cx="359944" cy="35994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5939153" y="2395579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6288578" y="2204960"/>
            <a:ext cx="359944" cy="359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2220494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75398" y="3660654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2212557" y="3840770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5017505" y="3835835"/>
            <a:ext cx="576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/>
          <p:cNvSpPr/>
          <p:nvPr/>
        </p:nvSpPr>
        <p:spPr>
          <a:xfrm>
            <a:off x="5580208" y="3645024"/>
            <a:ext cx="359944" cy="35994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2771800" y="3645120"/>
            <a:ext cx="359944" cy="359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83710" y="3660654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63688" y="4812782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2200847" y="4992898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5005795" y="4987963"/>
            <a:ext cx="576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/>
          <p:cNvSpPr/>
          <p:nvPr/>
        </p:nvSpPr>
        <p:spPr>
          <a:xfrm>
            <a:off x="2800817" y="4802087"/>
            <a:ext cx="359944" cy="35994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574260" y="4812926"/>
            <a:ext cx="359944" cy="359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0" y="4812782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1475656" y="2060848"/>
            <a:ext cx="5472608" cy="648072"/>
          </a:xfrm>
          <a:prstGeom prst="round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475656" y="3501008"/>
            <a:ext cx="5472608" cy="648072"/>
          </a:xfrm>
          <a:prstGeom prst="round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1475656" y="4653136"/>
            <a:ext cx="5472608" cy="648072"/>
          </a:xfrm>
          <a:prstGeom prst="round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35896" y="422108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Or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아래쪽 화살표 29"/>
          <p:cNvSpPr/>
          <p:nvPr/>
        </p:nvSpPr>
        <p:spPr>
          <a:xfrm>
            <a:off x="3941978" y="2852936"/>
            <a:ext cx="269982" cy="504056"/>
          </a:xfrm>
          <a:prstGeom prst="down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30010" y="2884299"/>
            <a:ext cx="4662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The OS moves one of </a:t>
            </a:r>
            <a:r>
              <a:rPr lang="en-US" altLang="ko-KR" sz="1600" b="1" dirty="0">
                <a:solidFill>
                  <a:srgbClr val="1F497D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</a:t>
            </a:r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 or </a:t>
            </a:r>
            <a:r>
              <a:rPr lang="en-US" altLang="ko-KR" sz="1600" b="1" dirty="0">
                <a:solidFill>
                  <a:srgbClr val="1F497D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</a:t>
            </a:r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 to CPU 0</a:t>
            </a:r>
            <a:endParaRPr lang="ko-KR" altLang="en-US" sz="1600" b="1" dirty="0">
              <a:solidFill>
                <a:srgbClr val="1F497D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4020763"/>
      </p:ext>
    </p:extLst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deal with load imbalance?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more tricky case: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 possible migration pattern:</a:t>
            </a:r>
          </a:p>
          <a:p>
            <a:pPr lvl="1"/>
            <a:r>
              <a:rPr lang="en-US" altLang="ko-KR" dirty="0"/>
              <a:t>Keep switching jobs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63688" y="1788446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200847" y="1968562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5005795" y="1963627"/>
            <a:ext cx="576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5568498" y="1772816"/>
            <a:ext cx="359944" cy="35994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5939153" y="1963531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6288578" y="1772912"/>
            <a:ext cx="359944" cy="3599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1788446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475656" y="1628800"/>
            <a:ext cx="5472608" cy="648072"/>
          </a:xfrm>
          <a:prstGeom prst="round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2779615" y="1796261"/>
            <a:ext cx="359944" cy="35994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616" y="3706840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15616" y="4205458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1907708" y="3695546"/>
          <a:ext cx="53285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1907704" y="4210288"/>
          <a:ext cx="53285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0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D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236296" y="3645024"/>
            <a:ext cx="36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36296" y="4170566"/>
            <a:ext cx="36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" name="직선 화살표 연결선 21"/>
          <p:cNvCxnSpPr/>
          <p:nvPr/>
        </p:nvCxnSpPr>
        <p:spPr>
          <a:xfrm flipV="1">
            <a:off x="3242923" y="4614061"/>
            <a:ext cx="0" cy="28803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95736" y="4941168"/>
            <a:ext cx="2083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Migrate 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to CPU0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V="1">
            <a:off x="5454602" y="4609946"/>
            <a:ext cx="0" cy="28803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07415" y="4937053"/>
            <a:ext cx="2083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Migrate 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to CPU1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1610932"/>
      </p:ext>
    </p:extLst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 Stealing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Move jobs between queues</a:t>
            </a:r>
          </a:p>
          <a:p>
            <a:pPr lvl="1"/>
            <a:r>
              <a:rPr lang="en-US" altLang="ko-KR" dirty="0"/>
              <a:t>Implementation:</a:t>
            </a:r>
          </a:p>
          <a:p>
            <a:pPr lvl="2"/>
            <a:r>
              <a:rPr lang="en-US" altLang="ko-KR" dirty="0"/>
              <a:t>A source queue that is </a:t>
            </a:r>
            <a:r>
              <a:rPr lang="en-US" altLang="ko-KR" u="sng" dirty="0"/>
              <a:t>low on jobs</a:t>
            </a:r>
            <a:r>
              <a:rPr lang="en-US" altLang="ko-KR" dirty="0"/>
              <a:t> is picked.</a:t>
            </a:r>
          </a:p>
          <a:p>
            <a:pPr lvl="2"/>
            <a:r>
              <a:rPr lang="en-US" altLang="ko-KR" dirty="0"/>
              <a:t>The source queue occasionally peeks at another target queue.</a:t>
            </a:r>
          </a:p>
          <a:p>
            <a:pPr lvl="2"/>
            <a:r>
              <a:rPr lang="en-US" altLang="ko-KR" dirty="0"/>
              <a:t>If the target queue is </a:t>
            </a:r>
            <a:r>
              <a:rPr lang="en-US" altLang="ko-KR" u="sng" dirty="0"/>
              <a:t>more full than</a:t>
            </a:r>
            <a:r>
              <a:rPr lang="en-US" altLang="ko-KR" dirty="0"/>
              <a:t> the source queue, the source will “</a:t>
            </a:r>
            <a:r>
              <a:rPr lang="en-US" altLang="ko-KR" b="1" dirty="0"/>
              <a:t>steal</a:t>
            </a:r>
            <a:r>
              <a:rPr lang="en-US" altLang="ko-KR" dirty="0"/>
              <a:t>” one or more jobs from the target queue.</a:t>
            </a:r>
          </a:p>
          <a:p>
            <a:pPr lvl="1"/>
            <a:r>
              <a:rPr lang="en-US" altLang="ko-KR" dirty="0"/>
              <a:t>Cons:</a:t>
            </a:r>
          </a:p>
          <a:p>
            <a:pPr lvl="2"/>
            <a:r>
              <a:rPr lang="en-US" altLang="ko-KR" i="1" dirty="0"/>
              <a:t>High overhead</a:t>
            </a:r>
            <a:r>
              <a:rPr lang="en-US" altLang="ko-KR" dirty="0"/>
              <a:t> and trouble </a:t>
            </a:r>
            <a:r>
              <a:rPr lang="en-US" altLang="ko-KR" i="1" dirty="0"/>
              <a:t>scaling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3154879"/>
      </p:ext>
    </p:extLst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Linux Multiprocessor Schedulers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O(1)</a:t>
            </a:r>
          </a:p>
          <a:p>
            <a:pPr lvl="1"/>
            <a:r>
              <a:rPr lang="en-US" altLang="ko-KR" dirty="0"/>
              <a:t>A Priority-based scheduler</a:t>
            </a:r>
          </a:p>
          <a:p>
            <a:pPr lvl="1"/>
            <a:r>
              <a:rPr lang="en-US" altLang="ko-KR" dirty="0"/>
              <a:t>Use Multiple queues</a:t>
            </a:r>
          </a:p>
          <a:p>
            <a:pPr lvl="1"/>
            <a:r>
              <a:rPr lang="en-US" altLang="ko-KR" dirty="0"/>
              <a:t>Change a process’s priority over time</a:t>
            </a:r>
          </a:p>
          <a:p>
            <a:pPr lvl="1"/>
            <a:r>
              <a:rPr lang="en-US" altLang="ko-KR" dirty="0"/>
              <a:t>Schedule those with highest priority</a:t>
            </a:r>
          </a:p>
          <a:p>
            <a:pPr lvl="1"/>
            <a:r>
              <a:rPr lang="en-US" altLang="ko-KR" dirty="0"/>
              <a:t>Interactivity is a particular focus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Completely Fair Scheduler (CFS)</a:t>
            </a:r>
          </a:p>
          <a:p>
            <a:pPr lvl="1"/>
            <a:r>
              <a:rPr lang="en-US" altLang="ko-KR" dirty="0"/>
              <a:t>Deterministic proportional-share approach</a:t>
            </a:r>
          </a:p>
          <a:p>
            <a:pPr lvl="1"/>
            <a:r>
              <a:rPr lang="en-US" altLang="ko-KR" dirty="0"/>
              <a:t>Multiple queues</a:t>
            </a:r>
          </a:p>
        </p:txBody>
      </p:sp>
    </p:spTree>
    <p:extLst>
      <p:ext uri="{BB962C8B-B14F-4D97-AF65-F5344CB8AC3E}">
        <p14:creationId xmlns:p14="http://schemas.microsoft.com/office/powerpoint/2010/main" val="12398864"/>
      </p:ext>
    </p:extLst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Linux Multiprocessor Schedulers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BF Scheduler (BFS)</a:t>
            </a:r>
          </a:p>
          <a:p>
            <a:pPr lvl="1"/>
            <a:r>
              <a:rPr lang="en-US" altLang="ko-KR" dirty="0"/>
              <a:t>A single queue approach</a:t>
            </a:r>
          </a:p>
          <a:p>
            <a:pPr lvl="1"/>
            <a:r>
              <a:rPr lang="en-US" altLang="ko-KR" dirty="0"/>
              <a:t>Proportional-share</a:t>
            </a:r>
          </a:p>
          <a:p>
            <a:pPr lvl="1"/>
            <a:r>
              <a:rPr lang="en-US" altLang="ko-KR" dirty="0"/>
              <a:t>Based on Earliest Eligible Virtual Deadline First(EEVDF)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2948899"/>
      </p:ext>
    </p:extLst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3" y="736054"/>
            <a:ext cx="8786812" cy="5501258"/>
          </a:xfrm>
        </p:spPr>
        <p:txBody>
          <a:bodyPr/>
          <a:lstStyle/>
          <a:p>
            <a:r>
              <a:rPr lang="en-HK" dirty="0"/>
              <a:t>CPU Scheduling</a:t>
            </a:r>
          </a:p>
          <a:p>
            <a:pPr lvl="1"/>
            <a:r>
              <a:rPr lang="en-HK" dirty="0"/>
              <a:t>Scheduling metrics: Turnaround time, Response time;  Fairness </a:t>
            </a:r>
          </a:p>
          <a:p>
            <a:pPr lvl="1"/>
            <a:r>
              <a:rPr lang="en-HK" dirty="0"/>
              <a:t>Scheduling Strategy: FIFO, SJF, PSJF, RR, MLFQ</a:t>
            </a:r>
          </a:p>
          <a:p>
            <a:pPr lvl="2"/>
            <a:r>
              <a:rPr lang="en-HK" dirty="0"/>
              <a:t>Simple: FIFO, SJF, PSJF, RR</a:t>
            </a:r>
          </a:p>
          <a:p>
            <a:pPr lvl="2"/>
            <a:r>
              <a:rPr lang="en-HK" dirty="0"/>
              <a:t>MLFQ</a:t>
            </a:r>
          </a:p>
          <a:p>
            <a:pPr lvl="2"/>
            <a:r>
              <a:rPr lang="en-HK" dirty="0"/>
              <a:t>Proportional Share</a:t>
            </a:r>
          </a:p>
          <a:p>
            <a:pPr lvl="1"/>
            <a:r>
              <a:rPr lang="en-HK" dirty="0"/>
              <a:t>Multiprocessor scheduling</a:t>
            </a:r>
          </a:p>
          <a:p>
            <a:pPr lvl="2"/>
            <a:r>
              <a:rPr lang="en-HK" dirty="0"/>
              <a:t>Cache coherence</a:t>
            </a:r>
          </a:p>
          <a:p>
            <a:pPr lvl="2"/>
            <a:r>
              <a:rPr lang="en-HK" dirty="0"/>
              <a:t>Cache affinity</a:t>
            </a:r>
          </a:p>
          <a:p>
            <a:pPr lvl="2"/>
            <a:r>
              <a:rPr lang="en-HK" dirty="0"/>
              <a:t>SQMS, MQMS, Load balance</a:t>
            </a:r>
          </a:p>
          <a:p>
            <a:r>
              <a:rPr lang="en-US" dirty="0"/>
              <a:t>Next: Memory (</a:t>
            </a:r>
            <a:r>
              <a:rPr lang="en-US" dirty="0">
                <a:hlinkClick r:id="rId2"/>
              </a:rPr>
              <a:t>Chapters 13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15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16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17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18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19</a:t>
            </a:r>
            <a:r>
              <a:rPr lang="en-US" dirty="0"/>
              <a:t>, </a:t>
            </a:r>
            <a:r>
              <a:rPr lang="en-US" dirty="0">
                <a:hlinkClick r:id="rId8"/>
              </a:rPr>
              <a:t>20</a:t>
            </a:r>
            <a:r>
              <a:rPr lang="en-US" dirty="0"/>
              <a:t>, </a:t>
            </a:r>
            <a:r>
              <a:rPr lang="en-US" dirty="0">
                <a:hlinkClick r:id="rId9"/>
              </a:rPr>
              <a:t>21</a:t>
            </a:r>
            <a:r>
              <a:rPr lang="en-US" dirty="0"/>
              <a:t>, </a:t>
            </a:r>
            <a:r>
              <a:rPr lang="en-US" dirty="0">
                <a:hlinkClick r:id="rId10"/>
              </a:rPr>
              <a:t>22</a:t>
            </a:r>
            <a:r>
              <a:rPr lang="en-US" dirty="0"/>
              <a:t>, </a:t>
            </a:r>
            <a:r>
              <a:rPr lang="en-US" dirty="0">
                <a:hlinkClick r:id="rId11"/>
              </a:rPr>
              <a:t>23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5739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105736</TotalTime>
  <Words>4203</Words>
  <Application>Microsoft Office PowerPoint</Application>
  <PresentationFormat>On-screen Show (4:3)</PresentationFormat>
  <Paragraphs>977</Paragraphs>
  <Slides>64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HY견고딕</vt:lpstr>
      <vt:lpstr>맑은 고딕</vt:lpstr>
      <vt:lpstr>Arial</vt:lpstr>
      <vt:lpstr>Cambria Math</vt:lpstr>
      <vt:lpstr>Courier New</vt:lpstr>
      <vt:lpstr>Tahoma</vt:lpstr>
      <vt:lpstr>Times New Roman</vt:lpstr>
      <vt:lpstr>Wingdings</vt:lpstr>
      <vt:lpstr>양식_공청회_발표자료-총괄-양식</vt:lpstr>
      <vt:lpstr>Lecture 8: Virtualizing CPU - Scheduling</vt:lpstr>
      <vt:lpstr>PowerPoint Presentation</vt:lpstr>
      <vt:lpstr>PowerPoint Presentation</vt:lpstr>
      <vt:lpstr>Scheduling: Introduction</vt:lpstr>
      <vt:lpstr>Scheduling Metrics</vt:lpstr>
      <vt:lpstr>First In, First Out (FIFO)</vt:lpstr>
      <vt:lpstr>Why FIFO is not that great? – Convoy effect</vt:lpstr>
      <vt:lpstr>Shortest Job First (SJF)</vt:lpstr>
      <vt:lpstr>SJF with Late Arrivals from B and C</vt:lpstr>
      <vt:lpstr>Shortest Time-to-Completion First (STCF)</vt:lpstr>
      <vt:lpstr>Shortest Time-to-Completion First (STCF)</vt:lpstr>
      <vt:lpstr>New scheduling metric: Response time</vt:lpstr>
      <vt:lpstr>Round Robin (RR) Scheduling</vt:lpstr>
      <vt:lpstr>RR Scheduling Example</vt:lpstr>
      <vt:lpstr>The length of the time slice is critical.</vt:lpstr>
      <vt:lpstr>Incorporating I/O</vt:lpstr>
      <vt:lpstr>Incorporating I/O (Cont.)</vt:lpstr>
      <vt:lpstr>Incorporating I/O (Cont.)</vt:lpstr>
      <vt:lpstr>PowerPoint Presentation</vt:lpstr>
      <vt:lpstr>Multi-Level Feedback Queue (MLFQ)</vt:lpstr>
      <vt:lpstr>MLFQ: Basic Rules</vt:lpstr>
      <vt:lpstr>MLFQ: Basic Rules (Cont.)</vt:lpstr>
      <vt:lpstr>MLFQ Example</vt:lpstr>
      <vt:lpstr>MLFQ: How to Change Priority</vt:lpstr>
      <vt:lpstr>Example 1: A Single Long-Running Job</vt:lpstr>
      <vt:lpstr>Example 2: Along Came a Short Job</vt:lpstr>
      <vt:lpstr>Example 3: What About I/O?</vt:lpstr>
      <vt:lpstr>Problems with the Basic MLFQ</vt:lpstr>
      <vt:lpstr>The Priority Boost</vt:lpstr>
      <vt:lpstr>Better Accounting</vt:lpstr>
      <vt:lpstr>Tuning MLFQ And Other Issues</vt:lpstr>
      <vt:lpstr>The Solaris MLFQ implementation</vt:lpstr>
      <vt:lpstr>MLFQ: Summary</vt:lpstr>
      <vt:lpstr>PowerPoint Presentation</vt:lpstr>
      <vt:lpstr>Proportional Share Scheduler</vt:lpstr>
      <vt:lpstr>Basic Concept</vt:lpstr>
      <vt:lpstr>Lottery scheduling</vt:lpstr>
      <vt:lpstr>Ticket Mechanisms</vt:lpstr>
      <vt:lpstr>Ticket Mechanisms (Cont.)</vt:lpstr>
      <vt:lpstr>Implementation</vt:lpstr>
      <vt:lpstr>Implementation (Cont.)</vt:lpstr>
      <vt:lpstr>Lottery Fairness Study</vt:lpstr>
      <vt:lpstr>Stride Scheduling</vt:lpstr>
      <vt:lpstr>Stride Scheduling Example</vt:lpstr>
      <vt:lpstr>PowerPoint Presentation</vt:lpstr>
      <vt:lpstr>Multiprocessor Scheduling</vt:lpstr>
      <vt:lpstr>Single CPU with cache</vt:lpstr>
      <vt:lpstr>Cache coherence</vt:lpstr>
      <vt:lpstr>Cache coherence (Cont.)</vt:lpstr>
      <vt:lpstr>Cache coherence solution</vt:lpstr>
      <vt:lpstr>Don’t forget synchronization</vt:lpstr>
      <vt:lpstr>Don’t forget synchronization (Cont.)</vt:lpstr>
      <vt:lpstr>Cache Affinity</vt:lpstr>
      <vt:lpstr>Single-Queue Multiprocessor Scheduling (SQMS)</vt:lpstr>
      <vt:lpstr>Scheduling Example with Cache affinity</vt:lpstr>
      <vt:lpstr>Multi-Queue Multiprocessor Scheduling (MQMS)</vt:lpstr>
      <vt:lpstr>MQMS Example</vt:lpstr>
      <vt:lpstr>Load Imbalance issue of MQMS</vt:lpstr>
      <vt:lpstr>How to deal with load imbalance?</vt:lpstr>
      <vt:lpstr>How to deal with load imbalance? (Cont.)</vt:lpstr>
      <vt:lpstr>Work Stealing</vt:lpstr>
      <vt:lpstr>Linux Multiprocessor Schedulers</vt:lpstr>
      <vt:lpstr>Linux Multiprocessor Schedulers (Cont.)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User-level Programming    via System Calls (File &amp; Directory)</dc:title>
  <dc:creator>Shao Zi Li</dc:creator>
  <cp:lastModifiedBy>Zili Shao (CSD)</cp:lastModifiedBy>
  <cp:revision>64</cp:revision>
  <cp:lastPrinted>2015-03-03T01:48:46Z</cp:lastPrinted>
  <dcterms:created xsi:type="dcterms:W3CDTF">2011-05-01T06:09:10Z</dcterms:created>
  <dcterms:modified xsi:type="dcterms:W3CDTF">2025-10-21T03:00:05Z</dcterms:modified>
</cp:coreProperties>
</file>