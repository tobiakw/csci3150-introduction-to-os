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57"/>
  </p:notesMasterIdLst>
  <p:sldIdLst>
    <p:sldId id="284" r:id="rId2"/>
    <p:sldId id="374" r:id="rId3"/>
    <p:sldId id="293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22" r:id="rId32"/>
    <p:sldId id="350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292" r:id="rId5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15: Concurrency – Semaphore and Common Concurrency Problems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FCD6FF-AF4E-479A-A8F6-712579AF95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1052736"/>
            <a:ext cx="7920880" cy="1445834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76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</a:t>
            </a:r>
            <a:r>
              <a:rPr lang="en-HK"/>
              <a:t>I: Semaphore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4377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A definition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 object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with an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integer value     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altLang="ko-KR" dirty="0"/>
              <a:t>We can manipulate with two routines;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sem_wait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sem_post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Initialization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Declare a semaphore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s </a:t>
            </a:r>
            <a:r>
              <a:rPr lang="en-US" altLang="ko-KR" dirty="0"/>
              <a:t>and initialize it to the value 1</a:t>
            </a:r>
          </a:p>
          <a:p>
            <a:pPr lvl="2"/>
            <a:r>
              <a:rPr lang="en-US" altLang="ko-KR" dirty="0"/>
              <a:t>The second argument, 0, indicates that the semaphore is </a:t>
            </a:r>
            <a:r>
              <a:rPr lang="en-US" altLang="ko-KR" u="sng" dirty="0"/>
              <a:t>shared</a:t>
            </a:r>
            <a:r>
              <a:rPr lang="en-US" altLang="ko-KR" dirty="0"/>
              <a:t> between </a:t>
            </a:r>
            <a:r>
              <a:rPr lang="en-US" altLang="ko-KR" i="1" dirty="0"/>
              <a:t>threads in the same process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71600" y="2453987"/>
            <a:ext cx="72008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#include &lt;semaphore.h&gt;</a:t>
            </a:r>
          </a:p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sem_t s;</a:t>
            </a:r>
          </a:p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sem_init(&amp;s, </a:t>
            </a:r>
            <a:r>
              <a:rPr lang="pt-BR" altLang="ko-KR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ko-KR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pt-BR" altLang="ko-KR" sz="1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s to the value 1</a:t>
            </a:r>
            <a:endParaRPr lang="en-US" altLang="ko-KR" sz="16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2041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Interact with semaphore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When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sem_wait()</a:t>
            </a:r>
            <a:r>
              <a:rPr lang="en-US" altLang="ko-KR" dirty="0"/>
              <a:t>is called,</a:t>
            </a:r>
          </a:p>
          <a:p>
            <a:pPr lvl="2"/>
            <a:r>
              <a:rPr lang="en-US" altLang="ko-KR" dirty="0"/>
              <a:t>Decrement the value of semaphore s by one </a:t>
            </a:r>
          </a:p>
          <a:p>
            <a:pPr lvl="2"/>
            <a:r>
              <a:rPr lang="en-US" altLang="ko-KR" dirty="0"/>
              <a:t>If the value of the semaphore </a:t>
            </a:r>
          </a:p>
          <a:p>
            <a:pPr lvl="3"/>
            <a:r>
              <a:rPr lang="en-US" altLang="ko-KR" i="1" dirty="0"/>
              <a:t>0</a:t>
            </a:r>
            <a:r>
              <a:rPr lang="en-US" altLang="ko-KR" dirty="0"/>
              <a:t> or </a:t>
            </a:r>
            <a:r>
              <a:rPr lang="en-US" altLang="ko-KR" i="1" dirty="0"/>
              <a:t>higher</a:t>
            </a:r>
            <a:r>
              <a:rPr lang="en-US" altLang="ko-KR" dirty="0"/>
              <a:t>, </a:t>
            </a:r>
            <a:r>
              <a:rPr lang="en-US" altLang="ko-KR" b="1" dirty="0"/>
              <a:t>return right away</a:t>
            </a:r>
            <a:r>
              <a:rPr lang="en-US" altLang="ko-KR" dirty="0"/>
              <a:t>; </a:t>
            </a:r>
          </a:p>
          <a:p>
            <a:pPr lvl="3"/>
            <a:r>
              <a:rPr lang="en-HK" altLang="ko-KR" dirty="0"/>
              <a:t>otherwise (lower than 0), </a:t>
            </a:r>
            <a:r>
              <a:rPr lang="en-US" altLang="ko-KR" dirty="0"/>
              <a:t>the caller will be </a:t>
            </a:r>
            <a:r>
              <a:rPr lang="en-US" altLang="ko-KR" u="sng" dirty="0"/>
              <a:t>suspended </a:t>
            </a:r>
            <a:r>
              <a:rPr lang="en-US" altLang="ko-KR" dirty="0"/>
              <a:t> and wait for a subsequent post.</a:t>
            </a:r>
          </a:p>
          <a:p>
            <a:pPr lvl="4"/>
            <a:r>
              <a:rPr lang="en-US" altLang="ko-KR" dirty="0"/>
              <a:t>When negative, the value of the semaphore is equal to the number of waiting threads.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TextBox 8"/>
          <p:cNvSpPr txBox="1"/>
          <p:nvPr/>
        </p:nvSpPr>
        <p:spPr>
          <a:xfrm>
            <a:off x="791580" y="1538789"/>
            <a:ext cx="759684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	decrement the value of semaphore s by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	wait if the value of semaphore s is negative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} </a:t>
            </a:r>
          </a:p>
        </p:txBody>
      </p:sp>
    </p:spTree>
    <p:extLst>
      <p:ext uri="{BB962C8B-B14F-4D97-AF65-F5344CB8AC3E}">
        <p14:creationId xmlns:p14="http://schemas.microsoft.com/office/powerpoint/2010/main" val="156911011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Interact with semaphore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Simply </a:t>
            </a:r>
            <a:r>
              <a:rPr lang="en-US" altLang="ko-KR" b="1" dirty="0"/>
              <a:t>increments</a:t>
            </a:r>
            <a:r>
              <a:rPr lang="en-US" altLang="ko-KR" dirty="0"/>
              <a:t> the value of the semaphore.</a:t>
            </a:r>
          </a:p>
          <a:p>
            <a:pPr lvl="1"/>
            <a:r>
              <a:rPr lang="en-US" altLang="ko-KR" dirty="0"/>
              <a:t>If there is a thread waiting to be woken, </a:t>
            </a:r>
            <a:r>
              <a:rPr lang="en-US" altLang="ko-KR" b="1" dirty="0"/>
              <a:t>wakes </a:t>
            </a:r>
            <a:r>
              <a:rPr lang="en-US" altLang="ko-KR" dirty="0"/>
              <a:t>one of them up.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791580" y="1538789"/>
            <a:ext cx="759684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	increment the value of semaphore s by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	if there are one or more threads waiting, wake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23495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Binary Semaphores (Locks)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should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ko-KR" dirty="0"/>
              <a:t> be?</a:t>
            </a:r>
          </a:p>
          <a:p>
            <a:pPr lvl="1"/>
            <a:r>
              <a:rPr lang="en-US" altLang="ko-KR" dirty="0"/>
              <a:t>The initial value should be </a:t>
            </a:r>
            <a:r>
              <a:rPr lang="en-US" altLang="ko-KR" b="1" dirty="0"/>
              <a:t>1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9572" y="1971997"/>
            <a:ext cx="788487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semaphore to X; what should X be?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//critical section here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(&amp;m);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08700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Single Thread Using A Semaphore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idx="1"/>
          </p:nvPr>
        </p:nvGraphicFramePr>
        <p:xfrm>
          <a:off x="683568" y="1409184"/>
          <a:ext cx="7776864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of Semaphore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Thread 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Thread 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6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sema_wait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sect)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015775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Two Threads Using A Semaphore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</p:nvPr>
        </p:nvGraphicFramePr>
        <p:xfrm>
          <a:off x="755576" y="803488"/>
          <a:ext cx="7308813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  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  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set: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begin)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Switch → T1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&lt; 0)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 → T0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sect: end)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wake(T1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Switch → T1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sect)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14576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Semaphores As 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What should </a:t>
            </a:r>
            <a:r>
              <a:rPr lang="en-US" altLang="ko-KR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ko-KR" dirty="0"/>
              <a:t> be?</a:t>
            </a:r>
          </a:p>
          <a:p>
            <a:pPr lvl="2"/>
            <a:r>
              <a:rPr lang="en-US" altLang="ko-KR" dirty="0"/>
              <a:t>The value of semaphore should be set to is </a:t>
            </a:r>
            <a:r>
              <a:rPr lang="en-US" altLang="ko-KR" b="1" dirty="0"/>
              <a:t>0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5904656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child(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("child\n");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signal here: child is done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what should X be?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("parent: begin\n");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wait here for child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("parent: end\n");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7704" y="5085184"/>
            <a:ext cx="2755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Parent Waiting For Its Child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224" y="4365104"/>
            <a:ext cx="237626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parent: begin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parent: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953" y="5085184"/>
            <a:ext cx="1929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execution result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831346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Parent Waiting For Child (Case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parent call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 before the child has called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/>
          </p:cNvGraphicFramePr>
          <p:nvPr/>
        </p:nvGraphicFramePr>
        <p:xfrm>
          <a:off x="323528" y="1715616"/>
          <a:ext cx="849694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Parent 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Create(Child)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(Child exists; is runnable)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&lt; 0)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Switch→Child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child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5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wake(Parent)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Switch→Parent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12060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Parent Waiting For Child (Case 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child runs to completion before the parent call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/>
          </p:cNvGraphicFramePr>
          <p:nvPr/>
        </p:nvGraphicFramePr>
        <p:xfrm>
          <a:off x="323528" y="1696184"/>
          <a:ext cx="849694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Parent 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Create(Child)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(Child exists; is runnable)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</a:t>
                      </a:r>
                      <a:r>
                        <a:rPr lang="en-US" altLang="ko-KR" sz="1400" i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switch→Child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child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wake(nobody)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parent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Switch→Parent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5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&lt;0)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awake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594977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Producer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put() </a:t>
            </a:r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Wait for a buffer to become </a:t>
            </a:r>
            <a:r>
              <a:rPr lang="en-US" altLang="ko-KR" i="1" dirty="0"/>
              <a:t>empty</a:t>
            </a:r>
            <a:r>
              <a:rPr lang="en-US" altLang="ko-KR" dirty="0"/>
              <a:t> in order to put data into it.</a:t>
            </a:r>
          </a:p>
          <a:p>
            <a:r>
              <a:rPr lang="en-US" altLang="ko-KR" b="1" dirty="0"/>
              <a:t>Consumer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get() </a:t>
            </a:r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Wait for a buffer to become </a:t>
            </a:r>
            <a:r>
              <a:rPr lang="en-US" altLang="ko-KR" i="1" dirty="0"/>
              <a:t>filled</a:t>
            </a:r>
            <a:r>
              <a:rPr lang="en-US" altLang="ko-KR" dirty="0"/>
              <a:t> before using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3578" y="3128769"/>
            <a:ext cx="7596844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buffer[MAX];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fill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put(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buffer[fill] = value;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line f1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fill = (fill +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MAX;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f2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buffer[use];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g1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	use = (use +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MAX;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g2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}</a:t>
            </a:r>
          </a:p>
        </p:txBody>
      </p:sp>
    </p:spTree>
    <p:extLst>
      <p:ext uri="{BB962C8B-B14F-4D97-AF65-F5344CB8AC3E}">
        <p14:creationId xmlns:p14="http://schemas.microsoft.com/office/powerpoint/2010/main" val="368869081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19572" y="980728"/>
            <a:ext cx="7704856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 	} 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7705" y="5833591"/>
            <a:ext cx="5328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First Attempt: Adding the Full and Empty Conditions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089862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Imagine that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ko-KR" dirty="0"/>
              <a:t> is greater than 1 .</a:t>
            </a:r>
          </a:p>
          <a:p>
            <a:pPr lvl="2"/>
            <a:r>
              <a:rPr lang="en-US" altLang="ko-KR" dirty="0"/>
              <a:t>If there are multiple producers,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race condition </a:t>
            </a:r>
            <a:r>
              <a:rPr lang="en-US" altLang="ko-KR" dirty="0"/>
              <a:t>can happen at line </a:t>
            </a:r>
            <a:r>
              <a:rPr lang="en-US" altLang="ko-KR" i="1" dirty="0"/>
              <a:t>f1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It means that the old data there is overwritten.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We’ve forgotten here is </a:t>
            </a:r>
            <a:r>
              <a:rPr lang="en-US" altLang="ko-KR" b="1" dirty="0"/>
              <a:t>mutual exclusion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filling of a buffer and incrementing of the index into the buffer is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critical section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9572" y="1172580"/>
            <a:ext cx="770485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altLang="ko-K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MAX); 	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MAX buffers are empty to begin with…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… and 0 are full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3688" y="2401143"/>
            <a:ext cx="5904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First Attempt: Adding the Full and Empty Conditions (Cont.)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7777357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1417588"/>
            <a:ext cx="7488832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p0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p4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(Cont.)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71800" y="5085184"/>
            <a:ext cx="3425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(Incorrectly)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463806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1418747"/>
            <a:ext cx="7488832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(Cont.)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c0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c4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  }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1800" y="4293096"/>
            <a:ext cx="3425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(Incorrectly)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212952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Imagine two thread: one producer and one consumer.</a:t>
            </a:r>
          </a:p>
          <a:p>
            <a:pPr lvl="1"/>
            <a:r>
              <a:rPr lang="en-US" altLang="ko-KR" dirty="0"/>
              <a:t>The consumer </a:t>
            </a:r>
            <a:r>
              <a:rPr lang="en-US" altLang="ko-KR" b="1" dirty="0"/>
              <a:t>acquire</a:t>
            </a:r>
            <a:r>
              <a:rPr lang="en-US" altLang="ko-KR" dirty="0"/>
              <a:t> the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dirty="0"/>
              <a:t> (line c0).</a:t>
            </a:r>
          </a:p>
          <a:p>
            <a:pPr lvl="1"/>
            <a:r>
              <a:rPr lang="en-US" altLang="ko-KR" dirty="0"/>
              <a:t>The consumer </a:t>
            </a:r>
            <a:r>
              <a:rPr lang="en-US" altLang="ko-KR" b="1" dirty="0"/>
              <a:t>calls</a:t>
            </a:r>
            <a:r>
              <a:rPr lang="en-US" altLang="ko-KR" dirty="0"/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on the full semaphore (line c1).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The consumer is </a:t>
            </a:r>
            <a:r>
              <a:rPr lang="en-US" altLang="ko-KR" b="1" dirty="0">
                <a:sym typeface="Wingdings" panose="05000000000000000000" pitchFamily="2" charset="2"/>
              </a:rPr>
              <a:t>blocked</a:t>
            </a:r>
            <a:r>
              <a:rPr lang="en-US" altLang="ko-KR" dirty="0">
                <a:sym typeface="Wingdings" panose="05000000000000000000" pitchFamily="2" charset="2"/>
              </a:rPr>
              <a:t> and </a:t>
            </a:r>
            <a:r>
              <a:rPr lang="en-US" altLang="ko-KR" b="1" dirty="0">
                <a:sym typeface="Wingdings" panose="05000000000000000000" pitchFamily="2" charset="2"/>
              </a:rPr>
              <a:t>yield</a:t>
            </a:r>
            <a:r>
              <a:rPr lang="en-US" altLang="ko-KR" dirty="0">
                <a:sym typeface="Wingdings" panose="05000000000000000000" pitchFamily="2" charset="2"/>
              </a:rPr>
              <a:t> the CPU.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consumer </a:t>
            </a:r>
            <a:r>
              <a:rPr lang="en-US" altLang="ko-KR" u="sng" dirty="0">
                <a:sym typeface="Wingdings" panose="05000000000000000000" pitchFamily="2" charset="2"/>
              </a:rPr>
              <a:t>still holds the </a:t>
            </a:r>
            <a:r>
              <a:rPr lang="en-US" altLang="ko-KR" u="sng" dirty="0" err="1">
                <a:sym typeface="Wingdings" panose="05000000000000000000" pitchFamily="2" charset="2"/>
              </a:rPr>
              <a:t>mutex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The producer </a:t>
            </a:r>
            <a:r>
              <a:rPr lang="en-US" altLang="ko-KR" b="1" dirty="0">
                <a:sym typeface="Wingdings" panose="05000000000000000000" pitchFamily="2" charset="2"/>
              </a:rPr>
              <a:t>calls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  <a:r>
              <a:rPr lang="en-US" altLang="ko-KR" dirty="0">
                <a:sym typeface="Wingdings" panose="05000000000000000000" pitchFamily="2" charset="2"/>
              </a:rPr>
              <a:t> on the binary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mutex</a:t>
            </a:r>
            <a:r>
              <a:rPr lang="en-US" altLang="ko-KR" dirty="0">
                <a:sym typeface="Wingdings" panose="05000000000000000000" pitchFamily="2" charset="2"/>
              </a:rPr>
              <a:t> semaphore (line p0).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The producer is now </a:t>
            </a:r>
            <a:r>
              <a:rPr lang="en-US" altLang="ko-KR" b="1" dirty="0">
                <a:sym typeface="Wingdings" panose="05000000000000000000" pitchFamily="2" charset="2"/>
              </a:rPr>
              <a:t>stuck</a:t>
            </a:r>
            <a:r>
              <a:rPr lang="en-US" altLang="ko-KR" dirty="0">
                <a:sym typeface="Wingdings" panose="05000000000000000000" pitchFamily="2" charset="2"/>
              </a:rPr>
              <a:t> waiting too –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 classic deadlock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5465101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Finally, A Working Solution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1104675"/>
            <a:ext cx="835292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p1.5 (MOVED MUTEX HERE…)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p2.5 (… AND HERE)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824" y="4799653"/>
            <a:ext cx="328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5962999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Finally, A Working Solution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8352928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(Cont.)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c1.5 (MOVED MUTEX HERE…)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c2.5 (… AND HERE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//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(&amp;empty,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MAX);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MAX buffers are empty to begin with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(&amp;full,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 and 0 are full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because it is a lock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//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342900" indent="-342900">
              <a:buAutoNum type="arabicPlain" startAt="23"/>
            </a:pP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87824" y="6001543"/>
            <a:ext cx="328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98271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Imagine a number of concurrent list operations, including </a:t>
            </a:r>
            <a:r>
              <a:rPr lang="en-US" altLang="ko-KR" b="1" dirty="0"/>
              <a:t>inserts</a:t>
            </a:r>
            <a:r>
              <a:rPr lang="en-US" altLang="ko-KR" dirty="0"/>
              <a:t> and simple </a:t>
            </a:r>
            <a:r>
              <a:rPr lang="en-US" altLang="ko-KR" b="1" dirty="0"/>
              <a:t>lookups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insert:</a:t>
            </a:r>
          </a:p>
          <a:p>
            <a:pPr lvl="2"/>
            <a:r>
              <a:rPr lang="en-US" altLang="ko-KR" dirty="0"/>
              <a:t>Change the state of the list</a:t>
            </a:r>
          </a:p>
          <a:p>
            <a:pPr lvl="2"/>
            <a:r>
              <a:rPr lang="en-US" altLang="ko-KR" dirty="0"/>
              <a:t>A traditional </a:t>
            </a:r>
            <a:r>
              <a:rPr lang="en-US" altLang="ko-KR" u="sng" dirty="0"/>
              <a:t>critical section</a:t>
            </a:r>
            <a:r>
              <a:rPr lang="en-US" altLang="ko-KR" dirty="0"/>
              <a:t> makes sense.</a:t>
            </a:r>
          </a:p>
          <a:p>
            <a:pPr lvl="1"/>
            <a:r>
              <a:rPr lang="en-US" altLang="ko-KR" b="1" dirty="0"/>
              <a:t>lookup:</a:t>
            </a:r>
          </a:p>
          <a:p>
            <a:pPr lvl="2"/>
            <a:r>
              <a:rPr lang="en-US" altLang="ko-KR" dirty="0"/>
              <a:t>Simply </a:t>
            </a:r>
            <a:r>
              <a:rPr lang="en-US" altLang="ko-KR" i="1" dirty="0"/>
              <a:t>read</a:t>
            </a:r>
            <a:r>
              <a:rPr lang="en-US" altLang="ko-KR" dirty="0"/>
              <a:t> the data structure.</a:t>
            </a:r>
          </a:p>
          <a:p>
            <a:pPr lvl="2"/>
            <a:r>
              <a:rPr lang="en-US" altLang="ko-KR" dirty="0"/>
              <a:t>As long as we can guarantee that no insert is on-going, we can allow many lookups to proceed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concurrently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5229200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This special type of lock is known as a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reader-writer lock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8599957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Only </a:t>
            </a:r>
            <a:r>
              <a:rPr lang="en-US" altLang="ko-KR" b="1" dirty="0"/>
              <a:t>a single writer </a:t>
            </a:r>
            <a:r>
              <a:rPr lang="en-US" altLang="ko-KR" dirty="0"/>
              <a:t>can acquire the lock.</a:t>
            </a:r>
          </a:p>
          <a:p>
            <a:r>
              <a:rPr lang="en-US" altLang="ko-KR" dirty="0"/>
              <a:t>Once a reader has acquired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read lock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b="1" dirty="0"/>
              <a:t>More readers </a:t>
            </a:r>
            <a:r>
              <a:rPr lang="en-US" altLang="ko-KR" dirty="0"/>
              <a:t>will be allowed to acquire the read lock too.</a:t>
            </a:r>
          </a:p>
          <a:p>
            <a:pPr lvl="1"/>
            <a:r>
              <a:rPr lang="en-US" altLang="ko-KR" dirty="0"/>
              <a:t>A writer will </a:t>
            </a:r>
            <a:r>
              <a:rPr lang="en-US" altLang="ko-KR" u="sng" dirty="0"/>
              <a:t>have to wait</a:t>
            </a:r>
            <a:r>
              <a:rPr lang="en-US" altLang="ko-KR" dirty="0"/>
              <a:t> until all readers are finished.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9532" y="3057341"/>
            <a:ext cx="8424936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lock;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binary semaphore (basic lock)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used to allow ONE writer or MANY readers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readers;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count of readers reading in critical section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rwlock_acquire_readlock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…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434637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 (Cont.)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9532" y="980728"/>
            <a:ext cx="8424936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-&gt;readers++;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first reader acquires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rwlock_release_readlock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-&gt;readers--;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-&gt;readers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// last reader releases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rwlock_acquire_writelock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rwlock_release_writelock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Tx/>
              <a:buAutoNum type="arabicPlain" startAt="15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247508638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reader-writer locks have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fairness problem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would be relatively easy for reader to </a:t>
            </a:r>
            <a:r>
              <a:rPr lang="en-US" altLang="ko-KR" b="1" dirty="0"/>
              <a:t>starve writer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 to </a:t>
            </a:r>
            <a:r>
              <a:rPr lang="en-US" altLang="ko-KR" u="sng" dirty="0"/>
              <a:t>prevent</a:t>
            </a:r>
            <a:r>
              <a:rPr lang="en-US" altLang="ko-KR" dirty="0"/>
              <a:t> more readers from entering the lock once a writer is waiting?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824716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Assume there are five “</a:t>
            </a:r>
            <a:r>
              <a:rPr lang="en-US" altLang="ko-KR" sz="1800" b="1" dirty="0"/>
              <a:t>philosophers</a:t>
            </a:r>
            <a:r>
              <a:rPr lang="en-US" altLang="ko-KR" sz="1800" dirty="0"/>
              <a:t>” sitting around a table.</a:t>
            </a:r>
          </a:p>
          <a:p>
            <a:pPr lvl="1"/>
            <a:r>
              <a:rPr lang="en-US" altLang="ko-KR" sz="1600" dirty="0"/>
              <a:t>Between each pair of philosophers is </a:t>
            </a:r>
            <a:r>
              <a:rPr lang="en-US" altLang="ko-KR" sz="1600" u="sng" dirty="0"/>
              <a:t>a single fork</a:t>
            </a:r>
            <a:r>
              <a:rPr lang="en-US" altLang="ko-KR" sz="1600" dirty="0"/>
              <a:t> (five total).</a:t>
            </a:r>
          </a:p>
          <a:p>
            <a:pPr lvl="1"/>
            <a:r>
              <a:rPr lang="en-US" altLang="ko-KR" sz="1600" dirty="0"/>
              <a:t>The philosophers each have times where they </a:t>
            </a:r>
            <a:r>
              <a:rPr lang="en-US" altLang="ko-KR" sz="1600" b="1" dirty="0"/>
              <a:t>think</a:t>
            </a:r>
            <a:r>
              <a:rPr lang="en-US" altLang="ko-KR" sz="1600" dirty="0"/>
              <a:t>, and don’t need any forks, and times where they </a:t>
            </a:r>
            <a:r>
              <a:rPr lang="en-US" altLang="ko-KR" sz="1600" b="1" dirty="0"/>
              <a:t>eat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In order to </a:t>
            </a:r>
            <a:r>
              <a:rPr lang="en-US" altLang="ko-KR" sz="1600" i="1" dirty="0"/>
              <a:t>eat</a:t>
            </a:r>
            <a:r>
              <a:rPr lang="en-US" altLang="ko-KR" sz="1600" dirty="0"/>
              <a:t>, a philosopher needs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two forks</a:t>
            </a:r>
            <a:r>
              <a:rPr lang="en-US" altLang="ko-KR" sz="1600" dirty="0"/>
              <a:t>, both the one on their </a:t>
            </a:r>
            <a:r>
              <a:rPr lang="en-US" altLang="ko-KR" sz="1600" i="1" dirty="0"/>
              <a:t>left</a:t>
            </a:r>
            <a:r>
              <a:rPr lang="en-US" altLang="ko-KR" sz="1600" dirty="0"/>
              <a:t> and the one on their </a:t>
            </a:r>
            <a:r>
              <a:rPr lang="en-US" altLang="ko-KR" sz="1600" i="1" dirty="0"/>
              <a:t>right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b="1" dirty="0"/>
              <a:t>The contention for these forks.</a:t>
            </a:r>
          </a:p>
          <a:p>
            <a:pPr lvl="1"/>
            <a:endParaRPr lang="ko-KR" altLang="en-US" sz="1600" dirty="0"/>
          </a:p>
        </p:txBody>
      </p:sp>
      <p:sp>
        <p:nvSpPr>
          <p:cNvPr id="6" name="타원 5"/>
          <p:cNvSpPr/>
          <p:nvPr/>
        </p:nvSpPr>
        <p:spPr>
          <a:xfrm>
            <a:off x="6516216" y="3140968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96336" y="3501008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7812360" y="4077072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7452320" y="5585563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028384" y="5085184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32240" y="5877272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5652120" y="5589240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64088" y="5085184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5148064" y="4077072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96136" y="3501008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57318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challenge</a:t>
            </a:r>
          </a:p>
          <a:p>
            <a:pPr lvl="1"/>
            <a:r>
              <a:rPr lang="en-US" altLang="ko-KR" dirty="0"/>
              <a:t>There is </a:t>
            </a:r>
            <a:r>
              <a:rPr lang="en-US" altLang="ko-KR" b="1" dirty="0"/>
              <a:t>no deadlock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No</a:t>
            </a:r>
            <a:r>
              <a:rPr lang="en-US" altLang="ko-KR" dirty="0"/>
              <a:t> philosopher </a:t>
            </a:r>
            <a:r>
              <a:rPr lang="en-US" altLang="ko-KR" b="1" dirty="0"/>
              <a:t>starves</a:t>
            </a:r>
            <a:r>
              <a:rPr lang="en-US" altLang="ko-KR" dirty="0"/>
              <a:t> and never gets to eat.</a:t>
            </a:r>
          </a:p>
          <a:p>
            <a:pPr lvl="1"/>
            <a:r>
              <a:rPr lang="en-US" altLang="ko-KR" b="1" dirty="0"/>
              <a:t>Concurrency</a:t>
            </a:r>
            <a:r>
              <a:rPr lang="en-US" altLang="ko-KR" dirty="0"/>
              <a:t> is high.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Philosopher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/>
              <a:t> wishes to refer to the fork on their left </a:t>
            </a:r>
            <a:r>
              <a:rPr lang="en-US" altLang="ko-KR" dirty="0">
                <a:sym typeface="Wingdings" panose="05000000000000000000" pitchFamily="2" charset="2"/>
              </a:rPr>
              <a:t> call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left(p)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Philosopher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/>
              <a:t> wishes to refer to the fork on their right </a:t>
            </a:r>
            <a:r>
              <a:rPr lang="en-US" altLang="ko-KR" dirty="0">
                <a:sym typeface="Wingdings" panose="05000000000000000000" pitchFamily="2" charset="2"/>
              </a:rPr>
              <a:t> call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right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266674" y="2960944"/>
            <a:ext cx="3168352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3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think();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getforks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eat();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putforks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9083" y="2957942"/>
            <a:ext cx="3384376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3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helper functions</a:t>
            </a:r>
          </a:p>
          <a:p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left(</a:t>
            </a:r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p) { </a:t>
            </a: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 }</a:t>
            </a:r>
          </a:p>
          <a:p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right(</a:t>
            </a:r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p) {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 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 +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2706" y="4253606"/>
            <a:ext cx="2836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Basic loop of each philosopher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9082" y="4273351"/>
            <a:ext cx="3449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Helper functions (Downey’s solutions)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7507796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need some </a:t>
            </a:r>
            <a:r>
              <a:rPr lang="en-US" altLang="ko-KR" b="1" dirty="0"/>
              <a:t>semaphore</a:t>
            </a:r>
            <a:r>
              <a:rPr lang="en-US" altLang="ko-KR" dirty="0"/>
              <a:t>, one for each fork: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forks[5]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Deadlock</a:t>
            </a:r>
            <a:r>
              <a:rPr lang="en-US" altLang="ko-KR" dirty="0"/>
              <a:t> occur!</a:t>
            </a:r>
          </a:p>
          <a:p>
            <a:pPr lvl="2"/>
            <a:r>
              <a:rPr lang="en-US" altLang="ko-KR" dirty="0"/>
              <a:t>If each philosopher happens to </a:t>
            </a:r>
            <a:r>
              <a:rPr lang="en-US" altLang="ko-KR" b="1" dirty="0"/>
              <a:t>grab the fork on their left</a:t>
            </a:r>
            <a:r>
              <a:rPr lang="en-US" altLang="ko-KR" dirty="0"/>
              <a:t> before any philosopher can grab the fork on their right.</a:t>
            </a:r>
          </a:p>
          <a:p>
            <a:pPr lvl="2"/>
            <a:r>
              <a:rPr lang="en-US" altLang="ko-KR" dirty="0"/>
              <a:t>Each will be stuck </a:t>
            </a:r>
            <a:r>
              <a:rPr lang="en-US" altLang="ko-KR" i="1" dirty="0"/>
              <a:t>holding one fork</a:t>
            </a:r>
            <a:r>
              <a:rPr lang="en-US" altLang="ko-KR" dirty="0"/>
              <a:t> and waiting for another, </a:t>
            </a:r>
            <a:r>
              <a:rPr lang="en-US" altLang="ko-KR" i="1" dirty="0"/>
              <a:t>forever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95736" y="1520788"/>
            <a:ext cx="4248472" cy="2052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9672" y="3573016"/>
            <a:ext cx="5875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getforks</a:t>
            </a:r>
            <a:r>
              <a:rPr lang="en-US" altLang="ko-KR" sz="1400" b="1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and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putforks</a:t>
            </a:r>
            <a:r>
              <a:rPr lang="en-US" altLang="ko-KR" sz="1400" b="1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()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Routines (Broken Solution)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3817101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Breaking The Dependency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Change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how forks are acquired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Let’s assume that philosopher 4 acquire the forks in a </a:t>
            </a:r>
            <a:r>
              <a:rPr lang="en-US" altLang="ko-KR" i="1" dirty="0"/>
              <a:t>different order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There is no situation where each philosopher grabs one fork and is stuck waiting for another. </a:t>
            </a:r>
            <a:r>
              <a:rPr lang="en-US" altLang="ko-KR" b="1" dirty="0"/>
              <a:t>The cycle of waiting is broken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35696" y="2060848"/>
            <a:ext cx="5472608" cy="20162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}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88245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Implement Semaphores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Build our own version of semaphores called 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</a:rPr>
              <a:t>Zemaphores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648" y="1552138"/>
            <a:ext cx="6276322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lock;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only one thread can call this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*s,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 = value;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while (s-&gt;value &lt;=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&amp;s-&gt;lock);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s-&gt;value--;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244734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Implement Semaphores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altLang="ko-KR" dirty="0" err="1"/>
              <a:t>Zemaphore</a:t>
            </a:r>
            <a:r>
              <a:rPr lang="en-US" altLang="ko-KR" dirty="0"/>
              <a:t> does not maintain the invariant for </a:t>
            </a:r>
            <a:r>
              <a:rPr lang="en-US" altLang="ko-KR" i="1" dirty="0"/>
              <a:t>the value of </a:t>
            </a:r>
            <a:r>
              <a:rPr lang="en-US" altLang="ko-KR" dirty="0"/>
              <a:t>the semaphore.</a:t>
            </a:r>
          </a:p>
          <a:p>
            <a:pPr lvl="2"/>
            <a:r>
              <a:rPr lang="en-US" altLang="ko-KR" dirty="0"/>
              <a:t>The value should </a:t>
            </a:r>
            <a:r>
              <a:rPr lang="en-US" altLang="ko-KR" u="sng" dirty="0"/>
              <a:t>never be lower than zero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This behavior is </a:t>
            </a:r>
            <a:r>
              <a:rPr lang="en-US" altLang="ko-KR" b="1" dirty="0"/>
              <a:t>easier</a:t>
            </a:r>
            <a:r>
              <a:rPr lang="en-US" altLang="ko-KR" dirty="0"/>
              <a:t> to implement and </a:t>
            </a:r>
            <a:r>
              <a:rPr lang="en-US" altLang="ko-KR" b="1" dirty="0"/>
              <a:t>matches</a:t>
            </a:r>
            <a:r>
              <a:rPr lang="en-US" altLang="ko-KR" dirty="0"/>
              <a:t> the current Linux implementation.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03648" y="908720"/>
            <a:ext cx="627632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AutoNum type="arabicPlain" startAt="22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pPr marL="342900" indent="-342900">
              <a:buFontTx/>
              <a:buAutoNum type="arabicPlain" startAt="22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buFontTx/>
              <a:buAutoNum type="arabicPlain" startAt="22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s-&gt;value++; </a:t>
            </a:r>
          </a:p>
          <a:p>
            <a:pPr marL="342900" indent="-342900">
              <a:buFontTx/>
              <a:buAutoNum type="arabicPlain" startAt="22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Cond_signal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Tx/>
              <a:buAutoNum type="arabicPlain" startAt="22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buFontTx/>
              <a:buAutoNum type="arabicPlain" startAt="22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6631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II. Common Currency Problems</a:t>
            </a:r>
          </a:p>
        </p:txBody>
      </p:sp>
    </p:spTree>
    <p:extLst>
      <p:ext uri="{BB962C8B-B14F-4D97-AF65-F5344CB8AC3E}">
        <p14:creationId xmlns:p14="http://schemas.microsoft.com/office/powerpoint/2010/main" val="1253490146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Concurrency Problems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recent work focuses on studying other types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common concurrency bugs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Take a brief look at some example concurrency problems found in real code bases.</a:t>
            </a:r>
          </a:p>
          <a:p>
            <a:r>
              <a:rPr lang="en-US" altLang="ko-KR" dirty="0"/>
              <a:t>Focus on four major open-source applications</a:t>
            </a:r>
          </a:p>
          <a:p>
            <a:pPr lvl="1"/>
            <a:r>
              <a:rPr lang="en-US" altLang="ko-KR" dirty="0"/>
              <a:t>MySQL, Apache, Mozilla, OpenOffice.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900277"/>
              </p:ext>
            </p:extLst>
          </p:nvPr>
        </p:nvGraphicFramePr>
        <p:xfrm>
          <a:off x="827584" y="2996952"/>
          <a:ext cx="568863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9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Application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What it does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Non-Deadlock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Deadlock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MySQL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Database Server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Apache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Web Server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Mozilla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Web Browser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Open Office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Office Suite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Total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74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07704" y="4730501"/>
            <a:ext cx="3672408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Bugs In Modern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12860615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Non-Deadlock Bugs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Make up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majority of concurrency </a:t>
            </a:r>
            <a:r>
              <a:rPr lang="en-US" altLang="ko-KR" dirty="0"/>
              <a:t>bugs.</a:t>
            </a:r>
          </a:p>
          <a:p>
            <a:r>
              <a:rPr lang="en-US" altLang="ko-KR" dirty="0"/>
              <a:t>Two major types of non deadlock bugs:</a:t>
            </a:r>
          </a:p>
          <a:p>
            <a:pPr lvl="1"/>
            <a:r>
              <a:rPr lang="en-US" altLang="ko-KR" dirty="0"/>
              <a:t>Atomicity violation</a:t>
            </a:r>
          </a:p>
          <a:p>
            <a:pPr lvl="1"/>
            <a:r>
              <a:rPr lang="en-US" altLang="ko-KR" dirty="0"/>
              <a:t>Order violation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0621046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Atomicity-Violation Bugs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desired </a:t>
            </a:r>
            <a:r>
              <a:rPr lang="en-US" altLang="ko-KR" b="1" dirty="0" err="1"/>
              <a:t>serializability</a:t>
            </a:r>
            <a:r>
              <a:rPr lang="en-US" altLang="ko-KR" dirty="0"/>
              <a:t> among multiple memory accesses is </a:t>
            </a:r>
            <a:r>
              <a:rPr lang="en-US" altLang="ko-KR" i="1" dirty="0"/>
              <a:t>violated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Simple Example found in MySQL:</a:t>
            </a:r>
          </a:p>
          <a:p>
            <a:pPr lvl="2"/>
            <a:r>
              <a:rPr lang="en-US" altLang="ko-KR" dirty="0"/>
              <a:t>Two different threads access the field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proc_info</a:t>
            </a:r>
            <a:r>
              <a:rPr lang="en-US" altLang="ko-KR" dirty="0"/>
              <a:t> in the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thd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619672" y="2946137"/>
            <a:ext cx="5976664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Thread1::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</a:t>
            </a:r>
            <a:r>
              <a:rPr lang="en-US" altLang="ko-KR" sz="1400" dirty="0">
                <a:solidFill>
                  <a:schemeClr val="accent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){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    	…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fputs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…);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…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    }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   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   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151703019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Atomicity-Violation Bugs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Solution</a:t>
            </a:r>
            <a:r>
              <a:rPr lang="en-US" altLang="ko-KR" dirty="0"/>
              <a:t>: Simply add locks around the shared-variable references.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99592" y="1689189"/>
            <a:ext cx="727280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lock = PTHREAD_MUTEX_INITIALIZER;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Thread1::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fputs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…);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proc_info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947789127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Order-Violation Bugs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desired order</a:t>
            </a:r>
            <a:r>
              <a:rPr lang="en-US" altLang="ko-KR" dirty="0"/>
              <a:t> between two memory accesses is </a:t>
            </a:r>
            <a:r>
              <a:rPr lang="en-US" altLang="ko-KR" u="sng" dirty="0"/>
              <a:t>flipped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i.e.,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dirty="0"/>
              <a:t> should always be executed before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dirty="0"/>
              <a:t>, but the order is not enforced during execution.</a:t>
            </a:r>
          </a:p>
          <a:p>
            <a:pPr lvl="1"/>
            <a:r>
              <a:rPr lang="en-US" altLang="ko-KR" b="1" dirty="0"/>
              <a:t>Example</a:t>
            </a:r>
            <a:r>
              <a:rPr lang="en-US" altLang="ko-KR" dirty="0"/>
              <a:t>: </a:t>
            </a:r>
          </a:p>
          <a:p>
            <a:pPr lvl="2"/>
            <a:r>
              <a:rPr lang="en-US" altLang="ko-KR" dirty="0"/>
              <a:t>The code in Thread2 seems to assume that the variable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mThread</a:t>
            </a:r>
            <a:r>
              <a:rPr lang="en-US" altLang="ko-KR" dirty="0"/>
              <a:t> has already been </a:t>
            </a:r>
            <a:r>
              <a:rPr lang="en-US" altLang="ko-KR" i="1" dirty="0"/>
              <a:t>initialized</a:t>
            </a:r>
            <a:r>
              <a:rPr lang="en-US" altLang="ko-KR" dirty="0"/>
              <a:t> (and is not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dirty="0"/>
              <a:t>).</a:t>
            </a:r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403648" y="3845947"/>
            <a:ext cx="6480720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Thread1::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PR_CreateThread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…);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(…){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mState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-&gt;State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498860599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Order-Violation Bugs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Solution</a:t>
            </a:r>
            <a:r>
              <a:rPr lang="en-US" altLang="ko-KR" dirty="0"/>
              <a:t>: Enforce ordering using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condition variables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83568" y="1556792"/>
            <a:ext cx="7776864" cy="44012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PTHREAD_MUTEX_INITIALIZER;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mtCond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PTHREAD_COND_INITIALIZER;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 1::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PR_CreateThread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,…);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signal that the thread has been created.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mtCond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Thread2::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mMain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(…){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</p:txBody>
      </p:sp>
    </p:spTree>
    <p:extLst>
      <p:ext uri="{BB962C8B-B14F-4D97-AF65-F5344CB8AC3E}">
        <p14:creationId xmlns:p14="http://schemas.microsoft.com/office/powerpoint/2010/main" val="491444197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Order-Violation Bugs (Cont.)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83568" y="1037635"/>
            <a:ext cx="7776864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wait for the thread to be initialized …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mtInit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mtCond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mState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mThread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-&gt;State;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…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23334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Deadlock Bugs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The presence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cs typeface="Courier New" panose="02070309020205020404" pitchFamily="49" charset="0"/>
              </a:rPr>
              <a:t>a cycle</a:t>
            </a:r>
          </a:p>
          <a:p>
            <a:pPr lvl="2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Thread1</a:t>
            </a:r>
            <a:r>
              <a:rPr lang="en-US" altLang="ko-KR" dirty="0"/>
              <a:t> is holding a lock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L1</a:t>
            </a:r>
            <a:r>
              <a:rPr lang="en-US" altLang="ko-KR" dirty="0"/>
              <a:t> and waiting for another one,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L2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Thread2</a:t>
            </a:r>
            <a:r>
              <a:rPr lang="en-US" altLang="ko-KR" dirty="0"/>
              <a:t> that holds lock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L2</a:t>
            </a:r>
            <a:r>
              <a:rPr lang="en-US" altLang="ko-KR" dirty="0"/>
              <a:t> is waiting for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L1</a:t>
            </a:r>
            <a:r>
              <a:rPr lang="en-US" altLang="ko-KR" dirty="0"/>
              <a:t> to be release.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411760" y="836712"/>
          <a:ext cx="4320480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Thread 1: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lock(L1);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lock(L2);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Thread 2: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lock(L2);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lock(L1);</a:t>
                      </a:r>
                      <a:endParaRPr lang="en-US" altLang="ko-KR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그룹 28"/>
          <p:cNvGrpSpPr/>
          <p:nvPr/>
        </p:nvGrpSpPr>
        <p:grpSpPr>
          <a:xfrm>
            <a:off x="3131840" y="3697287"/>
            <a:ext cx="2988216" cy="2756049"/>
            <a:chOff x="3131840" y="3697287"/>
            <a:chExt cx="2988216" cy="2756049"/>
          </a:xfrm>
        </p:grpSpPr>
        <p:sp>
          <p:nvSpPr>
            <p:cNvPr id="10" name="직사각형 9"/>
            <p:cNvSpPr/>
            <p:nvPr/>
          </p:nvSpPr>
          <p:spPr>
            <a:xfrm>
              <a:off x="5160608" y="3789040"/>
              <a:ext cx="828000" cy="7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Lock L1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3131840" y="3697287"/>
              <a:ext cx="1044000" cy="90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Thread 1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248267" y="5661328"/>
              <a:ext cx="828000" cy="7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Lock L2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5076056" y="5553336"/>
              <a:ext cx="1044000" cy="90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anose="02070309020205020404" pitchFamily="49" charset="0"/>
                </a:rPr>
                <a:t>Thread 2</a:t>
              </a:r>
              <a:endParaRPr lang="ko-KR" altLang="en-US" sz="12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37978" y="3813249"/>
              <a:ext cx="6062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Holds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" name="직선 연결선 16"/>
            <p:cNvCxnSpPr/>
            <p:nvPr/>
          </p:nvCxnSpPr>
          <p:spPr>
            <a:xfrm flipV="1">
              <a:off x="3653840" y="4652590"/>
              <a:ext cx="0" cy="971274"/>
            </a:xfrm>
            <a:prstGeom prst="line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 rot="16200000">
              <a:off x="2910772" y="4959676"/>
              <a:ext cx="9821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Wanted by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9" name="직선 연결선 18"/>
            <p:cNvCxnSpPr/>
            <p:nvPr/>
          </p:nvCxnSpPr>
          <p:spPr>
            <a:xfrm flipH="1">
              <a:off x="4188408" y="6021328"/>
              <a:ext cx="794667" cy="0"/>
            </a:xfrm>
            <a:prstGeom prst="line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375594" y="6054065"/>
              <a:ext cx="6062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Holds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 rot="5400000">
              <a:off x="5286622" y="4933693"/>
              <a:ext cx="9821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맑은 고딕" pitchFamily="50" charset="-127"/>
                  <a:ea typeface="맑은 고딕" pitchFamily="50" charset="-127"/>
                </a:rPr>
                <a:t>Wanted by</a:t>
              </a:r>
              <a:endParaRPr lang="ko-KR" altLang="en-US" sz="12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 flipH="1">
              <a:off x="4243772" y="4157199"/>
              <a:ext cx="79466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 flipV="1">
              <a:off x="5556560" y="4580412"/>
              <a:ext cx="0" cy="971274"/>
            </a:xfrm>
            <a:prstGeom prst="line">
              <a:avLst/>
            </a:prstGeom>
            <a:ln w="28575">
              <a:solidFill>
                <a:schemeClr val="tx1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7150925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Do Deadlocks Occur?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Reason 1:</a:t>
            </a:r>
          </a:p>
          <a:p>
            <a:pPr lvl="1"/>
            <a:r>
              <a:rPr lang="en-US" altLang="ko-KR" dirty="0"/>
              <a:t>In large code bases,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complex dependencies </a:t>
            </a:r>
            <a:r>
              <a:rPr lang="en-US" altLang="ko-KR" dirty="0"/>
              <a:t>arise between components.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Reason 2:</a:t>
            </a:r>
          </a:p>
          <a:p>
            <a:pPr lvl="1"/>
            <a:r>
              <a:rPr lang="en-US" altLang="ko-KR" dirty="0"/>
              <a:t>Due to the nature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encapsulation</a:t>
            </a:r>
          </a:p>
          <a:p>
            <a:pPr lvl="2"/>
            <a:r>
              <a:rPr lang="en-US" altLang="ko-KR" dirty="0"/>
              <a:t>Hide details of implementations and make software easier to build in a modular way.</a:t>
            </a:r>
          </a:p>
          <a:p>
            <a:pPr lvl="2"/>
            <a:r>
              <a:rPr lang="en-US" altLang="ko-KR" dirty="0"/>
              <a:t>Such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modularity</a:t>
            </a:r>
            <a:r>
              <a:rPr lang="en-US" altLang="ko-KR" dirty="0"/>
              <a:t> </a:t>
            </a:r>
            <a:r>
              <a:rPr lang="en-US" altLang="ko-KR" i="1" dirty="0"/>
              <a:t>does not mesh</a:t>
            </a:r>
            <a:r>
              <a:rPr lang="en-US" altLang="ko-KR" dirty="0"/>
              <a:t> well with </a:t>
            </a:r>
            <a:r>
              <a:rPr lang="en-US" altLang="ko-KR" u="sng" dirty="0"/>
              <a:t>locking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458498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Do Deadlocks Occur?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Example</a:t>
            </a:r>
            <a:r>
              <a:rPr lang="en-US" altLang="ko-KR" dirty="0"/>
              <a:t>: Java Vector class and the method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AddAll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Locks</a:t>
            </a:r>
            <a:r>
              <a:rPr lang="en-US" altLang="ko-KR" dirty="0"/>
              <a:t> for both the vector being added to (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  <a:r>
              <a:rPr lang="en-US" altLang="ko-KR" dirty="0"/>
              <a:t>) and the parameter (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  <a:r>
              <a:rPr lang="en-US" altLang="ko-KR" dirty="0"/>
              <a:t>) </a:t>
            </a:r>
            <a:r>
              <a:rPr lang="en-US" altLang="ko-KR" i="1" dirty="0"/>
              <a:t>need to be acquired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routine acquires said locks in some arbitrary order (v1 then v2).</a:t>
            </a:r>
          </a:p>
          <a:p>
            <a:pPr lvl="2"/>
            <a:r>
              <a:rPr lang="en-US" altLang="ko-KR" dirty="0"/>
              <a:t>If some other thread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calls v2.AddAll(v1) </a:t>
            </a:r>
            <a:r>
              <a:rPr lang="en-US" altLang="ko-KR" dirty="0"/>
              <a:t>at nearly the same time </a:t>
            </a:r>
            <a:r>
              <a:rPr lang="en-US" altLang="ko-KR" dirty="0">
                <a:sym typeface="Wingdings" panose="05000000000000000000" pitchFamily="2" charset="2"/>
              </a:rPr>
              <a:t> We have the potential for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deadlock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9" name="직사각형 18"/>
          <p:cNvSpPr/>
          <p:nvPr/>
        </p:nvSpPr>
        <p:spPr>
          <a:xfrm>
            <a:off x="2771800" y="1628800"/>
            <a:ext cx="3096344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Vector v1,v2;</a:t>
            </a:r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v1.AddAll(v2);</a:t>
            </a:r>
          </a:p>
        </p:txBody>
      </p:sp>
    </p:spTree>
    <p:extLst>
      <p:ext uri="{BB962C8B-B14F-4D97-AF65-F5344CB8AC3E}">
        <p14:creationId xmlns:p14="http://schemas.microsoft.com/office/powerpoint/2010/main" val="2528041767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Conditional for Deadlock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u="sng" dirty="0"/>
              <a:t>Four conditions</a:t>
            </a:r>
            <a:r>
              <a:rPr lang="en-US" altLang="ko-KR" dirty="0"/>
              <a:t> need to hold for a deadlock to occur.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If any of these four conditions are not met, </a:t>
            </a:r>
            <a:r>
              <a:rPr lang="en-US" altLang="ko-KR" b="1" dirty="0"/>
              <a:t>deadlock cannot occur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11560" y="1556792"/>
          <a:ext cx="8136904" cy="2375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Condition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Mutual Exclusion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Threads claim exclusive control of resources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that they require.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2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Hold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-and-wait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Threads hold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resources allocated to them while waiting for additional resources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 preemption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Resources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cannot be forcibly removed from threads that are holding them.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2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Circular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wait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There exists a circular chain of threads such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that each thread holds one more resources that are being requested by the next thread in the chain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103275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Circular Wait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Provide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total ordering </a:t>
            </a:r>
            <a:r>
              <a:rPr lang="en-US" altLang="ko-KR" dirty="0"/>
              <a:t>on lock acquisition</a:t>
            </a:r>
          </a:p>
          <a:p>
            <a:pPr lvl="1"/>
            <a:r>
              <a:rPr lang="en-US" altLang="ko-KR" dirty="0"/>
              <a:t>This approach requires </a:t>
            </a:r>
            <a:r>
              <a:rPr lang="en-US" altLang="ko-KR" i="1" dirty="0"/>
              <a:t>careful design </a:t>
            </a:r>
            <a:r>
              <a:rPr lang="en-US" altLang="ko-KR" dirty="0"/>
              <a:t>of global locking strategies.</a:t>
            </a:r>
          </a:p>
          <a:p>
            <a:r>
              <a:rPr lang="en-US" altLang="ko-KR" b="1" dirty="0"/>
              <a:t>Example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There are two locks in the system (L1 and L2)</a:t>
            </a:r>
          </a:p>
          <a:p>
            <a:pPr lvl="1"/>
            <a:r>
              <a:rPr lang="en-US" altLang="ko-KR" dirty="0"/>
              <a:t>We can prevent deadlock by always acquiring L1 before L2.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0016927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Hold-and-wait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Acquire all locks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at once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atomically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This code guarantees that </a:t>
            </a:r>
            <a:r>
              <a:rPr lang="en-US" altLang="ko-KR" b="1" dirty="0"/>
              <a:t>no untimely thread switch can occur </a:t>
            </a:r>
            <a:r>
              <a:rPr lang="en-US" altLang="ko-KR" i="1" dirty="0"/>
              <a:t>in the midst of</a:t>
            </a:r>
            <a:r>
              <a:rPr lang="en-US" altLang="ko-KR" dirty="0"/>
              <a:t> lock acquisition.</a:t>
            </a:r>
          </a:p>
          <a:p>
            <a:pPr lvl="1"/>
            <a:r>
              <a:rPr lang="en-US" altLang="ko-KR" b="1" dirty="0"/>
              <a:t>Problem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Require us to know when calling a routine exactly which locks must be held and to acquire them ahead of time.</a:t>
            </a:r>
          </a:p>
          <a:p>
            <a:pPr lvl="2"/>
            <a:r>
              <a:rPr lang="en-US" altLang="ko-KR" dirty="0"/>
              <a:t>Decrease </a:t>
            </a:r>
            <a:r>
              <a:rPr lang="en-US" altLang="ko-KR" i="1" dirty="0"/>
              <a:t>concurrency</a:t>
            </a:r>
            <a:endParaRPr lang="ko-KR" altLang="en-US" i="1" dirty="0"/>
          </a:p>
        </p:txBody>
      </p:sp>
      <p:sp>
        <p:nvSpPr>
          <p:cNvPr id="6" name="직사각형 5"/>
          <p:cNvSpPr/>
          <p:nvPr/>
        </p:nvSpPr>
        <p:spPr>
          <a:xfrm>
            <a:off x="2339752" y="1556792"/>
            <a:ext cx="4032448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    lock(prevention);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2    lock(L1);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    lock(L2);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4    …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5    unlock(prevention);</a:t>
            </a:r>
          </a:p>
        </p:txBody>
      </p:sp>
    </p:spTree>
    <p:extLst>
      <p:ext uri="{BB962C8B-B14F-4D97-AF65-F5344CB8AC3E}">
        <p14:creationId xmlns:p14="http://schemas.microsoft.com/office/powerpoint/2010/main" val="725526611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No Preemption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Multiple lock acquisition </a:t>
            </a:r>
            <a:r>
              <a:rPr lang="en-US" altLang="ko-KR" dirty="0"/>
              <a:t>often gets us into trouble because when waiting for one lock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we are holding another</a:t>
            </a:r>
            <a:r>
              <a:rPr lang="en-US" altLang="ko-KR" dirty="0"/>
              <a:t>.</a:t>
            </a:r>
          </a:p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trylock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ko-KR" dirty="0">
                <a:cs typeface="Courier New" panose="02070309020205020404" pitchFamily="49" charset="0"/>
              </a:rPr>
              <a:t>Used to build a </a:t>
            </a:r>
            <a:r>
              <a:rPr lang="en-US" altLang="ko-KR" i="1" dirty="0">
                <a:cs typeface="Courier New" panose="02070309020205020404" pitchFamily="49" charset="0"/>
              </a:rPr>
              <a:t>deadlock-free</a:t>
            </a:r>
            <a:r>
              <a:rPr lang="en-US" altLang="ko-KR" dirty="0">
                <a:cs typeface="Courier New" panose="02070309020205020404" pitchFamily="49" charset="0"/>
              </a:rPr>
              <a:t>, </a:t>
            </a:r>
            <a:r>
              <a:rPr lang="en-US" altLang="ko-KR" i="1" dirty="0">
                <a:cs typeface="Courier New" panose="02070309020205020404" pitchFamily="49" charset="0"/>
              </a:rPr>
              <a:t>ordering-robust</a:t>
            </a:r>
            <a:r>
              <a:rPr lang="en-US" altLang="ko-KR" dirty="0">
                <a:cs typeface="Courier New" panose="02070309020205020404" pitchFamily="49" charset="0"/>
              </a:rPr>
              <a:t> lock acquisition protocol.</a:t>
            </a:r>
          </a:p>
          <a:p>
            <a:pPr lvl="1"/>
            <a:r>
              <a:rPr lang="en-US" altLang="ko-KR" dirty="0"/>
              <a:t>Grab the lock (if it is available).</a:t>
            </a:r>
          </a:p>
          <a:p>
            <a:pPr lvl="1"/>
            <a:r>
              <a:rPr lang="en-US" altLang="ko-KR" dirty="0"/>
              <a:t>Or, return -1: you should try again later.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267744" y="3933056"/>
            <a:ext cx="4392488" cy="13849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top: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lock(L1);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tryLock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(L2) == -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unlock(L1);	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altLang="ko-KR" sz="14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top;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</a:p>
        </p:txBody>
      </p:sp>
    </p:spTree>
    <p:extLst>
      <p:ext uri="{BB962C8B-B14F-4D97-AF65-F5344CB8AC3E}">
        <p14:creationId xmlns:p14="http://schemas.microsoft.com/office/powerpoint/2010/main" val="598525934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No Preemption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livelock</a:t>
            </a:r>
            <a:endParaRPr lang="en-US" altLang="ko-KR" dirty="0"/>
          </a:p>
          <a:p>
            <a:pPr lvl="1"/>
            <a:r>
              <a:rPr lang="en-US" altLang="ko-KR" dirty="0"/>
              <a:t>Both systems are running through the code sequence </a:t>
            </a:r>
            <a:r>
              <a:rPr lang="en-US" altLang="ko-KR" i="1" dirty="0"/>
              <a:t>over and over again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u="sng" dirty="0"/>
              <a:t>Progress is not being made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Solution:</a:t>
            </a:r>
          </a:p>
          <a:p>
            <a:pPr lvl="2"/>
            <a:r>
              <a:rPr lang="en-US" altLang="ko-KR" dirty="0"/>
              <a:t>Add </a:t>
            </a:r>
            <a:r>
              <a:rPr lang="en-US" altLang="ko-KR" b="1" dirty="0"/>
              <a:t>a random delay </a:t>
            </a:r>
            <a:r>
              <a:rPr lang="en-US" altLang="ko-KR" dirty="0"/>
              <a:t>before looping back and trying the entire thing over again.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941453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wait-free</a:t>
            </a:r>
          </a:p>
          <a:p>
            <a:pPr lvl="1"/>
            <a:r>
              <a:rPr lang="en-US" altLang="ko-KR" dirty="0"/>
              <a:t>Using powerful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hardware instruction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You can build data structures in a manner that </a:t>
            </a:r>
            <a:r>
              <a:rPr lang="en-US" altLang="ko-KR" i="1" dirty="0"/>
              <a:t>does not require </a:t>
            </a:r>
            <a:r>
              <a:rPr lang="en-US" altLang="ko-KR" u="sng" dirty="0"/>
              <a:t>explicit locking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1115616" y="2924944"/>
            <a:ext cx="6912768" cy="16004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CompareAndSwap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*address,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expected,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new){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(*address == expected){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*address = new;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success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32576597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now wanted to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atomically increment </a:t>
            </a:r>
            <a:r>
              <a:rPr lang="en-US" altLang="ko-KR" dirty="0"/>
              <a:t>a value by a certain amount: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Repeatedly tries to update the value to </a:t>
            </a:r>
            <a:r>
              <a:rPr lang="en-US" altLang="ko-KR" i="1" dirty="0"/>
              <a:t>the new amount </a:t>
            </a:r>
            <a:r>
              <a:rPr lang="en-US" altLang="ko-KR" dirty="0"/>
              <a:t>and uses 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compare-and-swap</a:t>
            </a:r>
            <a:r>
              <a:rPr lang="en-US" altLang="ko-KR" dirty="0"/>
              <a:t> to do so.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No lock </a:t>
            </a:r>
            <a:r>
              <a:rPr lang="en-US" altLang="ko-KR" dirty="0"/>
              <a:t>is acquired</a:t>
            </a:r>
          </a:p>
          <a:p>
            <a:pPr lvl="1"/>
            <a:r>
              <a:rPr lang="en-US" altLang="ko-KR" b="1" dirty="0"/>
              <a:t>No deadlock </a:t>
            </a:r>
            <a:r>
              <a:rPr lang="en-US" altLang="ko-KR" dirty="0"/>
              <a:t>can arise</a:t>
            </a:r>
          </a:p>
          <a:p>
            <a:pPr lvl="1"/>
            <a:r>
              <a:rPr lang="en-US" altLang="ko-KR" b="1" dirty="0" err="1"/>
              <a:t>livelock</a:t>
            </a:r>
            <a:r>
              <a:rPr lang="en-US" altLang="ko-KR" dirty="0"/>
              <a:t> is still a possibility.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115616" y="1539369"/>
            <a:ext cx="6912768" cy="11695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AtomicIncrement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*value,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amount){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old = *value;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CompareAndSwap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old,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old+amount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)==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018743781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More complex example</a:t>
            </a:r>
            <a:r>
              <a:rPr lang="en-US" altLang="ko-KR" dirty="0"/>
              <a:t>: list insertion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If called by multiple threads at the “</a:t>
            </a:r>
            <a:r>
              <a:rPr lang="en-US" altLang="ko-KR" i="1" dirty="0"/>
              <a:t>same time</a:t>
            </a:r>
            <a:r>
              <a:rPr lang="en-US" altLang="ko-KR" dirty="0"/>
              <a:t>”, this code has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race condition</a:t>
            </a:r>
            <a:r>
              <a:rPr lang="en-US" altLang="ko-KR" dirty="0"/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45940" y="1628800"/>
            <a:ext cx="6766420" cy="16004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insert(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value){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n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assert( n !=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n-&gt;value	= value 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n-&gt;next 	= head;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head 	= n;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188183717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Prevention –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Solution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Surrounding this code with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lock acquire </a:t>
            </a:r>
            <a:r>
              <a:rPr lang="en-US" altLang="ko-KR" dirty="0"/>
              <a:t>and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release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wait-free manner </a:t>
            </a:r>
            <a:r>
              <a:rPr lang="en-US" altLang="ko-KR" dirty="0"/>
              <a:t>using 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compare-and-swap</a:t>
            </a:r>
            <a:r>
              <a:rPr lang="en-US" altLang="ko-KR" dirty="0"/>
              <a:t> instruction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333972" y="1916251"/>
            <a:ext cx="6766420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insert(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value){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n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assert( n !=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n-&gt;value = value 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lock(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begin critical section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n-&gt;next	= head;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head 	= n;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unlock(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listlock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;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//end critical section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331640" y="4493438"/>
            <a:ext cx="6766420" cy="1815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insert(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value) 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*n = 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node_t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assert(n !=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n-&gt;value = value;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n-&gt;next = head;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}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while 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CompareAndSwap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(&amp;head, n-&gt;next, n));</a:t>
            </a:r>
          </a:p>
          <a:p>
            <a:pPr marL="342900" indent="-342900">
              <a:buAutoNum type="arabicPlain"/>
            </a:pP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443750873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Deadlock Avoidance via Scheduling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some scenarios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deadlock avoidance </a:t>
            </a:r>
            <a:r>
              <a:rPr lang="en-US" altLang="ko-KR" dirty="0"/>
              <a:t>is preferable.</a:t>
            </a:r>
          </a:p>
          <a:p>
            <a:pPr lvl="1"/>
            <a:r>
              <a:rPr lang="en-US" altLang="ko-KR" b="1" dirty="0"/>
              <a:t>Global knowledge </a:t>
            </a:r>
            <a:r>
              <a:rPr lang="en-US" altLang="ko-KR" dirty="0"/>
              <a:t>is required:</a:t>
            </a:r>
          </a:p>
          <a:p>
            <a:pPr lvl="2"/>
            <a:r>
              <a:rPr lang="en-US" altLang="ko-KR" dirty="0"/>
              <a:t>Which locks various threads might grab during their execution.</a:t>
            </a:r>
          </a:p>
          <a:p>
            <a:pPr lvl="2"/>
            <a:r>
              <a:rPr lang="en-US" altLang="ko-KR" dirty="0"/>
              <a:t>Subsequently schedules said threads in a way as </a:t>
            </a:r>
            <a:r>
              <a:rPr lang="en-US" altLang="ko-KR" u="sng" dirty="0"/>
              <a:t>to guarantee</a:t>
            </a:r>
            <a:r>
              <a:rPr lang="en-US" altLang="ko-KR" dirty="0"/>
              <a:t> no deadlock can occur.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5897402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Deadlock Avoidance via Scheduling (1)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have two processors and four threads.</a:t>
            </a:r>
          </a:p>
          <a:p>
            <a:pPr lvl="1"/>
            <a:r>
              <a:rPr lang="en-US" altLang="ko-KR" dirty="0"/>
              <a:t>Lock acquisition demands of the threads: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 smart scheduler could compute that as long as </a:t>
            </a:r>
            <a:r>
              <a:rPr lang="en-US" altLang="ko-KR" u="sng" dirty="0"/>
              <a:t>T1 and T2 are not run at the same time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no deadlock </a:t>
            </a:r>
            <a:r>
              <a:rPr lang="en-US" altLang="ko-KR" dirty="0"/>
              <a:t>could ever arise.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691680" y="2082552"/>
          <a:ext cx="532859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328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T4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 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 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18"/>
          <p:cNvGrpSpPr/>
          <p:nvPr/>
        </p:nvGrpSpPr>
        <p:grpSpPr>
          <a:xfrm>
            <a:off x="2555776" y="4721821"/>
            <a:ext cx="3528392" cy="1011435"/>
            <a:chOff x="2483768" y="4509120"/>
            <a:chExt cx="3528392" cy="1011435"/>
          </a:xfrm>
        </p:grpSpPr>
        <p:sp>
          <p:nvSpPr>
            <p:cNvPr id="13" name="TextBox 12"/>
            <p:cNvSpPr txBox="1"/>
            <p:nvPr/>
          </p:nvSpPr>
          <p:spPr>
            <a:xfrm>
              <a:off x="2483769" y="4571256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맑은 고딕" pitchFamily="50" charset="-127"/>
                  <a:ea typeface="맑은 고딕" pitchFamily="50" charset="-127"/>
                </a:rPr>
                <a:t>CPU 1</a:t>
              </a:r>
              <a:endParaRPr lang="ko-KR" altLang="en-US" sz="1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83768" y="5095057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맑은 고딕" pitchFamily="50" charset="-127"/>
                  <a:ea typeface="맑은 고딕" pitchFamily="50" charset="-127"/>
                </a:rPr>
                <a:t>CPU 2</a:t>
              </a:r>
              <a:endParaRPr lang="ko-KR" altLang="en-US" sz="1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347864" y="4509120"/>
              <a:ext cx="1008112" cy="4320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T3</a:t>
              </a:r>
              <a:endPara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355976" y="4509120"/>
              <a:ext cx="1296144" cy="4320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T4</a:t>
              </a:r>
              <a:endPara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347864" y="5088507"/>
              <a:ext cx="1584176" cy="43204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T1</a:t>
              </a:r>
              <a:endPara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932040" y="5088507"/>
              <a:ext cx="1080120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T2</a:t>
              </a:r>
              <a:endPara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8029676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Deadlock Avoidance via Scheduling (2)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contention for the same resources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 possible schedule that guarantees that </a:t>
            </a:r>
            <a:r>
              <a:rPr lang="en-US" altLang="ko-KR" i="1" dirty="0"/>
              <a:t>no deadlock </a:t>
            </a:r>
            <a:r>
              <a:rPr lang="en-US" altLang="ko-KR" dirty="0"/>
              <a:t>could ever occur.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The total time to complete the jobs is lengthened considerably.</a:t>
            </a:r>
          </a:p>
          <a:p>
            <a:pPr lvl="2"/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907705" y="1650504"/>
          <a:ext cx="532859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98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T4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2051720" y="3785717"/>
            <a:ext cx="4536504" cy="1011435"/>
            <a:chOff x="1979712" y="3645024"/>
            <a:chExt cx="4536504" cy="1011435"/>
          </a:xfrm>
        </p:grpSpPr>
        <p:sp>
          <p:nvSpPr>
            <p:cNvPr id="13" name="TextBox 12"/>
            <p:cNvSpPr txBox="1"/>
            <p:nvPr/>
          </p:nvSpPr>
          <p:spPr>
            <a:xfrm>
              <a:off x="1979713" y="3707160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맑은 고딕" pitchFamily="50" charset="-127"/>
                  <a:ea typeface="맑은 고딕" pitchFamily="50" charset="-127"/>
                </a:rPr>
                <a:t>CPU 1</a:t>
              </a:r>
              <a:endParaRPr lang="ko-KR" altLang="en-US" sz="1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79712" y="4230961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맑은 고딕" pitchFamily="50" charset="-127"/>
                  <a:ea typeface="맑은 고딕" pitchFamily="50" charset="-127"/>
                </a:rPr>
                <a:t>CPU 2</a:t>
              </a:r>
              <a:endParaRPr lang="ko-KR" altLang="en-US" sz="1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508104" y="4224411"/>
              <a:ext cx="1008112" cy="4320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T3</a:t>
              </a:r>
              <a:endPara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843808" y="3645024"/>
              <a:ext cx="1296144" cy="4320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T4</a:t>
              </a:r>
              <a:endPara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843808" y="4224411"/>
              <a:ext cx="1584176" cy="43204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T1</a:t>
              </a:r>
              <a:endPara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427984" y="4224411"/>
              <a:ext cx="1080120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T2</a:t>
              </a:r>
              <a:endPara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4598518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and Recover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Allow deadlock </a:t>
            </a:r>
            <a:r>
              <a:rPr lang="en-US" altLang="ko-KR" dirty="0"/>
              <a:t>to occasionally occur and then </a:t>
            </a:r>
            <a:r>
              <a:rPr lang="en-US" altLang="ko-KR" i="1" dirty="0"/>
              <a:t>take some action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Example</a:t>
            </a:r>
            <a:r>
              <a:rPr lang="en-US" altLang="ko-KR" dirty="0"/>
              <a:t>: if an OS froze, you would reboot it.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Many database systems employ </a:t>
            </a:r>
            <a:r>
              <a:rPr lang="en-US" altLang="ko-KR" i="1" dirty="0"/>
              <a:t>deadlock detection</a:t>
            </a:r>
            <a:r>
              <a:rPr lang="en-US" altLang="ko-KR" dirty="0"/>
              <a:t> and </a:t>
            </a:r>
            <a:r>
              <a:rPr lang="en-US" altLang="ko-KR" i="1" dirty="0"/>
              <a:t>recovery technique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 deadlock detector </a:t>
            </a:r>
            <a:r>
              <a:rPr lang="en-US" altLang="ko-KR" b="1" dirty="0"/>
              <a:t>runs periodically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Building a </a:t>
            </a:r>
            <a:r>
              <a:rPr lang="en-US" altLang="ko-KR" b="1" dirty="0"/>
              <a:t>resource graph </a:t>
            </a:r>
            <a:r>
              <a:rPr lang="en-US" altLang="ko-KR" dirty="0"/>
              <a:t>and checking it for cycles.</a:t>
            </a:r>
          </a:p>
          <a:p>
            <a:pPr lvl="1"/>
            <a:r>
              <a:rPr lang="en-US" altLang="ko-KR" dirty="0"/>
              <a:t>In deadlock, the system </a:t>
            </a:r>
            <a:r>
              <a:rPr lang="en-US" altLang="ko-KR" b="1" dirty="0"/>
              <a:t>need to be restarted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624637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altLang="ko-KR" dirty="0"/>
              <a:t>Semaphore</a:t>
            </a:r>
            <a:endParaRPr lang="en-US" altLang="ko-KR" dirty="0"/>
          </a:p>
          <a:p>
            <a:pPr lvl="1"/>
            <a:r>
              <a:rPr lang="en-HK" altLang="ko-KR" dirty="0"/>
              <a:t>Definition: </a:t>
            </a:r>
            <a:r>
              <a:rPr lang="en-HK" altLang="ko-KR" dirty="0" err="1"/>
              <a:t>sem_init</a:t>
            </a:r>
            <a:r>
              <a:rPr lang="en-HK" altLang="ko-KR" dirty="0"/>
              <a:t>(), </a:t>
            </a:r>
            <a:r>
              <a:rPr lang="en-HK" altLang="ko-KR" dirty="0" err="1"/>
              <a:t>sem_wait</a:t>
            </a:r>
            <a:r>
              <a:rPr lang="en-HK" altLang="ko-KR" dirty="0"/>
              <a:t>(), and </a:t>
            </a:r>
            <a:r>
              <a:rPr lang="en-HK" altLang="ko-KR" dirty="0" err="1"/>
              <a:t>sem_post</a:t>
            </a:r>
            <a:r>
              <a:rPr lang="en-HK" altLang="ko-KR" dirty="0"/>
              <a:t>()</a:t>
            </a:r>
            <a:endParaRPr lang="en-US" altLang="ko-KR" dirty="0"/>
          </a:p>
          <a:p>
            <a:pPr lvl="1"/>
            <a:r>
              <a:rPr lang="en-HK" altLang="ko-KR" dirty="0"/>
              <a:t>Applications: Lock, Condition Variable, Producer/Consumer, Read/Write Locks, and Dinning </a:t>
            </a:r>
            <a:r>
              <a:rPr lang="en-HK" altLang="ko-KR" dirty="0" err="1"/>
              <a:t>Philoshpers</a:t>
            </a:r>
            <a:endParaRPr lang="en-US" dirty="0"/>
          </a:p>
          <a:p>
            <a:r>
              <a:rPr lang="en-HK" dirty="0"/>
              <a:t>Common Concurrency Problems</a:t>
            </a:r>
          </a:p>
          <a:p>
            <a:pPr lvl="1"/>
            <a:r>
              <a:rPr lang="en-HK" dirty="0"/>
              <a:t>Non-deadlock bugs</a:t>
            </a:r>
          </a:p>
          <a:p>
            <a:pPr lvl="2"/>
            <a:r>
              <a:rPr lang="en-HK" dirty="0"/>
              <a:t>Atomicity Violation and Order Violation</a:t>
            </a:r>
          </a:p>
          <a:p>
            <a:pPr lvl="1"/>
            <a:r>
              <a:rPr lang="en-HK" dirty="0"/>
              <a:t>Deadlock bugs</a:t>
            </a:r>
          </a:p>
          <a:p>
            <a:pPr lvl="2"/>
            <a:r>
              <a:rPr lang="en-HK" dirty="0"/>
              <a:t>Conditions of deadlock</a:t>
            </a:r>
          </a:p>
          <a:p>
            <a:pPr lvl="2"/>
            <a:r>
              <a:rPr lang="en-HK" dirty="0"/>
              <a:t>Prevention</a:t>
            </a:r>
          </a:p>
          <a:p>
            <a:r>
              <a:rPr lang="en-US" dirty="0"/>
              <a:t>Next</a:t>
            </a:r>
            <a:r>
              <a:rPr lang="en-US"/>
              <a:t>: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106725</TotalTime>
  <Words>5331</Words>
  <Application>Microsoft Office PowerPoint</Application>
  <PresentationFormat>On-screen Show (4:3)</PresentationFormat>
  <Paragraphs>980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HY견고딕</vt:lpstr>
      <vt:lpstr>맑은 고딕</vt:lpstr>
      <vt:lpstr>Courier New</vt:lpstr>
      <vt:lpstr>Tahoma</vt:lpstr>
      <vt:lpstr>Times New Roman</vt:lpstr>
      <vt:lpstr>Vijaya</vt:lpstr>
      <vt:lpstr>Wingdings</vt:lpstr>
      <vt:lpstr>양식_공청회_발표자료-총괄-양식</vt:lpstr>
      <vt:lpstr>Lecture 15: Concurrency – Semaphore and Common Concurrency Problems</vt:lpstr>
      <vt:lpstr>PowerPoint Presentation</vt:lpstr>
      <vt:lpstr>PowerPoint Presentation</vt:lpstr>
      <vt:lpstr>Semaphore: A definition</vt:lpstr>
      <vt:lpstr>Semaphore: Interact with semaphore</vt:lpstr>
      <vt:lpstr>Semaphore: Interact with semaphore (Cont.)</vt:lpstr>
      <vt:lpstr>Binary Semaphores (Locks)</vt:lpstr>
      <vt:lpstr>Thread Trace: Single Thread Using A Semaphore</vt:lpstr>
      <vt:lpstr>Thread Trace: Two Threads Using A Semaphore</vt:lpstr>
      <vt:lpstr>Semaphores As Condition Variables</vt:lpstr>
      <vt:lpstr>Thread Trace: Parent Waiting For Child (Case 1)</vt:lpstr>
      <vt:lpstr>Thread Trace: Parent Waiting For Child (Case 2)</vt:lpstr>
      <vt:lpstr>The Producer/Consumer (Bounded-Buffer) Problem</vt:lpstr>
      <vt:lpstr>The Producer/Consumer (Bounded-Buffer) Problem</vt:lpstr>
      <vt:lpstr>The Producer/Consumer (Bounded-Buffer) Problem</vt:lpstr>
      <vt:lpstr>A Solution: Adding Mutual Exclusion</vt:lpstr>
      <vt:lpstr>A Solution: Adding Mutual Exclusion</vt:lpstr>
      <vt:lpstr>A Solution: Adding Mutual Exclusion (Cont.)</vt:lpstr>
      <vt:lpstr>Finally, A Working Solution</vt:lpstr>
      <vt:lpstr>Finally, A Working Solution</vt:lpstr>
      <vt:lpstr>Reader-Writer Locks</vt:lpstr>
      <vt:lpstr>A Reader-Writer Locks</vt:lpstr>
      <vt:lpstr>A Reader-Writer Locks (Cont.)</vt:lpstr>
      <vt:lpstr>A Reader-Writer Locks (Cont.)</vt:lpstr>
      <vt:lpstr>The Dining Philosophers</vt:lpstr>
      <vt:lpstr>The Dining Philosophers (Cont.)</vt:lpstr>
      <vt:lpstr>The Dining Philosophers (Cont.)</vt:lpstr>
      <vt:lpstr>A Solution: Breaking The Dependency</vt:lpstr>
      <vt:lpstr>How To Implement Semaphores</vt:lpstr>
      <vt:lpstr>How To Implement Semaphores (Cont.)</vt:lpstr>
      <vt:lpstr>PowerPoint Presentation</vt:lpstr>
      <vt:lpstr>Common Concurrency Problems</vt:lpstr>
      <vt:lpstr>Non-Deadlock Bugs</vt:lpstr>
      <vt:lpstr>Atomicity-Violation Bugs </vt:lpstr>
      <vt:lpstr>Atomicity-Violation Bugs (Cont.)</vt:lpstr>
      <vt:lpstr>Order-Violation Bugs</vt:lpstr>
      <vt:lpstr>Order-Violation Bugs (Cont.)</vt:lpstr>
      <vt:lpstr>Order-Violation Bugs (Cont.)</vt:lpstr>
      <vt:lpstr>Deadlock Bugs</vt:lpstr>
      <vt:lpstr>Why Do Deadlocks Occur?</vt:lpstr>
      <vt:lpstr>Why Do Deadlocks Occur? (Cont.)</vt:lpstr>
      <vt:lpstr>Conditional for Deadlock</vt:lpstr>
      <vt:lpstr>Prevention – Circular Wait</vt:lpstr>
      <vt:lpstr>Prevention – Hold-and-wait</vt:lpstr>
      <vt:lpstr>Prevention – No Preemption</vt:lpstr>
      <vt:lpstr>Prevention – No Preemption (Cont.)</vt:lpstr>
      <vt:lpstr>Prevention – Mutual Exclusion</vt:lpstr>
      <vt:lpstr>Prevention – Mutual Exclusion (Cont.)</vt:lpstr>
      <vt:lpstr>Prevention – Mutual Exclusion (Cont.)</vt:lpstr>
      <vt:lpstr>Prevention – Mutual Exclusion (Cont.)</vt:lpstr>
      <vt:lpstr>Deadlock Avoidance via Scheduling</vt:lpstr>
      <vt:lpstr>Example of Deadlock Avoidance via Scheduling (1) </vt:lpstr>
      <vt:lpstr>Example of Deadlock Avoidance via Scheduling (2) </vt:lpstr>
      <vt:lpstr>Detect and Recover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dc:creator>Shao Zi Li</dc:creator>
  <cp:lastModifiedBy>Zili Shao (CSD)</cp:lastModifiedBy>
  <cp:revision>155</cp:revision>
  <cp:lastPrinted>2015-03-03T01:48:46Z</cp:lastPrinted>
  <dcterms:created xsi:type="dcterms:W3CDTF">2011-05-01T06:09:10Z</dcterms:created>
  <dcterms:modified xsi:type="dcterms:W3CDTF">2025-11-25T02:20:25Z</dcterms:modified>
</cp:coreProperties>
</file>